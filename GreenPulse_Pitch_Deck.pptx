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welcome. We represent Team Build With Geeks. Sime Darby Property is Malaysia's premier township master developer, leading the nation toward 40% carbon intensity reduction by 2030 and Net Zero by 2050. Yet every greenfield parcel breaking ground today carries a multi-million ringgit blind spot: temporary construction diesel power. We built GreenPulse SiteOS to eliminate this cash bleed and regulatory threat completely.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is systemic: permanent TNB grid supply arrives 9 to 18 months after construction begins. Because construction is excluded from BUDI Madani diesel subsidies, contractors pay the commercial rate of RM 5.17 per litre. Together with generator rental, a single active parcel burns RM 95,000 to RM 125,000 every single month in pure operational waste. Worse, 82 dBA generator noise directly threatens statutory DOE noise compliance, risking immediate stop-work orders.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GreenPulse connects all three critical stakeholders in the property development lifecycle. The M&amp;E Manager on site gets unbreakable power that never trips when a heavy crane hoists concrete. The Environmental Officer gets automated boundary noise compliance that protects the project from DOE stop-work notices. And the HQ Development Director gets an audited ESG reporting pipeline with proven 14.2-month payback.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GreenPulse SiteOS is not just hardware; it is the intelligent software operating layer. It synchronizes containerized BESS hardware, solar arrays, and high-frequency site machinery into an autonomous power utility. Each stakeholder receives an engineered, purpose-built interface that solves their exact operational pain 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GreenPulse truly innovative? Four deep engineering moats. First, SurgeGuard absorbs heavy inductive crane kicks in less than 4 milliseconds. Second, SolarCast reads MET Malaysia radar to anticipate tropical cloud cover. Third, EchoShield uses edge ML to prove passing highway trucks aren't site violations. And fourth, SiteOps Copilot provides deterministic, certified engineering reasoning on demand.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system architecture in practice. Solar generation and LFP battery storage feed into a high-speed hybrid inverter. An on-site 4G IoT gateway continuously measures bus voltage, circuit loads, and boundary acoustic sound levels. Our cloud MPC algorithms optimize energy flows every 15 minutes, pushing telemetry to the 3 responsive web screens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GreenPulse delivers verified impact across all three ESG pillars. Financially, it saves over RM 125,000 in cash per parcel each month, delivering full capital payback in just 14.2 months. Environmentally, it abates 77.6% of Scope 1 construction emissions. And socially, it cuts boundary sound by nearly 28 decibels, eliminating community disputes.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GreenPulse is not a theoretical science project; it is grounded in bankable commercial mathematics. A typical 24-month structural construction phase burns over RM 3 million in diesel fuel and generator rentals. GreenPulse saves that cash entirely. With Tier-1 LFP cells rated for 6,000 cycles, the equipment pays for itself in 14.2 months, leaving 8+ years of free energy generation.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implementation roadmap targets three active, prestigious Sime Darby townships. We start at City of Elmina on the Kanopi Residences topping off phase. Next, we expand to Serenia City for the Baleria link homes. Finally, we scale to Bandar Bukit Raja Industrial Park, institutionalizing GreenPulse SiteOS across the entire group.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GreenPulse proves that construction decarbonisation is not an expensive luxury; it is a cash-generating operational advantage. Our software, prototype, and engineering models are complete. We ask Sime Darby Property leadership for one endorsement: approve the City of Elmina pilot parcel today, and let us build the clean future together.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5303520" cy="411480"/>
          </a:xfrm>
          <a:prstGeom prst="roundRect">
            <a:avLst/>
          </a:prstGeom>
          <a:solidFill>
            <a:srgbClr val="1C2A27"/>
          </a:solidFill>
          <a:ln>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07A2A"/>
                </a:solidFill>
              </a:defRPr>
            </a:pPr>
            <a:r>
              <a:t>TRACK: PLANET (ENERGY &amp; DECARBONISATION)</a:t>
            </a:r>
          </a:p>
        </p:txBody>
      </p:sp>
      <p:sp>
        <p:nvSpPr>
          <p:cNvPr id="4" name="TextBox 3"/>
          <p:cNvSpPr txBox="1"/>
          <p:nvPr/>
        </p:nvSpPr>
        <p:spPr>
          <a:xfrm>
            <a:off x="731520" y="1691640"/>
            <a:ext cx="10515600" cy="2011680"/>
          </a:xfrm>
          <a:prstGeom prst="rect">
            <a:avLst/>
          </a:prstGeom>
          <a:noFill/>
        </p:spPr>
        <p:txBody>
          <a:bodyPr wrap="square">
            <a:spAutoFit/>
          </a:bodyPr>
          <a:lstStyle/>
          <a:p>
            <a:pPr>
              <a:defRPr sz="4800" b="1">
                <a:solidFill>
                  <a:srgbClr val="FFFFFF"/>
                </a:solidFill>
              </a:defRPr>
            </a:pPr>
            <a:r>
              <a:t>GreenPulse SiteOS</a:t>
            </a:r>
          </a:p>
          <a:p>
            <a:pPr>
              <a:defRPr sz="2200" b="1">
                <a:solidFill>
                  <a:srgbClr val="2E7D5B"/>
                </a:solidFill>
              </a:defRPr>
            </a:pPr>
            <a:r>
              <a:t>The Zero-Genset Site Energy Operating System</a:t>
            </a:r>
          </a:p>
          <a:p>
            <a:pPr>
              <a:spcBef>
                <a:spcPts val="800"/>
              </a:spcBef>
              <a:defRPr sz="1400">
                <a:solidFill>
                  <a:srgbClr val="A3B8B0"/>
                </a:solidFill>
              </a:defRPr>
            </a:pPr>
            <a:r>
              <a:t>Eliminating diesel generator rentals across active Sime Darby townships through intelligent BESS buffering, predictive load shifting, and statutory DOE compliance automation.</a:t>
            </a:r>
          </a:p>
        </p:txBody>
      </p:sp>
      <p:sp>
        <p:nvSpPr>
          <p:cNvPr id="5" name="Rounded Rectangle 4"/>
          <p:cNvSpPr/>
          <p:nvPr/>
        </p:nvSpPr>
        <p:spPr>
          <a:xfrm>
            <a:off x="731520" y="4114800"/>
            <a:ext cx="3383280" cy="1920240"/>
          </a:xfrm>
          <a:prstGeom prst="roundRect">
            <a:avLst/>
          </a:prstGeom>
          <a:solidFill>
            <a:srgbClr val="1C2A27"/>
          </a:solidFill>
          <a:ln>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F07A2A"/>
                </a:solidFill>
              </a:defRPr>
            </a:pPr>
            <a:r>
              <a:t>RM 125,128</a:t>
            </a:r>
          </a:p>
          <a:p>
            <a:pPr>
              <a:defRPr sz="1300" b="1">
                <a:solidFill>
                  <a:srgbClr val="FFFFFF"/>
                </a:solidFill>
              </a:defRPr>
            </a:pPr>
            <a:r>
              <a:t>Monthly Net Cash Saved Per Active Parcel</a:t>
            </a:r>
          </a:p>
          <a:p>
            <a:pPr>
              <a:spcBef>
                <a:spcPts val="400"/>
              </a:spcBef>
              <a:defRPr sz="1000">
                <a:solidFill>
                  <a:srgbClr val="A3B8B0"/>
                </a:solidFill>
              </a:defRPr>
            </a:pPr>
            <a:r>
              <a:t>Fuel (RM 95k) + Avoided Rental (RM 30k)</a:t>
            </a:r>
          </a:p>
        </p:txBody>
      </p:sp>
      <p:sp>
        <p:nvSpPr>
          <p:cNvPr id="6" name="Rounded Rectangle 5"/>
          <p:cNvSpPr/>
          <p:nvPr/>
        </p:nvSpPr>
        <p:spPr>
          <a:xfrm>
            <a:off x="4297680" y="4114800"/>
            <a:ext cx="3383280" cy="1920240"/>
          </a:xfrm>
          <a:prstGeom prst="roundRect">
            <a:avLst/>
          </a:prstGeom>
          <a:solidFill>
            <a:srgbClr val="1C2A27"/>
          </a:solidFill>
          <a:ln>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2E7D5B"/>
                </a:solidFill>
              </a:defRPr>
            </a:pPr>
            <a:r>
              <a:t>77.6%</a:t>
            </a:r>
          </a:p>
          <a:p>
            <a:pPr>
              <a:defRPr sz="1300" b="1">
                <a:solidFill>
                  <a:srgbClr val="FFFFFF"/>
                </a:solidFill>
              </a:defRPr>
            </a:pPr>
            <a:r>
              <a:t>Scope 1 Carbon Abatement</a:t>
            </a:r>
          </a:p>
          <a:p>
            <a:pPr>
              <a:spcBef>
                <a:spcPts val="400"/>
              </a:spcBef>
              <a:defRPr sz="1000">
                <a:solidFill>
                  <a:srgbClr val="A3B8B0"/>
                </a:solidFill>
              </a:defRPr>
            </a:pPr>
            <a:r>
              <a:t>18.40 -&gt; 4.12 kg CO2e / m2 CFA intensity</a:t>
            </a:r>
          </a:p>
        </p:txBody>
      </p:sp>
      <p:sp>
        <p:nvSpPr>
          <p:cNvPr id="7" name="Rounded Rectangle 6"/>
          <p:cNvSpPr/>
          <p:nvPr/>
        </p:nvSpPr>
        <p:spPr>
          <a:xfrm>
            <a:off x="7863840" y="4114800"/>
            <a:ext cx="3383280" cy="1920240"/>
          </a:xfrm>
          <a:prstGeom prst="roundRect">
            <a:avLst/>
          </a:prstGeom>
          <a:solidFill>
            <a:srgbClr val="1C2A27"/>
          </a:solidFill>
          <a:ln>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3200" b="1">
                <a:solidFill>
                  <a:srgbClr val="FFFFFF"/>
                </a:solidFill>
              </a:defRPr>
            </a:pPr>
            <a:r>
              <a:t>-27.9 dBA</a:t>
            </a:r>
          </a:p>
          <a:p>
            <a:pPr>
              <a:defRPr sz="1300" b="1">
                <a:solidFill>
                  <a:srgbClr val="FFFFFF"/>
                </a:solidFill>
              </a:defRPr>
            </a:pPr>
            <a:r>
              <a:t>Acoustic Noise Reduction</a:t>
            </a:r>
          </a:p>
          <a:p>
            <a:pPr>
              <a:spcBef>
                <a:spcPts val="400"/>
              </a:spcBef>
              <a:defRPr sz="1000">
                <a:solidFill>
                  <a:srgbClr val="A3B8B0"/>
                </a:solidFill>
              </a:defRPr>
            </a:pPr>
            <a:r>
              <a:t>82 dBA genset drone -&gt; 54.1 dBA clean 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THE STORY : 1. PROBLEM</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The Temporary Power Blind Spot on Active Greenfield Parcels</a:t>
            </a:r>
          </a:p>
        </p:txBody>
      </p:sp>
      <p:sp>
        <p:nvSpPr>
          <p:cNvPr id="5" name="Rounded Rectangle 4"/>
          <p:cNvSpPr/>
          <p:nvPr/>
        </p:nvSpPr>
        <p:spPr>
          <a:xfrm>
            <a:off x="7315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4023359"/>
          </a:xfrm>
          <a:prstGeom prst="rect">
            <a:avLst/>
          </a:prstGeom>
          <a:noFill/>
        </p:spPr>
        <p:txBody>
          <a:bodyPr wrap="square">
            <a:spAutoFit/>
          </a:bodyPr>
          <a:lstStyle/>
          <a:p>
            <a:pPr>
              <a:defRPr b="1" sz="1400">
                <a:solidFill>
                  <a:srgbClr val="D71920"/>
                </a:solidFill>
              </a:defRPr>
            </a:pPr>
            <a:r>
              <a:t>[GRID REALITY]  1. Permanent Grid Delay</a:t>
            </a:r>
          </a:p>
          <a:p>
            <a:pPr>
              <a:defRPr sz="400"/>
            </a:pPr>
          </a:p>
          <a:p>
            <a:pPr>
              <a:spcAft>
                <a:spcPts val="400"/>
              </a:spcAft>
              <a:defRPr sz="1100">
                <a:solidFill>
                  <a:srgbClr val="A3B8B0"/>
                </a:solidFill>
              </a:defRPr>
            </a:pPr>
            <a:r>
              <a:t>•  Permanent TNB 11kV/33kV substations require 9 to 18 months to commission.</a:t>
            </a:r>
          </a:p>
          <a:p>
            <a:pPr>
              <a:spcAft>
                <a:spcPts val="400"/>
              </a:spcAft>
              <a:defRPr sz="1100">
                <a:solidFill>
                  <a:srgbClr val="A3B8B0"/>
                </a:solidFill>
              </a:defRPr>
            </a:pPr>
            <a:r>
              <a:t>•  Early structural works (pilings, substructure, tower cranes) must start day one.</a:t>
            </a:r>
          </a:p>
          <a:p>
            <a:pPr>
              <a:spcAft>
                <a:spcPts val="400"/>
              </a:spcAft>
              <a:defRPr sz="1100">
                <a:solidFill>
                  <a:srgbClr val="A3B8B0"/>
                </a:solidFill>
              </a:defRPr>
            </a:pPr>
            <a:r>
              <a:t>•  Contractors are forced into 100% off-grid temporary power setups.</a:t>
            </a:r>
          </a:p>
          <a:p>
            <a:pPr>
              <a:spcAft>
                <a:spcPts val="400"/>
              </a:spcAft>
              <a:defRPr sz="1100">
                <a:solidFill>
                  <a:srgbClr val="A3B8B0"/>
                </a:solidFill>
              </a:defRPr>
            </a:pPr>
            <a:r>
              <a:t>•  Township scale: Multiplied across City of Elmina, Serenia City, and Bandar Bukit Raja simultaneously.</a:t>
            </a:r>
          </a:p>
        </p:txBody>
      </p:sp>
      <p:sp>
        <p:nvSpPr>
          <p:cNvPr id="7" name="Rounded Rectangle 6"/>
          <p:cNvSpPr/>
          <p:nvPr/>
        </p:nvSpPr>
        <p:spPr>
          <a:xfrm>
            <a:off x="43891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28800"/>
            <a:ext cx="2926080" cy="4023359"/>
          </a:xfrm>
          <a:prstGeom prst="rect">
            <a:avLst/>
          </a:prstGeom>
          <a:noFill/>
        </p:spPr>
        <p:txBody>
          <a:bodyPr wrap="square">
            <a:spAutoFit/>
          </a:bodyPr>
          <a:lstStyle/>
          <a:p>
            <a:pPr>
              <a:defRPr b="1" sz="1400">
                <a:solidFill>
                  <a:srgbClr val="F07A2A"/>
                </a:solidFill>
              </a:defRPr>
            </a:pPr>
            <a:r>
              <a:t>[FINANCIAL DRAIN]  2. Unsubsidised Diesel Shock</a:t>
            </a:r>
          </a:p>
          <a:p>
            <a:pPr>
              <a:defRPr sz="400"/>
            </a:pPr>
          </a:p>
          <a:p>
            <a:pPr>
              <a:spcAft>
                <a:spcPts val="400"/>
              </a:spcAft>
              <a:defRPr sz="1100">
                <a:solidFill>
                  <a:srgbClr val="A3B8B0"/>
                </a:solidFill>
              </a:defRPr>
            </a:pPr>
            <a:r>
              <a:t>•  Commercial construction is 100% excluded from BUDI Madani diesel subsidies.</a:t>
            </a:r>
          </a:p>
          <a:p>
            <a:pPr>
              <a:spcAft>
                <a:spcPts val="400"/>
              </a:spcAft>
              <a:defRPr sz="1100">
                <a:solidFill>
                  <a:srgbClr val="A3B8B0"/>
                </a:solidFill>
              </a:defRPr>
            </a:pPr>
            <a:r>
              <a:t>•  Commercial Euro 5 diesel costs RM 5.17 per litre (market price).</a:t>
            </a:r>
          </a:p>
          <a:p>
            <a:pPr>
              <a:spcAft>
                <a:spcPts val="400"/>
              </a:spcAft>
              <a:defRPr sz="1100">
                <a:solidFill>
                  <a:srgbClr val="A3B8B0"/>
                </a:solidFill>
              </a:defRPr>
            </a:pPr>
            <a:r>
              <a:t>•  An active site burns 12,000L to 14,000L monthly, costing over RM 65,000 in fuel alone.</a:t>
            </a:r>
          </a:p>
          <a:p>
            <a:pPr>
              <a:spcAft>
                <a:spcPts val="400"/>
              </a:spcAft>
              <a:defRPr sz="1100">
                <a:solidFill>
                  <a:srgbClr val="A3B8B0"/>
                </a:solidFill>
              </a:defRPr>
            </a:pPr>
            <a:r>
              <a:t>•  Equipment hire firms charge RM 15,000 to RM 35,000/mo just for generator rental.</a:t>
            </a:r>
          </a:p>
        </p:txBody>
      </p:sp>
      <p:sp>
        <p:nvSpPr>
          <p:cNvPr id="9" name="Rounded Rectangle 8"/>
          <p:cNvSpPr/>
          <p:nvPr/>
        </p:nvSpPr>
        <p:spPr>
          <a:xfrm>
            <a:off x="80467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828800"/>
            <a:ext cx="2926080" cy="4023359"/>
          </a:xfrm>
          <a:prstGeom prst="rect">
            <a:avLst/>
          </a:prstGeom>
          <a:noFill/>
        </p:spPr>
        <p:txBody>
          <a:bodyPr wrap="square">
            <a:spAutoFit/>
          </a:bodyPr>
          <a:lstStyle/>
          <a:p>
            <a:pPr>
              <a:defRPr b="1" sz="1400">
                <a:solidFill>
                  <a:srgbClr val="D71920"/>
                </a:solidFill>
              </a:defRPr>
            </a:pPr>
            <a:r>
              <a:t>[REGULATORY THREAT]  3. Acoustic &amp; ESG Penalties</a:t>
            </a:r>
          </a:p>
          <a:p>
            <a:pPr>
              <a:defRPr sz="400"/>
            </a:pPr>
          </a:p>
          <a:p>
            <a:pPr>
              <a:spcAft>
                <a:spcPts val="400"/>
              </a:spcAft>
              <a:defRPr sz="1100">
                <a:solidFill>
                  <a:srgbClr val="A3B8B0"/>
                </a:solidFill>
              </a:defRPr>
            </a:pPr>
            <a:r>
              <a:t>•  500 kVA generators emit continuous 82 dBA drone at 10 meters distance.</a:t>
            </a:r>
          </a:p>
          <a:p>
            <a:pPr>
              <a:spcAft>
                <a:spcPts val="400"/>
              </a:spcAft>
              <a:defRPr sz="1100">
                <a:solidFill>
                  <a:srgbClr val="A3B8B0"/>
                </a:solidFill>
              </a:defRPr>
            </a:pPr>
            <a:r>
              <a:t>•  Violates DOE Planning Guidelines Schedule 6 limits (60 dBA Day / 45 dBA Night).</a:t>
            </a:r>
          </a:p>
          <a:p>
            <a:pPr>
              <a:spcAft>
                <a:spcPts val="400"/>
              </a:spcAft>
              <a:defRPr sz="1100">
                <a:solidFill>
                  <a:srgbClr val="A3B8B0"/>
                </a:solidFill>
              </a:defRPr>
            </a:pPr>
            <a:r>
              <a:t>•  Triggers immediate residential complaints from neighboring completed phases.</a:t>
            </a:r>
          </a:p>
          <a:p>
            <a:pPr>
              <a:spcAft>
                <a:spcPts val="400"/>
              </a:spcAft>
              <a:defRPr sz="1100">
                <a:solidFill>
                  <a:srgbClr val="A3B8B0"/>
                </a:solidFill>
              </a:defRPr>
            </a:pPr>
            <a:r>
              <a:t>•  Risk of DOE Stop-Work orders stalling millions in structural works.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THE STORY : 2. TARGET USER</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Three Interconnected Personas Across the Construction Hierarchy</a:t>
            </a:r>
          </a:p>
        </p:txBody>
      </p:sp>
      <p:sp>
        <p:nvSpPr>
          <p:cNvPr id="5" name="Rounded Rectangle 4"/>
          <p:cNvSpPr/>
          <p:nvPr/>
        </p:nvSpPr>
        <p:spPr>
          <a:xfrm>
            <a:off x="7315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4023359"/>
          </a:xfrm>
          <a:prstGeom prst="rect">
            <a:avLst/>
          </a:prstGeom>
          <a:noFill/>
        </p:spPr>
        <p:txBody>
          <a:bodyPr wrap="square">
            <a:spAutoFit/>
          </a:bodyPr>
          <a:lstStyle/>
          <a:p>
            <a:pPr>
              <a:defRPr b="1" sz="1400">
                <a:solidFill>
                  <a:srgbClr val="F07A2A"/>
                </a:solidFill>
              </a:defRPr>
            </a:pPr>
            <a:r>
              <a:t>[OPERATIONAL TIER]  M&amp;E Site Manager</a:t>
            </a:r>
          </a:p>
          <a:p>
            <a:pPr>
              <a:defRPr sz="400"/>
            </a:pPr>
          </a:p>
          <a:p>
            <a:pPr>
              <a:spcAft>
                <a:spcPts val="400"/>
              </a:spcAft>
              <a:defRPr sz="1100">
                <a:solidFill>
                  <a:srgbClr val="A3B8B0"/>
                </a:solidFill>
              </a:defRPr>
            </a:pPr>
            <a:r>
              <a:t>•  Persona: Encik Hafiz (Inta Bina / Main Contractor M&amp;E Lead).</a:t>
            </a:r>
          </a:p>
          <a:p>
            <a:pPr>
              <a:spcAft>
                <a:spcPts val="400"/>
              </a:spcAft>
              <a:defRPr sz="1100">
                <a:solidFill>
                  <a:srgbClr val="A3B8B0"/>
                </a:solidFill>
              </a:defRPr>
            </a:pPr>
            <a:r>
              <a:t>•  Daily Headache: Voltage dips and breaker trips caused by 94 kW tower crane motor inrush.</a:t>
            </a:r>
          </a:p>
          <a:p>
            <a:pPr>
              <a:spcAft>
                <a:spcPts val="400"/>
              </a:spcAft>
              <a:defRPr sz="1100">
                <a:solidFill>
                  <a:srgbClr val="A3B8B0"/>
                </a:solidFill>
              </a:defRPr>
            </a:pPr>
            <a:r>
              <a:t>•  Operational Pain: Managing diesel deliveries, fuel theft risks, and machine downtime.</a:t>
            </a:r>
          </a:p>
          <a:p>
            <a:pPr>
              <a:spcAft>
                <a:spcPts val="400"/>
              </a:spcAft>
              <a:defRPr sz="1100">
                <a:solidFill>
                  <a:srgbClr val="A3B8B0"/>
                </a:solidFill>
              </a:defRPr>
            </a:pPr>
            <a:r>
              <a:t>•  Needs: Reliable, unbreakable power with instant sub-millisecond surge dampening.</a:t>
            </a:r>
          </a:p>
        </p:txBody>
      </p:sp>
      <p:sp>
        <p:nvSpPr>
          <p:cNvPr id="7" name="Rounded Rectangle 6"/>
          <p:cNvSpPr/>
          <p:nvPr/>
        </p:nvSpPr>
        <p:spPr>
          <a:xfrm>
            <a:off x="43891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28800"/>
            <a:ext cx="2926080" cy="4023359"/>
          </a:xfrm>
          <a:prstGeom prst="rect">
            <a:avLst/>
          </a:prstGeom>
          <a:noFill/>
        </p:spPr>
        <p:txBody>
          <a:bodyPr wrap="square">
            <a:spAutoFit/>
          </a:bodyPr>
          <a:lstStyle/>
          <a:p>
            <a:pPr>
              <a:defRPr b="1" sz="1400">
                <a:solidFill>
                  <a:srgbClr val="2E7D5B"/>
                </a:solidFill>
              </a:defRPr>
            </a:pPr>
            <a:r>
              <a:t>[COMPLIANCE TIER]  Site Environmental Officer</a:t>
            </a:r>
          </a:p>
          <a:p>
            <a:pPr>
              <a:defRPr sz="400"/>
            </a:pPr>
          </a:p>
          <a:p>
            <a:pPr>
              <a:spcAft>
                <a:spcPts val="400"/>
              </a:spcAft>
              <a:defRPr sz="1100">
                <a:solidFill>
                  <a:srgbClr val="A3B8B0"/>
                </a:solidFill>
              </a:defRPr>
            </a:pPr>
            <a:r>
              <a:t>•  Persona: Puan Nurul (Licensed Environmental Officer, DOE liaison).</a:t>
            </a:r>
          </a:p>
          <a:p>
            <a:pPr>
              <a:spcAft>
                <a:spcPts val="400"/>
              </a:spcAft>
              <a:defRPr sz="1100">
                <a:solidFill>
                  <a:srgbClr val="A3B8B0"/>
                </a:solidFill>
              </a:defRPr>
            </a:pPr>
            <a:r>
              <a:t>•  Daily Headache: Noise meters spiking at residential boundaries; midnight complaints.</a:t>
            </a:r>
          </a:p>
          <a:p>
            <a:pPr>
              <a:spcAft>
                <a:spcPts val="400"/>
              </a:spcAft>
              <a:defRPr sz="1100">
                <a:solidFill>
                  <a:srgbClr val="A3B8B0"/>
                </a:solidFill>
              </a:defRPr>
            </a:pPr>
            <a:r>
              <a:t>•  Operational Pain: Compiling weekly manual paper logs for Jabatan Alam Sekitar.</a:t>
            </a:r>
          </a:p>
          <a:p>
            <a:pPr>
              <a:spcAft>
                <a:spcPts val="400"/>
              </a:spcAft>
              <a:defRPr sz="1100">
                <a:solidFill>
                  <a:srgbClr val="A3B8B0"/>
                </a:solidFill>
              </a:defRPr>
            </a:pPr>
            <a:r>
              <a:t>•  Needs: Real-time acoustic boundary audit, zero exhaust smoke, and 1-click statutory EMP reporting.</a:t>
            </a:r>
          </a:p>
        </p:txBody>
      </p:sp>
      <p:sp>
        <p:nvSpPr>
          <p:cNvPr id="9" name="Rounded Rectangle 8"/>
          <p:cNvSpPr/>
          <p:nvPr/>
        </p:nvSpPr>
        <p:spPr>
          <a:xfrm>
            <a:off x="80467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828800"/>
            <a:ext cx="2926080" cy="4023359"/>
          </a:xfrm>
          <a:prstGeom prst="rect">
            <a:avLst/>
          </a:prstGeom>
          <a:noFill/>
        </p:spPr>
        <p:txBody>
          <a:bodyPr wrap="square">
            <a:spAutoFit/>
          </a:bodyPr>
          <a:lstStyle/>
          <a:p>
            <a:pPr>
              <a:defRPr b="1" sz="1400">
                <a:solidFill>
                  <a:srgbClr val="FFFFFF"/>
                </a:solidFill>
              </a:defRPr>
            </a:pPr>
            <a:r>
              <a:t>[EXECUTIVE TIER]  HQ Development Director</a:t>
            </a:r>
          </a:p>
          <a:p>
            <a:pPr>
              <a:defRPr sz="400"/>
            </a:pPr>
          </a:p>
          <a:p>
            <a:pPr>
              <a:spcAft>
                <a:spcPts val="400"/>
              </a:spcAft>
              <a:defRPr sz="1100">
                <a:solidFill>
                  <a:srgbClr val="A3B8B0"/>
                </a:solidFill>
              </a:defRPr>
            </a:pPr>
            <a:r>
              <a:t>•  Persona: Ir. Ts. Tan (Sime Darby Property Executive Management).</a:t>
            </a:r>
          </a:p>
          <a:p>
            <a:pPr>
              <a:spcAft>
                <a:spcPts val="400"/>
              </a:spcAft>
              <a:defRPr sz="1100">
                <a:solidFill>
                  <a:srgbClr val="A3B8B0"/>
                </a:solidFill>
              </a:defRPr>
            </a:pPr>
            <a:r>
              <a:t>•  Corporate Headache: Escalating OpEx invoices, budgeting for diesel inflation.</a:t>
            </a:r>
          </a:p>
          <a:p>
            <a:pPr>
              <a:spcAft>
                <a:spcPts val="400"/>
              </a:spcAft>
              <a:defRPr sz="1100">
                <a:solidFill>
                  <a:srgbClr val="A3B8B0"/>
                </a:solidFill>
              </a:defRPr>
            </a:pPr>
            <a:r>
              <a:t>•  Corporate Mandate: Bursa Malaysia CSI Scope 1 carbon intensity targets (kg CO2e/m2).</a:t>
            </a:r>
          </a:p>
          <a:p>
            <a:pPr>
              <a:spcAft>
                <a:spcPts val="400"/>
              </a:spcAft>
              <a:defRPr sz="1100">
                <a:solidFill>
                  <a:srgbClr val="A3B8B0"/>
                </a:solidFill>
              </a:defRPr>
            </a:pPr>
            <a:r>
              <a:t>•  Needs: Clear ROI, cross-township BESS asset mobility, and audited ESG metrics.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THE STORY : 3. SOLUTION</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GreenPulse SiteOS: The Integrated Multi-Role Operating Platform</a:t>
            </a:r>
          </a:p>
        </p:txBody>
      </p:sp>
      <p:sp>
        <p:nvSpPr>
          <p:cNvPr id="5" name="Rounded Rectangle 4"/>
          <p:cNvSpPr/>
          <p:nvPr/>
        </p:nvSpPr>
        <p:spPr>
          <a:xfrm>
            <a:off x="7315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4023359"/>
          </a:xfrm>
          <a:prstGeom prst="rect">
            <a:avLst/>
          </a:prstGeom>
          <a:noFill/>
        </p:spPr>
        <p:txBody>
          <a:bodyPr wrap="square">
            <a:spAutoFit/>
          </a:bodyPr>
          <a:lstStyle/>
          <a:p>
            <a:pPr>
              <a:defRPr b="1" sz="1400">
                <a:solidFill>
                  <a:srgbClr val="F07A2A"/>
                </a:solidFill>
              </a:defRPr>
            </a:pPr>
            <a:r>
              <a:t>[M&amp;E MANAGER VIEW]  M&amp;E Operations Screen</a:t>
            </a:r>
          </a:p>
          <a:p>
            <a:pPr>
              <a:defRPr sz="400"/>
            </a:pPr>
          </a:p>
          <a:p>
            <a:pPr>
              <a:spcAft>
                <a:spcPts val="400"/>
              </a:spcAft>
              <a:defRPr sz="1100">
                <a:solidFill>
                  <a:srgbClr val="A3B8B0"/>
                </a:solidFill>
              </a:defRPr>
            </a:pPr>
            <a:r>
              <a:t>•  Live Sub-Cycle Inrush Buffer: Dampens 94 kW inductive motor kicks in &lt; 4 milliseconds.</a:t>
            </a:r>
          </a:p>
          <a:p>
            <a:pPr>
              <a:spcAft>
                <a:spcPts val="400"/>
              </a:spcAft>
              <a:defRPr sz="1100">
                <a:solidFill>
                  <a:srgbClr val="A3B8B0"/>
                </a:solidFill>
              </a:defRPr>
            </a:pPr>
            <a:r>
              <a:t>•  Machinery Circuit Control: Dynamic breaker management for Cranes, Hoists, and CLQ Quarters.</a:t>
            </a:r>
          </a:p>
          <a:p>
            <a:pPr>
              <a:spcAft>
                <a:spcPts val="400"/>
              </a:spcAft>
              <a:defRPr sz="1100">
                <a:solidFill>
                  <a:srgbClr val="A3B8B0"/>
                </a:solidFill>
              </a:defRPr>
            </a:pPr>
            <a:r>
              <a:t>•  Autonomous Weather Dispatch: Pre-charges BESS to 88% ahead of afternoon storm clouds.</a:t>
            </a:r>
          </a:p>
          <a:p>
            <a:pPr>
              <a:spcAft>
                <a:spcPts val="400"/>
              </a:spcAft>
              <a:defRPr sz="1100">
                <a:solidFill>
                  <a:srgbClr val="A3B8B0"/>
                </a:solidFill>
              </a:defRPr>
            </a:pPr>
            <a:r>
              <a:t>•  EV Fleet Charging: Schedules 60 kW forklift charging using clean mid-day solar surplus.</a:t>
            </a:r>
          </a:p>
        </p:txBody>
      </p:sp>
      <p:sp>
        <p:nvSpPr>
          <p:cNvPr id="7" name="Rounded Rectangle 6"/>
          <p:cNvSpPr/>
          <p:nvPr/>
        </p:nvSpPr>
        <p:spPr>
          <a:xfrm>
            <a:off x="43891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28800"/>
            <a:ext cx="2926080" cy="4023359"/>
          </a:xfrm>
          <a:prstGeom prst="rect">
            <a:avLst/>
          </a:prstGeom>
          <a:noFill/>
        </p:spPr>
        <p:txBody>
          <a:bodyPr wrap="square">
            <a:spAutoFit/>
          </a:bodyPr>
          <a:lstStyle/>
          <a:p>
            <a:pPr>
              <a:defRPr b="1" sz="1400">
                <a:solidFill>
                  <a:srgbClr val="2E7D5B"/>
                </a:solidFill>
              </a:defRPr>
            </a:pPr>
            <a:r>
              <a:t>[ENVIRONMENTAL OFFICER]  Environmental &amp; Boundary Screen</a:t>
            </a:r>
          </a:p>
          <a:p>
            <a:pPr>
              <a:defRPr sz="400"/>
            </a:pPr>
          </a:p>
          <a:p>
            <a:pPr>
              <a:spcAft>
                <a:spcPts val="400"/>
              </a:spcAft>
              <a:defRPr sz="1100">
                <a:solidFill>
                  <a:srgbClr val="A3B8B0"/>
                </a:solidFill>
              </a:defRPr>
            </a:pPr>
            <a:r>
              <a:t>•  Live Acoustic Meter: Boundary L90 noise audit (54.1 dBA vs 60 dBA Day Limit).</a:t>
            </a:r>
          </a:p>
          <a:p>
            <a:pPr>
              <a:spcAft>
                <a:spcPts val="400"/>
              </a:spcAft>
              <a:defRPr sz="1100">
                <a:solidFill>
                  <a:srgbClr val="A3B8B0"/>
                </a:solidFill>
              </a:defRPr>
            </a:pPr>
            <a:r>
              <a:t>•  Acoustic Source Separation: Separates site noise from external public road tipper trucks.</a:t>
            </a:r>
          </a:p>
          <a:p>
            <a:pPr>
              <a:spcAft>
                <a:spcPts val="400"/>
              </a:spcAft>
              <a:defRPr sz="1100">
                <a:solidFill>
                  <a:srgbClr val="A3B8B0"/>
                </a:solidFill>
              </a:defRPr>
            </a:pPr>
            <a:r>
              <a:t>•  Water &amp; Silt Runoff: Real-time turbidity sensor monitoring (&lt; 50 NTU compliance).</a:t>
            </a:r>
          </a:p>
          <a:p>
            <a:pPr>
              <a:spcAft>
                <a:spcPts val="400"/>
              </a:spcAft>
              <a:defRPr sz="1100">
                <a:solidFill>
                  <a:srgbClr val="A3B8B0"/>
                </a:solidFill>
              </a:defRPr>
            </a:pPr>
            <a:r>
              <a:t>•  1-Click Statutory Filing: Generates official Monthly EMP attachments for DOE submission.</a:t>
            </a:r>
          </a:p>
        </p:txBody>
      </p:sp>
      <p:sp>
        <p:nvSpPr>
          <p:cNvPr id="9" name="Rounded Rectangle 8"/>
          <p:cNvSpPr/>
          <p:nvPr/>
        </p:nvSpPr>
        <p:spPr>
          <a:xfrm>
            <a:off x="80467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828800"/>
            <a:ext cx="2926080" cy="4023359"/>
          </a:xfrm>
          <a:prstGeom prst="rect">
            <a:avLst/>
          </a:prstGeom>
          <a:noFill/>
        </p:spPr>
        <p:txBody>
          <a:bodyPr wrap="square">
            <a:spAutoFit/>
          </a:bodyPr>
          <a:lstStyle/>
          <a:p>
            <a:pPr>
              <a:defRPr b="1" sz="1400">
                <a:solidFill>
                  <a:srgbClr val="FFFFFF"/>
                </a:solidFill>
              </a:defRPr>
            </a:pPr>
            <a:r>
              <a:t>[HQ EXECUTIVE VIEW]  HQ Portfolio &amp; ESG Screen</a:t>
            </a:r>
          </a:p>
          <a:p>
            <a:pPr>
              <a:defRPr sz="400"/>
            </a:pPr>
          </a:p>
          <a:p>
            <a:pPr>
              <a:spcAft>
                <a:spcPts val="400"/>
              </a:spcAft>
              <a:defRPr sz="1100">
                <a:solidFill>
                  <a:srgbClr val="A3B8B0"/>
                </a:solidFill>
              </a:defRPr>
            </a:pPr>
            <a:r>
              <a:t>•  Commercial Diesel Ticker: Live RM 5.17 / L economic indexation across all active parcels.</a:t>
            </a:r>
          </a:p>
          <a:p>
            <a:pPr>
              <a:spcAft>
                <a:spcPts val="400"/>
              </a:spcAft>
              <a:defRPr sz="1100">
                <a:solidFill>
                  <a:srgbClr val="A3B8B0"/>
                </a:solidFill>
              </a:defRPr>
            </a:pPr>
            <a:r>
              <a:t>•  Multi-Township Redeployment: Tracks BESS asset moves across Elmina, Serenia, and Bukit Raja.</a:t>
            </a:r>
          </a:p>
          <a:p>
            <a:pPr>
              <a:spcAft>
                <a:spcPts val="400"/>
              </a:spcAft>
              <a:defRPr sz="1100">
                <a:solidFill>
                  <a:srgbClr val="A3B8B0"/>
                </a:solidFill>
              </a:defRPr>
            </a:pPr>
            <a:r>
              <a:t>•  Bursa CSI ESG Disclosure: Certified Scope 1 carbon abatement reporting.</a:t>
            </a:r>
          </a:p>
          <a:p>
            <a:pPr>
              <a:spcAft>
                <a:spcPts val="400"/>
              </a:spcAft>
              <a:defRPr sz="1100">
                <a:solidFill>
                  <a:srgbClr val="A3B8B0"/>
                </a:solidFill>
              </a:defRPr>
            </a:pPr>
            <a:r>
              <a:t>•  Pre-Tender Sizing Calculator: Embeds zero-genset power requirements into new subcontracts.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THE STORY : 4. INNOVATION</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Deep Tech Innovation: Why GreenPulse Is Industrially Defensible</a:t>
            </a:r>
          </a:p>
        </p:txBody>
      </p:sp>
      <p:sp>
        <p:nvSpPr>
          <p:cNvPr id="5" name="Rounded Rectangle 4"/>
          <p:cNvSpPr/>
          <p:nvPr/>
        </p:nvSpPr>
        <p:spPr>
          <a:xfrm>
            <a:off x="731520" y="1645920"/>
            <a:ext cx="5212080" cy="2103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1737360"/>
          </a:xfrm>
          <a:prstGeom prst="rect">
            <a:avLst/>
          </a:prstGeom>
          <a:noFill/>
        </p:spPr>
        <p:txBody>
          <a:bodyPr wrap="square">
            <a:spAutoFit/>
          </a:bodyPr>
          <a:lstStyle/>
          <a:p>
            <a:pPr>
              <a:defRPr b="1" sz="1400">
                <a:solidFill>
                  <a:srgbClr val="2E7D5B"/>
                </a:solidFill>
              </a:defRPr>
            </a:pPr>
            <a:r>
              <a:t>[HIGH-SPEED POWER ELECTRONICS]  1. Sub-4ms SurgeGuard Inrush Buffer</a:t>
            </a:r>
          </a:p>
          <a:p>
            <a:pPr>
              <a:defRPr sz="400"/>
            </a:pPr>
          </a:p>
          <a:p>
            <a:pPr>
              <a:spcAft>
                <a:spcPts val="400"/>
              </a:spcAft>
              <a:defRPr sz="1100">
                <a:solidFill>
                  <a:srgbClr val="A3B8B0"/>
                </a:solidFill>
              </a:defRPr>
            </a:pPr>
            <a:r>
              <a:t>•  Conventional inverters trip under inductive motor starts (45 kW nominal -&gt; 94 kW surge).</a:t>
            </a:r>
          </a:p>
          <a:p>
            <a:pPr>
              <a:spcAft>
                <a:spcPts val="400"/>
              </a:spcAft>
              <a:defRPr sz="1100">
                <a:solidFill>
                  <a:srgbClr val="A3B8B0"/>
                </a:solidFill>
              </a:defRPr>
            </a:pPr>
            <a:r>
              <a:t>•  SurgeGuard algorithmic buffering delivers 200 kW peak surge for 10 seconds with 3.8ms IGBT response.</a:t>
            </a:r>
          </a:p>
          <a:p>
            <a:pPr>
              <a:spcAft>
                <a:spcPts val="400"/>
              </a:spcAft>
              <a:defRPr sz="1100">
                <a:solidFill>
                  <a:srgbClr val="A3B8B0"/>
                </a:solidFill>
              </a:defRPr>
            </a:pPr>
            <a:r>
              <a:t>•  Guarantees 0.0% breaker trips during dual simultaneous crane and passenger hoist starts.</a:t>
            </a:r>
          </a:p>
        </p:txBody>
      </p:sp>
      <p:sp>
        <p:nvSpPr>
          <p:cNvPr id="7" name="Rounded Rectangle 6"/>
          <p:cNvSpPr/>
          <p:nvPr/>
        </p:nvSpPr>
        <p:spPr>
          <a:xfrm>
            <a:off x="6217920" y="1645920"/>
            <a:ext cx="5212080" cy="2103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1737360"/>
          </a:xfrm>
          <a:prstGeom prst="rect">
            <a:avLst/>
          </a:prstGeom>
          <a:noFill/>
        </p:spPr>
        <p:txBody>
          <a:bodyPr wrap="square">
            <a:spAutoFit/>
          </a:bodyPr>
          <a:lstStyle/>
          <a:p>
            <a:pPr>
              <a:defRPr b="1" sz="1400">
                <a:solidFill>
                  <a:srgbClr val="F07A2A"/>
                </a:solidFill>
              </a:defRPr>
            </a:pPr>
            <a:r>
              <a:t>[PREDICTIVE METEOROLOGY]  2. Physics-Informed SolarCast ML</a:t>
            </a:r>
          </a:p>
          <a:p>
            <a:pPr>
              <a:defRPr sz="400"/>
            </a:pPr>
          </a:p>
          <a:p>
            <a:pPr>
              <a:spcAft>
                <a:spcPts val="400"/>
              </a:spcAft>
              <a:defRPr sz="1100">
                <a:solidFill>
                  <a:srgbClr val="A3B8B0"/>
                </a:solidFill>
              </a:defRPr>
            </a:pPr>
            <a:r>
              <a:t>•  Monsoon cloudbursts cause sudden 85% solar drops within 60 seconds.</a:t>
            </a:r>
          </a:p>
          <a:p>
            <a:pPr>
              <a:spcAft>
                <a:spcPts val="400"/>
              </a:spcAft>
              <a:defRPr sz="1100">
                <a:solidFill>
                  <a:srgbClr val="A3B8B0"/>
                </a:solidFill>
              </a:defRPr>
            </a:pPr>
            <a:r>
              <a:t>•  SolarCast pairs MET Malaysia Doppler radar with solar zenith geometry for 24-hr forecasting.</a:t>
            </a:r>
          </a:p>
          <a:p>
            <a:pPr>
              <a:spcAft>
                <a:spcPts val="400"/>
              </a:spcAft>
              <a:defRPr sz="1100">
                <a:solidFill>
                  <a:srgbClr val="A3B8B0"/>
                </a:solidFill>
              </a:defRPr>
            </a:pPr>
            <a:r>
              <a:t>•  Pre-charges battery before rain hits, completely eliminating generator auto-starts.</a:t>
            </a:r>
          </a:p>
        </p:txBody>
      </p:sp>
      <p:sp>
        <p:nvSpPr>
          <p:cNvPr id="9" name="Rounded Rectangle 8"/>
          <p:cNvSpPr/>
          <p:nvPr/>
        </p:nvSpPr>
        <p:spPr>
          <a:xfrm>
            <a:off x="731520" y="3931920"/>
            <a:ext cx="5212080" cy="2103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114800"/>
            <a:ext cx="4754880" cy="1737360"/>
          </a:xfrm>
          <a:prstGeom prst="rect">
            <a:avLst/>
          </a:prstGeom>
          <a:noFill/>
        </p:spPr>
        <p:txBody>
          <a:bodyPr wrap="square">
            <a:spAutoFit/>
          </a:bodyPr>
          <a:lstStyle/>
          <a:p>
            <a:pPr>
              <a:defRPr b="1" sz="1400">
                <a:solidFill>
                  <a:srgbClr val="F07A2A"/>
                </a:solidFill>
              </a:defRPr>
            </a:pPr>
            <a:r>
              <a:t>[EDGE ACOUSTIC SIGNAL PROCESSING]  3. EchoShield Acoustic Edge AI</a:t>
            </a:r>
          </a:p>
          <a:p>
            <a:pPr>
              <a:defRPr sz="400"/>
            </a:pPr>
          </a:p>
          <a:p>
            <a:pPr>
              <a:spcAft>
                <a:spcPts val="400"/>
              </a:spcAft>
              <a:defRPr sz="1100">
                <a:solidFill>
                  <a:srgbClr val="A3B8B0"/>
                </a:solidFill>
              </a:defRPr>
            </a:pPr>
            <a:r>
              <a:t>•  Conventional sound meters register raw spikes from passing highway traffic.</a:t>
            </a:r>
          </a:p>
          <a:p>
            <a:pPr>
              <a:spcAft>
                <a:spcPts val="400"/>
              </a:spcAft>
              <a:defRPr sz="1100">
                <a:solidFill>
                  <a:srgbClr val="A3B8B0"/>
                </a:solidFill>
              </a:defRPr>
            </a:pPr>
            <a:r>
              <a:t>•  EchoShield analyzes spectral energy distribution (63 Hz - 125 Hz dump truck signature).</a:t>
            </a:r>
          </a:p>
          <a:p>
            <a:pPr>
              <a:spcAft>
                <a:spcPts val="400"/>
              </a:spcAft>
              <a:defRPr sz="1100">
                <a:solidFill>
                  <a:srgbClr val="A3B8B0"/>
                </a:solidFill>
              </a:defRPr>
            </a:pPr>
            <a:r>
              <a:t>•  Isolates true site boundary noise (54.1 dBA) and suppresses false statutory alarms.</a:t>
            </a:r>
          </a:p>
        </p:txBody>
      </p:sp>
      <p:sp>
        <p:nvSpPr>
          <p:cNvPr id="11" name="Rounded Rectangle 10"/>
          <p:cNvSpPr/>
          <p:nvPr/>
        </p:nvSpPr>
        <p:spPr>
          <a:xfrm>
            <a:off x="6217920" y="3931920"/>
            <a:ext cx="5212080" cy="2103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114800"/>
            <a:ext cx="4754880" cy="1737360"/>
          </a:xfrm>
          <a:prstGeom prst="rect">
            <a:avLst/>
          </a:prstGeom>
          <a:noFill/>
        </p:spPr>
        <p:txBody>
          <a:bodyPr wrap="square">
            <a:spAutoFit/>
          </a:bodyPr>
          <a:lstStyle/>
          <a:p>
            <a:pPr>
              <a:defRPr b="1" sz="1400">
                <a:solidFill>
                  <a:srgbClr val="2E7D5B"/>
                </a:solidFill>
              </a:defRPr>
            </a:pPr>
            <a:r>
              <a:t>[DOMAIN-TUNED COGNITIVE AI]  4. Multi-Role SiteOps Copilot</a:t>
            </a:r>
          </a:p>
          <a:p>
            <a:pPr>
              <a:defRPr sz="400"/>
            </a:pPr>
          </a:p>
          <a:p>
            <a:pPr>
              <a:spcAft>
                <a:spcPts val="400"/>
              </a:spcAft>
              <a:defRPr sz="1100">
                <a:solidFill>
                  <a:srgbClr val="A3B8B0"/>
                </a:solidFill>
              </a:defRPr>
            </a:pPr>
            <a:r>
              <a:t>•  Role-conditioned AI assistant trained on DOE Schedule 6 and Malaysian construction standards.</a:t>
            </a:r>
          </a:p>
          <a:p>
            <a:pPr>
              <a:spcAft>
                <a:spcPts val="400"/>
              </a:spcAft>
              <a:defRPr sz="1100">
                <a:solidFill>
                  <a:srgbClr val="A3B8B0"/>
                </a:solidFill>
              </a:defRPr>
            </a:pPr>
            <a:r>
              <a:t>•  Executes deterministic power simulations, motor surge calculations, and EMP draft generation.</a:t>
            </a:r>
          </a:p>
          <a:p>
            <a:pPr>
              <a:spcAft>
                <a:spcPts val="400"/>
              </a:spcAft>
              <a:defRPr sz="1100">
                <a:solidFill>
                  <a:srgbClr val="A3B8B0"/>
                </a:solidFill>
              </a:defRPr>
            </a:pPr>
            <a:r>
              <a:t>•  Zero hallucination: Built on verified mathematical engineering and statutory legal models.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THE PROOF : 5. HOW IT WORKS</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Hardware-Software Orchestration Architecture</a:t>
            </a:r>
          </a:p>
        </p:txBody>
      </p:sp>
      <p:sp>
        <p:nvSpPr>
          <p:cNvPr id="5" name="Rounded Rectangle 4"/>
          <p:cNvSpPr/>
          <p:nvPr/>
        </p:nvSpPr>
        <p:spPr>
          <a:xfrm>
            <a:off x="731520" y="1645920"/>
            <a:ext cx="256032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103120" cy="4023359"/>
          </a:xfrm>
          <a:prstGeom prst="rect">
            <a:avLst/>
          </a:prstGeom>
          <a:noFill/>
        </p:spPr>
        <p:txBody>
          <a:bodyPr wrap="square">
            <a:spAutoFit/>
          </a:bodyPr>
          <a:lstStyle/>
          <a:p>
            <a:pPr>
              <a:defRPr b="1" sz="1400">
                <a:solidFill>
                  <a:srgbClr val="2E7D5B"/>
                </a:solidFill>
              </a:defRPr>
            </a:pPr>
            <a:r>
              <a:t>[SOLAR PV + BESS]  Step 1: Clean Harvest</a:t>
            </a:r>
          </a:p>
          <a:p>
            <a:pPr>
              <a:defRPr sz="400"/>
            </a:pPr>
          </a:p>
          <a:p>
            <a:pPr>
              <a:spcAft>
                <a:spcPts val="400"/>
              </a:spcAft>
              <a:defRPr sz="1100">
                <a:solidFill>
                  <a:srgbClr val="A3B8B0"/>
                </a:solidFill>
              </a:defRPr>
            </a:pPr>
            <a:r>
              <a:t>•  150 - 300 kWp rooftop / ground solar array.</a:t>
            </a:r>
          </a:p>
          <a:p>
            <a:pPr>
              <a:spcAft>
                <a:spcPts val="400"/>
              </a:spcAft>
              <a:defRPr sz="1100">
                <a:solidFill>
                  <a:srgbClr val="A3B8B0"/>
                </a:solidFill>
              </a:defRPr>
            </a:pPr>
            <a:r>
              <a:t>•  261 - 522 kWh containerised LFP BESS.</a:t>
            </a:r>
          </a:p>
          <a:p>
            <a:pPr>
              <a:spcAft>
                <a:spcPts val="400"/>
              </a:spcAft>
              <a:defRPr sz="1100">
                <a:solidFill>
                  <a:srgbClr val="A3B8B0"/>
                </a:solidFill>
              </a:defRPr>
            </a:pPr>
            <a:r>
              <a:t>•  High-frequency 400 kW hybrid bidirectional inverter.</a:t>
            </a:r>
          </a:p>
        </p:txBody>
      </p:sp>
      <p:sp>
        <p:nvSpPr>
          <p:cNvPr id="7" name="Rounded Rectangle 6"/>
          <p:cNvSpPr/>
          <p:nvPr/>
        </p:nvSpPr>
        <p:spPr>
          <a:xfrm>
            <a:off x="3429000" y="1645920"/>
            <a:ext cx="256032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828800"/>
            <a:ext cx="2103120" cy="4023359"/>
          </a:xfrm>
          <a:prstGeom prst="rect">
            <a:avLst/>
          </a:prstGeom>
          <a:noFill/>
        </p:spPr>
        <p:txBody>
          <a:bodyPr wrap="square">
            <a:spAutoFit/>
          </a:bodyPr>
          <a:lstStyle/>
          <a:p>
            <a:pPr>
              <a:defRPr b="1" sz="1400">
                <a:solidFill>
                  <a:srgbClr val="F07A2A"/>
                </a:solidFill>
              </a:defRPr>
            </a:pPr>
            <a:r>
              <a:t>[4G IOT SITE GATEWAY]  Step 2: Edge Telemetry</a:t>
            </a:r>
          </a:p>
          <a:p>
            <a:pPr>
              <a:defRPr sz="400"/>
            </a:pPr>
          </a:p>
          <a:p>
            <a:pPr>
              <a:spcAft>
                <a:spcPts val="400"/>
              </a:spcAft>
              <a:defRPr sz="1100">
                <a:solidFill>
                  <a:srgbClr val="A3B8B0"/>
                </a:solidFill>
              </a:defRPr>
            </a:pPr>
            <a:r>
              <a:t>•  Sub-second inverter voltage and frequency sampling.</a:t>
            </a:r>
          </a:p>
          <a:p>
            <a:pPr>
              <a:spcAft>
                <a:spcPts val="400"/>
              </a:spcAft>
              <a:defRPr sz="1100">
                <a:solidFill>
                  <a:srgbClr val="A3B8B0"/>
                </a:solidFill>
              </a:defRPr>
            </a:pPr>
            <a:r>
              <a:t>•  Class 1 boundary acoustic noise sensors.</a:t>
            </a:r>
          </a:p>
          <a:p>
            <a:pPr>
              <a:spcAft>
                <a:spcPts val="400"/>
              </a:spcAft>
              <a:defRPr sz="1100">
                <a:solidFill>
                  <a:srgbClr val="A3B8B0"/>
                </a:solidFill>
              </a:defRPr>
            </a:pPr>
            <a:r>
              <a:t>•  Smart sub-distribution breakers (CB-01 to CB-06).</a:t>
            </a:r>
          </a:p>
        </p:txBody>
      </p:sp>
      <p:sp>
        <p:nvSpPr>
          <p:cNvPr id="9" name="Rounded Rectangle 8"/>
          <p:cNvSpPr/>
          <p:nvPr/>
        </p:nvSpPr>
        <p:spPr>
          <a:xfrm>
            <a:off x="6126480" y="1645920"/>
            <a:ext cx="256032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828800"/>
            <a:ext cx="2103120" cy="4023359"/>
          </a:xfrm>
          <a:prstGeom prst="rect">
            <a:avLst/>
          </a:prstGeom>
          <a:noFill/>
        </p:spPr>
        <p:txBody>
          <a:bodyPr wrap="square">
            <a:spAutoFit/>
          </a:bodyPr>
          <a:lstStyle/>
          <a:p>
            <a:pPr>
              <a:defRPr b="1" sz="1400">
                <a:solidFill>
                  <a:srgbClr val="FFFFFF"/>
                </a:solidFill>
              </a:defRPr>
            </a:pPr>
            <a:r>
              <a:t>[CLOUD MODEL PREDICTIVE CONTROL]  Step 3: AI Optimisation</a:t>
            </a:r>
          </a:p>
          <a:p>
            <a:pPr>
              <a:defRPr sz="400"/>
            </a:pPr>
          </a:p>
          <a:p>
            <a:pPr>
              <a:spcAft>
                <a:spcPts val="400"/>
              </a:spcAft>
              <a:defRPr sz="1100">
                <a:solidFill>
                  <a:srgbClr val="A3B8B0"/>
                </a:solidFill>
              </a:defRPr>
            </a:pPr>
            <a:r>
              <a:t>•  MPC DispatchOpt solves dynamic cost optimization.</a:t>
            </a:r>
          </a:p>
          <a:p>
            <a:pPr>
              <a:spcAft>
                <a:spcPts val="400"/>
              </a:spcAft>
              <a:defRPr sz="1100">
                <a:solidFill>
                  <a:srgbClr val="A3B8B0"/>
                </a:solidFill>
              </a:defRPr>
            </a:pPr>
            <a:r>
              <a:t>•  Load shifting algorithms schedule EV forklift charging.</a:t>
            </a:r>
          </a:p>
          <a:p>
            <a:pPr>
              <a:spcAft>
                <a:spcPts val="400"/>
              </a:spcAft>
              <a:defRPr sz="1100">
                <a:solidFill>
                  <a:srgbClr val="A3B8B0"/>
                </a:solidFill>
              </a:defRPr>
            </a:pPr>
            <a:r>
              <a:t>•  Surge headroom preservation prevents voltage dip.</a:t>
            </a:r>
          </a:p>
        </p:txBody>
      </p:sp>
      <p:sp>
        <p:nvSpPr>
          <p:cNvPr id="11" name="Rounded Rectangle 10"/>
          <p:cNvSpPr/>
          <p:nvPr/>
        </p:nvSpPr>
        <p:spPr>
          <a:xfrm>
            <a:off x="8823960" y="1645920"/>
            <a:ext cx="256032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0" y="1828800"/>
            <a:ext cx="2103120" cy="4023359"/>
          </a:xfrm>
          <a:prstGeom prst="rect">
            <a:avLst/>
          </a:prstGeom>
          <a:noFill/>
        </p:spPr>
        <p:txBody>
          <a:bodyPr wrap="square">
            <a:spAutoFit/>
          </a:bodyPr>
          <a:lstStyle/>
          <a:p>
            <a:pPr>
              <a:defRPr b="1" sz="1400">
                <a:solidFill>
                  <a:srgbClr val="2E7D5B"/>
                </a:solidFill>
              </a:defRPr>
            </a:pPr>
            <a:r>
              <a:t>[ROLE-CONDITIONED WEB APP]  Step 4: Unified Command</a:t>
            </a:r>
          </a:p>
          <a:p>
            <a:pPr>
              <a:defRPr sz="400"/>
            </a:pPr>
          </a:p>
          <a:p>
            <a:pPr>
              <a:spcAft>
                <a:spcPts val="400"/>
              </a:spcAft>
              <a:defRPr sz="1100">
                <a:solidFill>
                  <a:srgbClr val="A3B8B0"/>
                </a:solidFill>
              </a:defRPr>
            </a:pPr>
            <a:r>
              <a:t>•  M&amp;E Manager: Machinery breaker dispatch.</a:t>
            </a:r>
          </a:p>
          <a:p>
            <a:pPr>
              <a:spcAft>
                <a:spcPts val="400"/>
              </a:spcAft>
              <a:defRPr sz="1100">
                <a:solidFill>
                  <a:srgbClr val="A3B8B0"/>
                </a:solidFill>
              </a:defRPr>
            </a:pPr>
            <a:r>
              <a:t>•  EO: Live statutory DOE noise margin meter.</a:t>
            </a:r>
          </a:p>
          <a:p>
            <a:pPr>
              <a:spcAft>
                <a:spcPts val="400"/>
              </a:spcAft>
              <a:defRPr sz="1100">
                <a:solidFill>
                  <a:srgbClr val="A3B8B0"/>
                </a:solidFill>
              </a:defRPr>
            </a:pPr>
            <a:r>
              <a:t>•  HQ: Portfolio cash savings ledger and fleet scheduler.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THE PROOF : 6. IMPACT</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Proven Financial, Environmental, and Community Returns</a:t>
            </a:r>
          </a:p>
        </p:txBody>
      </p:sp>
      <p:sp>
        <p:nvSpPr>
          <p:cNvPr id="5" name="Rounded Rectangle 4"/>
          <p:cNvSpPr/>
          <p:nvPr/>
        </p:nvSpPr>
        <p:spPr>
          <a:xfrm>
            <a:off x="7315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4023359"/>
          </a:xfrm>
          <a:prstGeom prst="rect">
            <a:avLst/>
          </a:prstGeom>
          <a:noFill/>
        </p:spPr>
        <p:txBody>
          <a:bodyPr wrap="square">
            <a:spAutoFit/>
          </a:bodyPr>
          <a:lstStyle/>
          <a:p>
            <a:pPr>
              <a:defRPr b="1" sz="1400">
                <a:solidFill>
                  <a:srgbClr val="F07A2A"/>
                </a:solidFill>
              </a:defRPr>
            </a:pPr>
            <a:r>
              <a:t>[ECONOMIC DIVIDEND]  Direct Financial Return</a:t>
            </a:r>
          </a:p>
          <a:p>
            <a:pPr>
              <a:defRPr sz="400"/>
            </a:pPr>
          </a:p>
          <a:p>
            <a:pPr>
              <a:spcAft>
                <a:spcPts val="400"/>
              </a:spcAft>
              <a:defRPr sz="1100">
                <a:solidFill>
                  <a:srgbClr val="A3B8B0"/>
                </a:solidFill>
              </a:defRPr>
            </a:pPr>
            <a:r>
              <a:t>•  Fuel Cost Elimination: Saves 18,400L of Euro 5 diesel monthly (RM 95,128/mo).</a:t>
            </a:r>
          </a:p>
          <a:p>
            <a:pPr>
              <a:spcAft>
                <a:spcPts val="400"/>
              </a:spcAft>
              <a:defRPr sz="1100">
                <a:solidFill>
                  <a:srgbClr val="A3B8B0"/>
                </a:solidFill>
              </a:defRPr>
            </a:pPr>
            <a:r>
              <a:t>•  Rental Avoidance: Cancels 500 kVA generator rental contract (RM 30,000/mo).</a:t>
            </a:r>
          </a:p>
          <a:p>
            <a:pPr>
              <a:spcAft>
                <a:spcPts val="400"/>
              </a:spcAft>
              <a:defRPr sz="1100">
                <a:solidFill>
                  <a:srgbClr val="A3B8B0"/>
                </a:solidFill>
              </a:defRPr>
            </a:pPr>
            <a:r>
              <a:t>•  Net Cash Savings: RM 125,128 net operational savings per parcel every month.</a:t>
            </a:r>
          </a:p>
          <a:p>
            <a:pPr>
              <a:spcAft>
                <a:spcPts val="400"/>
              </a:spcAft>
              <a:defRPr sz="1100">
                <a:solidFill>
                  <a:srgbClr val="A3B8B0"/>
                </a:solidFill>
              </a:defRPr>
            </a:pPr>
            <a:r>
              <a:t>•  Capital Payback: Fast 14.2 months against turnkey container capex.</a:t>
            </a:r>
          </a:p>
        </p:txBody>
      </p:sp>
      <p:sp>
        <p:nvSpPr>
          <p:cNvPr id="7" name="Rounded Rectangle 6"/>
          <p:cNvSpPr/>
          <p:nvPr/>
        </p:nvSpPr>
        <p:spPr>
          <a:xfrm>
            <a:off x="43891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28800"/>
            <a:ext cx="2926080" cy="4023359"/>
          </a:xfrm>
          <a:prstGeom prst="rect">
            <a:avLst/>
          </a:prstGeom>
          <a:noFill/>
        </p:spPr>
        <p:txBody>
          <a:bodyPr wrap="square">
            <a:spAutoFit/>
          </a:bodyPr>
          <a:lstStyle/>
          <a:p>
            <a:pPr>
              <a:defRPr b="1" sz="1400">
                <a:solidFill>
                  <a:srgbClr val="2E7D5B"/>
                </a:solidFill>
              </a:defRPr>
            </a:pPr>
            <a:r>
              <a:t>[PLANET TRACK GOAL]  Environmental Decarbonisation</a:t>
            </a:r>
          </a:p>
          <a:p>
            <a:pPr>
              <a:defRPr sz="400"/>
            </a:pPr>
          </a:p>
          <a:p>
            <a:pPr>
              <a:spcAft>
                <a:spcPts val="400"/>
              </a:spcAft>
              <a:defRPr sz="1100">
                <a:solidFill>
                  <a:srgbClr val="A3B8B0"/>
                </a:solidFill>
              </a:defRPr>
            </a:pPr>
            <a:r>
              <a:t>•  Scope 1 Reduction: 77.6% drop in construction phase carbon intensity.</a:t>
            </a:r>
          </a:p>
          <a:p>
            <a:pPr>
              <a:spcAft>
                <a:spcPts val="400"/>
              </a:spcAft>
              <a:defRPr sz="1100">
                <a:solidFill>
                  <a:srgbClr val="A3B8B0"/>
                </a:solidFill>
              </a:defRPr>
            </a:pPr>
            <a:r>
              <a:t>•  Carbon Benchmark: Reduces emissions from 18.40 kg to 4.12 kg CO2e / m2 CFA.</a:t>
            </a:r>
          </a:p>
          <a:p>
            <a:pPr>
              <a:spcAft>
                <a:spcPts val="400"/>
              </a:spcAft>
              <a:defRPr sz="1100">
                <a:solidFill>
                  <a:srgbClr val="A3B8B0"/>
                </a:solidFill>
              </a:defRPr>
            </a:pPr>
            <a:r>
              <a:t>•  Clean Air Quality: 100% elimination of particulate matter (PM2.5/PM10) and unburnt diesel exhaust.</a:t>
            </a:r>
          </a:p>
          <a:p>
            <a:pPr>
              <a:spcAft>
                <a:spcPts val="400"/>
              </a:spcAft>
              <a:defRPr sz="1100">
                <a:solidFill>
                  <a:srgbClr val="A3B8B0"/>
                </a:solidFill>
              </a:defRPr>
            </a:pPr>
            <a:r>
              <a:t>•  Bursa Compliance: Ready for Annual Integrated Report ESG audit.</a:t>
            </a:r>
          </a:p>
        </p:txBody>
      </p:sp>
      <p:sp>
        <p:nvSpPr>
          <p:cNvPr id="9" name="Rounded Rectangle 8"/>
          <p:cNvSpPr/>
          <p:nvPr/>
        </p:nvSpPr>
        <p:spPr>
          <a:xfrm>
            <a:off x="80467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828800"/>
            <a:ext cx="2926080" cy="4023359"/>
          </a:xfrm>
          <a:prstGeom prst="rect">
            <a:avLst/>
          </a:prstGeom>
          <a:noFill/>
        </p:spPr>
        <p:txBody>
          <a:bodyPr wrap="square">
            <a:spAutoFit/>
          </a:bodyPr>
          <a:lstStyle/>
          <a:p>
            <a:pPr>
              <a:defRPr b="1" sz="1400">
                <a:solidFill>
                  <a:srgbClr val="FFFFFF"/>
                </a:solidFill>
              </a:defRPr>
            </a:pPr>
            <a:r>
              <a:t>[COMMUNITY GOODWILL]  Social &amp; Community Harmony</a:t>
            </a:r>
          </a:p>
          <a:p>
            <a:pPr>
              <a:defRPr sz="400"/>
            </a:pPr>
          </a:p>
          <a:p>
            <a:pPr>
              <a:spcAft>
                <a:spcPts val="400"/>
              </a:spcAft>
              <a:defRPr sz="1100">
                <a:solidFill>
                  <a:srgbClr val="A3B8B0"/>
                </a:solidFill>
              </a:defRPr>
            </a:pPr>
            <a:r>
              <a:t>•  Acoustic Dampening: Measured -27.9 dBA noise attenuation (88% perceived quietening).</a:t>
            </a:r>
          </a:p>
          <a:p>
            <a:pPr>
              <a:spcAft>
                <a:spcPts val="400"/>
              </a:spcAft>
              <a:defRPr sz="1100">
                <a:solidFill>
                  <a:srgbClr val="A3B8B0"/>
                </a:solidFill>
              </a:defRPr>
            </a:pPr>
            <a:r>
              <a:t>•  Statutory Margin: Boundary sound remains at 54.1 dBA (comfortably under 60 dBA Day / 45 dBA Night).</a:t>
            </a:r>
          </a:p>
          <a:p>
            <a:pPr>
              <a:spcAft>
                <a:spcPts val="400"/>
              </a:spcAft>
              <a:defRPr sz="1100">
                <a:solidFill>
                  <a:srgbClr val="A3B8B0"/>
                </a:solidFill>
              </a:defRPr>
            </a:pPr>
            <a:r>
              <a:t>•  Resident Portal: 100% anonymous digital feedback for neighbors with verified resolution tracking.</a:t>
            </a:r>
          </a:p>
          <a:p>
            <a:pPr>
              <a:spcAft>
                <a:spcPts val="400"/>
              </a:spcAft>
              <a:defRPr sz="1100">
                <a:solidFill>
                  <a:srgbClr val="A3B8B0"/>
                </a:solidFill>
              </a:defRPr>
            </a:pPr>
            <a:r>
              <a:t>•  Zero Stop-Work Risk: Guaranteed statutory compliance under Environmental Quality Act 1974.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THE PROOF : 7. FEASIBILITY</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Bankable Unit Economics &amp; Turnkey Operational Viability</a:t>
            </a:r>
          </a:p>
        </p:txBody>
      </p:sp>
      <p:sp>
        <p:nvSpPr>
          <p:cNvPr id="5" name="Rounded Rectangle 4"/>
          <p:cNvSpPr/>
          <p:nvPr/>
        </p:nvSpPr>
        <p:spPr>
          <a:xfrm>
            <a:off x="731520" y="1645920"/>
            <a:ext cx="6217920" cy="4389120"/>
          </a:xfrm>
          <a:prstGeom prst="roundRect">
            <a:avLst/>
          </a:prstGeom>
          <a:solidFill>
            <a:srgbClr val="1C2A27"/>
          </a:solidFill>
          <a:ln>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07A2A"/>
                </a:solidFill>
              </a:defRPr>
            </a:pPr>
            <a:r>
              <a:t>[UNIT ECONOMICS]  24-Month Project Lifecycle Analysis</a:t>
            </a:r>
          </a:p>
          <a:p>
            <a:pPr>
              <a:defRPr sz="600"/>
            </a:pPr>
          </a:p>
          <a:p>
            <a:pPr>
              <a:spcAft>
                <a:spcPts val="400"/>
              </a:spcAft>
              <a:defRPr sz="1050">
                <a:solidFill>
                  <a:srgbClr val="FFFFFF"/>
                </a:solidFill>
              </a:defRPr>
            </a:pPr>
            <a:r>
              <a:t>• Monthly Commercial Fuel: RM 0 (Clean Solar + BESS) (vs RM 95,128 (18,400 L @ RM 5.17)) -&gt; - RM 95,128 / month</a:t>
            </a:r>
          </a:p>
          <a:p>
            <a:pPr>
              <a:spcAft>
                <a:spcPts val="400"/>
              </a:spcAft>
              <a:defRPr sz="1050">
                <a:solidFill>
                  <a:srgbClr val="FFFFFF"/>
                </a:solidFill>
              </a:defRPr>
            </a:pPr>
            <a:r>
              <a:t>• Monthly Equipment Rental: RM 0 (Township asset) (vs RM 30,000 (Rented genset)) -&gt; - RM 30,000 / month</a:t>
            </a:r>
          </a:p>
          <a:p>
            <a:pPr>
              <a:spcAft>
                <a:spcPts val="400"/>
              </a:spcAft>
              <a:defRPr sz="1050">
                <a:solidFill>
                  <a:srgbClr val="FFFFFF"/>
                </a:solidFill>
              </a:defRPr>
            </a:pPr>
            <a:r>
              <a:t>• Total 24-Mo Operating Cost: RM 0 operational burn (vs RM 3,003,072 cash drain) -&gt; + RM 3.00 Million cash retained</a:t>
            </a:r>
          </a:p>
          <a:p>
            <a:pPr>
              <a:spcAft>
                <a:spcPts val="400"/>
              </a:spcAft>
              <a:defRPr sz="1050">
                <a:solidFill>
                  <a:srgbClr val="A3B8B0"/>
                </a:solidFill>
              </a:defRPr>
            </a:pPr>
            <a:r>
              <a:t>• Boundary Noise Level: 54.1 dBA (Fully compliant) (vs 82.0 dBA (DOE Non-compliant)) -&gt; - 27.9 dBA noise attenuation</a:t>
            </a:r>
          </a:p>
          <a:p>
            <a:pPr>
              <a:spcAft>
                <a:spcPts val="400"/>
              </a:spcAft>
              <a:defRPr sz="1050">
                <a:solidFill>
                  <a:srgbClr val="A3B8B0"/>
                </a:solidFill>
              </a:defRPr>
            </a:pPr>
            <a:r>
              <a:t>• Carbon Emission Intensity: 4.12 kg CO2e / m2 CFA (vs 18.40 kg CO2e / m2 CFA) -&gt; - 77.6% Scope 1 reduction</a:t>
            </a:r>
          </a:p>
          <a:p>
            <a:pPr>
              <a:spcAft>
                <a:spcPts val="400"/>
              </a:spcAft>
              <a:defRPr sz="1050">
                <a:solidFill>
                  <a:srgbClr val="A3B8B0"/>
                </a:solidFill>
              </a:defRPr>
            </a:pPr>
            <a:r>
              <a:t>• Equipment Residual Value: RM 350,000 (10-yr mobile asset) (vs RM 0 (Rental vanishes)) -&gt; Fully amortised in 14.2 mos</a:t>
            </a:r>
          </a:p>
        </p:txBody>
      </p:sp>
      <p:sp>
        <p:nvSpPr>
          <p:cNvPr id="6" name="Rounded Rectangle 5"/>
          <p:cNvSpPr/>
          <p:nvPr/>
        </p:nvSpPr>
        <p:spPr>
          <a:xfrm>
            <a:off x="7223760" y="1645920"/>
            <a:ext cx="420624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52360" y="1828800"/>
            <a:ext cx="3749039" cy="4023359"/>
          </a:xfrm>
          <a:prstGeom prst="rect">
            <a:avLst/>
          </a:prstGeom>
          <a:noFill/>
        </p:spPr>
        <p:txBody>
          <a:bodyPr wrap="square">
            <a:spAutoFit/>
          </a:bodyPr>
          <a:lstStyle/>
          <a:p>
            <a:pPr>
              <a:defRPr b="1" sz="1400">
                <a:solidFill>
                  <a:srgbClr val="2E7D5B"/>
                </a:solidFill>
              </a:defRPr>
            </a:pPr>
            <a:r>
              <a:t>[BANKABILITY]  Technical &amp; Commercial De-risking</a:t>
            </a:r>
          </a:p>
          <a:p>
            <a:pPr>
              <a:defRPr sz="400"/>
            </a:pPr>
          </a:p>
          <a:p>
            <a:pPr>
              <a:spcAft>
                <a:spcPts val="400"/>
              </a:spcAft>
              <a:defRPr sz="1100">
                <a:solidFill>
                  <a:srgbClr val="A3B8B0"/>
                </a:solidFill>
              </a:defRPr>
            </a:pPr>
            <a:r>
              <a:t>•  Proven Tier-1 Hardware: Uses CATL / BYD LiFePO4 chemistry with 6,000+ cycle lifespan.</a:t>
            </a:r>
          </a:p>
          <a:p>
            <a:pPr>
              <a:spcAft>
                <a:spcPts val="400"/>
              </a:spcAft>
              <a:defRPr sz="1100">
                <a:solidFill>
                  <a:srgbClr val="A3B8B0"/>
                </a:solidFill>
              </a:defRPr>
            </a:pPr>
            <a:r>
              <a:t>•  Turnkey Containerised Deployment: Standard 20ft/40ft ISO container format installs on gravel pad in 48 hours.</a:t>
            </a:r>
          </a:p>
          <a:p>
            <a:pPr>
              <a:spcAft>
                <a:spcPts val="400"/>
              </a:spcAft>
              <a:defRPr sz="1100">
                <a:solidFill>
                  <a:srgbClr val="A3B8B0"/>
                </a:solidFill>
              </a:defRPr>
            </a:pPr>
            <a:r>
              <a:t>•  Zero Production Downtime Risk: In the extreme event of BESS depletion, backup grid/genset transfer switch acts within 10ms.</a:t>
            </a:r>
          </a:p>
          <a:p>
            <a:pPr>
              <a:spcAft>
                <a:spcPts val="400"/>
              </a:spcAft>
              <a:defRPr sz="1100">
                <a:solidFill>
                  <a:srgbClr val="A3B8B0"/>
                </a:solidFill>
              </a:defRPr>
            </a:pPr>
            <a:r>
              <a:t>•  Commercial Diesel Arbitrage: Payback accelerates further if diesel prices rise to RM 5.80 /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THE PROOF : 8. IMPLEMENTATION</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Phased Rollout Across Active Sime Darby Townships</a:t>
            </a:r>
          </a:p>
        </p:txBody>
      </p:sp>
      <p:sp>
        <p:nvSpPr>
          <p:cNvPr id="5" name="Rounded Rectangle 4"/>
          <p:cNvSpPr/>
          <p:nvPr/>
        </p:nvSpPr>
        <p:spPr>
          <a:xfrm>
            <a:off x="7315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26080" cy="4023359"/>
          </a:xfrm>
          <a:prstGeom prst="rect">
            <a:avLst/>
          </a:prstGeom>
          <a:noFill/>
        </p:spPr>
        <p:txBody>
          <a:bodyPr wrap="square">
            <a:spAutoFit/>
          </a:bodyPr>
          <a:lstStyle/>
          <a:p>
            <a:pPr>
              <a:defRPr b="1" sz="1400">
                <a:solidFill>
                  <a:srgbClr val="2E7D5B"/>
                </a:solidFill>
              </a:defRPr>
            </a:pPr>
            <a:r>
              <a:t>[PILOT SITE 1]  Phase 1: Pilot Validation</a:t>
            </a:r>
          </a:p>
          <a:p>
            <a:pPr>
              <a:defRPr sz="400"/>
            </a:pPr>
          </a:p>
          <a:p>
            <a:pPr>
              <a:spcAft>
                <a:spcPts val="400"/>
              </a:spcAft>
              <a:defRPr sz="1100">
                <a:solidFill>
                  <a:srgbClr val="A3B8B0"/>
                </a:solidFill>
              </a:defRPr>
            </a:pPr>
            <a:r>
              <a:t>•  Site: City of Elmina (Shah Alam)</a:t>
            </a:r>
          </a:p>
          <a:p>
            <a:pPr>
              <a:spcAft>
                <a:spcPts val="400"/>
              </a:spcAft>
              <a:defRPr sz="1100">
                <a:solidFill>
                  <a:srgbClr val="A3B8B0"/>
                </a:solidFill>
              </a:defRPr>
            </a:pPr>
            <a:r>
              <a:t>•  Focus: Kanopi Residences topping off &amp; Elmina Green phases.</a:t>
            </a:r>
          </a:p>
          <a:p>
            <a:pPr>
              <a:spcAft>
                <a:spcPts val="400"/>
              </a:spcAft>
              <a:defRPr sz="1100">
                <a:solidFill>
                  <a:srgbClr val="A3B8B0"/>
                </a:solidFill>
              </a:defRPr>
            </a:pPr>
            <a:r>
              <a:t>•  Timeline: Q1 - Q2 2027 (6 Months).</a:t>
            </a:r>
          </a:p>
          <a:p>
            <a:pPr>
              <a:spcAft>
                <a:spcPts val="400"/>
              </a:spcAft>
              <a:defRPr sz="1100">
                <a:solidFill>
                  <a:srgbClr val="A3B8B0"/>
                </a:solidFill>
              </a:defRPr>
            </a:pPr>
            <a:r>
              <a:t>•  Hardware: 261 kWh BESS + 150 kWp Solar PV.</a:t>
            </a:r>
          </a:p>
          <a:p>
            <a:pPr>
              <a:spcAft>
                <a:spcPts val="400"/>
              </a:spcAft>
              <a:defRPr sz="1100">
                <a:solidFill>
                  <a:srgbClr val="A3B8B0"/>
                </a:solidFill>
              </a:defRPr>
            </a:pPr>
            <a:r>
              <a:t>•  Objective: Validate SurgeGuard crane inrush dampening and calibrate local Doppler radar ML.</a:t>
            </a:r>
          </a:p>
        </p:txBody>
      </p:sp>
      <p:sp>
        <p:nvSpPr>
          <p:cNvPr id="7" name="Rounded Rectangle 6"/>
          <p:cNvSpPr/>
          <p:nvPr/>
        </p:nvSpPr>
        <p:spPr>
          <a:xfrm>
            <a:off x="43891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828800"/>
            <a:ext cx="2926080" cy="4023359"/>
          </a:xfrm>
          <a:prstGeom prst="rect">
            <a:avLst/>
          </a:prstGeom>
          <a:noFill/>
        </p:spPr>
        <p:txBody>
          <a:bodyPr wrap="square">
            <a:spAutoFit/>
          </a:bodyPr>
          <a:lstStyle/>
          <a:p>
            <a:pPr>
              <a:defRPr b="1" sz="1400">
                <a:solidFill>
                  <a:srgbClr val="F07A2A"/>
                </a:solidFill>
              </a:defRPr>
            </a:pPr>
            <a:r>
              <a:t>[EXPANSION SITE 2]  Phase 2: Residential Link Expansion</a:t>
            </a:r>
          </a:p>
          <a:p>
            <a:pPr>
              <a:defRPr sz="400"/>
            </a:pPr>
          </a:p>
          <a:p>
            <a:pPr>
              <a:spcAft>
                <a:spcPts val="400"/>
              </a:spcAft>
              <a:defRPr sz="1100">
                <a:solidFill>
                  <a:srgbClr val="A3B8B0"/>
                </a:solidFill>
              </a:defRPr>
            </a:pPr>
            <a:r>
              <a:t>•  Site: Serenia City (Sepang)</a:t>
            </a:r>
          </a:p>
          <a:p>
            <a:pPr>
              <a:spcAft>
                <a:spcPts val="400"/>
              </a:spcAft>
              <a:defRPr sz="1100">
                <a:solidFill>
                  <a:srgbClr val="A3B8B0"/>
                </a:solidFill>
              </a:defRPr>
            </a:pPr>
            <a:r>
              <a:t>•  Focus: Serenia Baleria link homes &amp; commercial precinct.</a:t>
            </a:r>
          </a:p>
          <a:p>
            <a:pPr>
              <a:spcAft>
                <a:spcPts val="400"/>
              </a:spcAft>
              <a:defRPr sz="1100">
                <a:solidFill>
                  <a:srgbClr val="A3B8B0"/>
                </a:solidFill>
              </a:defRPr>
            </a:pPr>
            <a:r>
              <a:t>•  Timeline: Q3 2027 - Q1 2028 (8 Months).</a:t>
            </a:r>
          </a:p>
          <a:p>
            <a:pPr>
              <a:spcAft>
                <a:spcPts val="400"/>
              </a:spcAft>
              <a:defRPr sz="1100">
                <a:solidFill>
                  <a:srgbClr val="A3B8B0"/>
                </a:solidFill>
              </a:defRPr>
            </a:pPr>
            <a:r>
              <a:t>•  Hardware: 522 kWh BESS + 300 kWp Solar PV.</a:t>
            </a:r>
          </a:p>
          <a:p>
            <a:pPr>
              <a:spcAft>
                <a:spcPts val="400"/>
              </a:spcAft>
              <a:defRPr sz="1100">
                <a:solidFill>
                  <a:srgbClr val="A3B8B0"/>
                </a:solidFill>
              </a:defRPr>
            </a:pPr>
            <a:r>
              <a:t>•  Objective: Scale to dual tower crane operation and validate EchoShield residential acoustic boundary isolation.</a:t>
            </a:r>
          </a:p>
        </p:txBody>
      </p:sp>
      <p:sp>
        <p:nvSpPr>
          <p:cNvPr id="9" name="Rounded Rectangle 8"/>
          <p:cNvSpPr/>
          <p:nvPr/>
        </p:nvSpPr>
        <p:spPr>
          <a:xfrm>
            <a:off x="8046720" y="1645920"/>
            <a:ext cx="33832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828800"/>
            <a:ext cx="2926080" cy="4023359"/>
          </a:xfrm>
          <a:prstGeom prst="rect">
            <a:avLst/>
          </a:prstGeom>
          <a:noFill/>
        </p:spPr>
        <p:txBody>
          <a:bodyPr wrap="square">
            <a:spAutoFit/>
          </a:bodyPr>
          <a:lstStyle/>
          <a:p>
            <a:pPr>
              <a:defRPr b="1" sz="1400">
                <a:solidFill>
                  <a:srgbClr val="FFFFFF"/>
                </a:solidFill>
              </a:defRPr>
            </a:pPr>
            <a:r>
              <a:t>[TOWNSHIP SCALE SITE 3]  Phase 3: Heavy Industrial Park</a:t>
            </a:r>
          </a:p>
          <a:p>
            <a:pPr>
              <a:defRPr sz="400"/>
            </a:pPr>
          </a:p>
          <a:p>
            <a:pPr>
              <a:spcAft>
                <a:spcPts val="400"/>
              </a:spcAft>
              <a:defRPr sz="1100">
                <a:solidFill>
                  <a:srgbClr val="A3B8B0"/>
                </a:solidFill>
              </a:defRPr>
            </a:pPr>
            <a:r>
              <a:t>•  Site: Bandar Bukit Raja (Klang)</a:t>
            </a:r>
          </a:p>
          <a:p>
            <a:pPr>
              <a:spcAft>
                <a:spcPts val="400"/>
              </a:spcAft>
              <a:defRPr sz="1100">
                <a:solidFill>
                  <a:srgbClr val="A3B8B0"/>
                </a:solidFill>
              </a:defRPr>
            </a:pPr>
            <a:r>
              <a:t>•  Focus: Bukit Raja Industrial Park &amp; The Straits.</a:t>
            </a:r>
          </a:p>
          <a:p>
            <a:pPr>
              <a:spcAft>
                <a:spcPts val="400"/>
              </a:spcAft>
              <a:defRPr sz="1100">
                <a:solidFill>
                  <a:srgbClr val="A3B8B0"/>
                </a:solidFill>
              </a:defRPr>
            </a:pPr>
            <a:r>
              <a:t>•  Timeline: Q2 2028 - Q4 2029 (18 Months).</a:t>
            </a:r>
          </a:p>
          <a:p>
            <a:pPr>
              <a:spcAft>
                <a:spcPts val="400"/>
              </a:spcAft>
              <a:defRPr sz="1100">
                <a:solidFill>
                  <a:srgbClr val="A3B8B0"/>
                </a:solidFill>
              </a:defRPr>
            </a:pPr>
            <a:r>
              <a:t>•  Hardware: Multi-container BESS fleet.</a:t>
            </a:r>
          </a:p>
          <a:p>
            <a:pPr>
              <a:spcAft>
                <a:spcPts val="400"/>
              </a:spcAft>
              <a:defRPr sz="1100">
                <a:solidFill>
                  <a:srgbClr val="A3B8B0"/>
                </a:solidFill>
              </a:defRPr>
            </a:pPr>
            <a:r>
              <a:t>•  Objective: Full integration into Sime Darby standard sustainable construction tender specifications.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CONCLUSION &amp; NEXT STEPS</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Bringing Zero-Genset Construction to Sime Darby Property</a:t>
            </a:r>
          </a:p>
        </p:txBody>
      </p:sp>
      <p:sp>
        <p:nvSpPr>
          <p:cNvPr id="5" name="Rounded Rectangle 4"/>
          <p:cNvSpPr/>
          <p:nvPr/>
        </p:nvSpPr>
        <p:spPr>
          <a:xfrm>
            <a:off x="731520" y="1645920"/>
            <a:ext cx="6858000" cy="4389120"/>
          </a:xfrm>
          <a:prstGeom prst="roundRect">
            <a:avLst/>
          </a:prstGeom>
          <a:solidFill>
            <a:srgbClr val="1C2A27"/>
          </a:solidFill>
          <a:ln>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defRPr>
            </a:pPr>
            <a:r>
              <a:t>Decarbonisation Is Not a Cost Center. It Is an Immediate OpEx Dividend.</a:t>
            </a:r>
          </a:p>
          <a:p>
            <a:pPr>
              <a:defRPr sz="600"/>
            </a:pPr>
          </a:p>
          <a:p>
            <a:pPr>
              <a:spcAft>
                <a:spcPts val="800"/>
              </a:spcAft>
              <a:defRPr sz="1300">
                <a:solidFill>
                  <a:srgbClr val="A3B8B0"/>
                </a:solidFill>
              </a:defRPr>
            </a:pPr>
            <a:r>
              <a:t>✓  Financial Certainty: Eliminates RM 125,128/month in diesel invoices and rental charges per parcel.</a:t>
            </a:r>
          </a:p>
          <a:p>
            <a:pPr>
              <a:spcAft>
                <a:spcPts val="800"/>
              </a:spcAft>
              <a:defRPr sz="1300">
                <a:solidFill>
                  <a:srgbClr val="A3B8B0"/>
                </a:solidFill>
              </a:defRPr>
            </a:pPr>
            <a:r>
              <a:t>✓  Statutory Peace of Mind: Guarantees DOE Schedule 6 boundary acoustic compliance (54.1 dBA).</a:t>
            </a:r>
          </a:p>
          <a:p>
            <a:pPr>
              <a:spcAft>
                <a:spcPts val="800"/>
              </a:spcAft>
              <a:defRPr sz="1300">
                <a:solidFill>
                  <a:srgbClr val="A3B8B0"/>
                </a:solidFill>
              </a:defRPr>
            </a:pPr>
            <a:r>
              <a:t>✓  10-Year Multi-Township Asset: Sequential redeployment unlocks RM 9.84 Million cumulative net value per BESS unit.</a:t>
            </a:r>
          </a:p>
          <a:p>
            <a:pPr>
              <a:spcAft>
                <a:spcPts val="800"/>
              </a:spcAft>
              <a:defRPr sz="1300">
                <a:solidFill>
                  <a:srgbClr val="A3B8B0"/>
                </a:solidFill>
              </a:defRPr>
            </a:pPr>
            <a:r>
              <a:t>✓  Fully Operational Prototype: Working web software, live API weather telemetry, and validated engineering models ready today.</a:t>
            </a:r>
          </a:p>
        </p:txBody>
      </p:sp>
      <p:sp>
        <p:nvSpPr>
          <p:cNvPr id="6" name="Rounded Rectangle 5"/>
          <p:cNvSpPr/>
          <p:nvPr/>
        </p:nvSpPr>
        <p:spPr>
          <a:xfrm>
            <a:off x="7863840" y="1645920"/>
            <a:ext cx="356616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92440" y="1828800"/>
            <a:ext cx="3108960" cy="4023359"/>
          </a:xfrm>
          <a:prstGeom prst="rect">
            <a:avLst/>
          </a:prstGeom>
          <a:noFill/>
        </p:spPr>
        <p:txBody>
          <a:bodyPr wrap="square">
            <a:spAutoFit/>
          </a:bodyPr>
          <a:lstStyle/>
          <a:p>
            <a:pPr>
              <a:defRPr b="1" sz="1400">
                <a:solidFill>
                  <a:srgbClr val="F07A2A"/>
                </a:solidFill>
              </a:defRPr>
            </a:pPr>
            <a:r>
              <a:t>[NEXT STEPS]  The Ask to Leadership</a:t>
            </a:r>
          </a:p>
          <a:p>
            <a:pPr>
              <a:defRPr sz="400"/>
            </a:pPr>
          </a:p>
          <a:p>
            <a:pPr>
              <a:spcAft>
                <a:spcPts val="400"/>
              </a:spcAft>
              <a:defRPr sz="1100">
                <a:solidFill>
                  <a:srgbClr val="A3B8B0"/>
                </a:solidFill>
              </a:defRPr>
            </a:pPr>
            <a:r>
              <a:t>•  1. Pilot Parcel Endorsement: Authorise a 6-month pilot deployment at City of Elmina.</a:t>
            </a:r>
          </a:p>
          <a:p>
            <a:pPr>
              <a:spcAft>
                <a:spcPts val="400"/>
              </a:spcAft>
              <a:defRPr sz="1100">
                <a:solidFill>
                  <a:srgbClr val="A3B8B0"/>
                </a:solidFill>
              </a:defRPr>
            </a:pPr>
            <a:r>
              <a:t>•  2. Contractor Gateway Access: Partner with Inta Bina site management for IoT gateway mounting.</a:t>
            </a:r>
          </a:p>
          <a:p>
            <a:pPr>
              <a:spcAft>
                <a:spcPts val="400"/>
              </a:spcAft>
              <a:defRPr sz="1100">
                <a:solidFill>
                  <a:srgbClr val="A3B8B0"/>
                </a:solidFill>
              </a:defRPr>
            </a:pPr>
            <a:r>
              <a:t>•  3. Tender Specification Mandate: Incorporate GreenPulse SiteOS as the designated clean temporary power benchmark in 2027 development tenders.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APPENDIX A : ELECTRICAL PHYSICS</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SurgeGuard Sub-4ms Inductive Motor Inrush Absorption</a:t>
            </a:r>
          </a:p>
        </p:txBody>
      </p:sp>
      <p:sp>
        <p:nvSpPr>
          <p:cNvPr id="5" name="Rounded Rectangle 4"/>
          <p:cNvSpPr/>
          <p:nvPr/>
        </p:nvSpPr>
        <p:spPr>
          <a:xfrm>
            <a:off x="731520" y="1645920"/>
            <a:ext cx="52120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4023359"/>
          </a:xfrm>
          <a:prstGeom prst="rect">
            <a:avLst/>
          </a:prstGeom>
          <a:noFill/>
        </p:spPr>
        <p:txBody>
          <a:bodyPr wrap="square">
            <a:spAutoFit/>
          </a:bodyPr>
          <a:lstStyle/>
          <a:p>
            <a:pPr>
              <a:defRPr b="1" sz="1400">
                <a:solidFill>
                  <a:srgbClr val="D71920"/>
                </a:solidFill>
              </a:defRPr>
            </a:pPr>
            <a:r>
              <a:t>[PHYSICS CHALLENGE]  The Inductive Inrush Problem</a:t>
            </a:r>
          </a:p>
          <a:p>
            <a:pPr>
              <a:defRPr sz="400"/>
            </a:pPr>
          </a:p>
          <a:p>
            <a:pPr>
              <a:spcAft>
                <a:spcPts val="400"/>
              </a:spcAft>
              <a:defRPr sz="1100">
                <a:solidFill>
                  <a:srgbClr val="A3B8B0"/>
                </a:solidFill>
              </a:defRPr>
            </a:pPr>
            <a:r>
              <a:t>•  Electric motors draw high magnetising current during rotor acceleration (L/R time constant).</a:t>
            </a:r>
          </a:p>
          <a:p>
            <a:pPr>
              <a:spcAft>
                <a:spcPts val="400"/>
              </a:spcAft>
              <a:defRPr sz="1100">
                <a:solidFill>
                  <a:srgbClr val="A3B8B0"/>
                </a:solidFill>
              </a:defRPr>
            </a:pPr>
            <a:r>
              <a:t>•  A 45 kW tower crane hoisting 2.5 tonnes draws 94 kW instantaneous surge for 1.8 seconds.</a:t>
            </a:r>
          </a:p>
          <a:p>
            <a:pPr>
              <a:spcAft>
                <a:spcPts val="400"/>
              </a:spcAft>
              <a:defRPr sz="1100">
                <a:solidFill>
                  <a:srgbClr val="A3B8B0"/>
                </a:solidFill>
              </a:defRPr>
            </a:pPr>
            <a:r>
              <a:t>•  Traditional generators suffer severe voltage dips (down to 320V), triggering undervoltage trip relays.</a:t>
            </a:r>
          </a:p>
          <a:p>
            <a:pPr>
              <a:spcAft>
                <a:spcPts val="400"/>
              </a:spcAft>
              <a:defRPr sz="1100">
                <a:solidFill>
                  <a:srgbClr val="A3B8B0"/>
                </a:solidFill>
              </a:defRPr>
            </a:pPr>
            <a:r>
              <a:t>•  Contractors over-specify 500 kVA generators solely to buffer this 2-second kick.</a:t>
            </a:r>
          </a:p>
        </p:txBody>
      </p:sp>
      <p:sp>
        <p:nvSpPr>
          <p:cNvPr id="7" name="Rounded Rectangle 6"/>
          <p:cNvSpPr/>
          <p:nvPr/>
        </p:nvSpPr>
        <p:spPr>
          <a:xfrm>
            <a:off x="6217920" y="1645920"/>
            <a:ext cx="52120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4023359"/>
          </a:xfrm>
          <a:prstGeom prst="rect">
            <a:avLst/>
          </a:prstGeom>
          <a:noFill/>
        </p:spPr>
        <p:txBody>
          <a:bodyPr wrap="square">
            <a:spAutoFit/>
          </a:bodyPr>
          <a:lstStyle/>
          <a:p>
            <a:pPr>
              <a:defRPr b="1" sz="1400">
                <a:solidFill>
                  <a:srgbClr val="2E7D5B"/>
                </a:solidFill>
              </a:defRPr>
            </a:pPr>
            <a:r>
              <a:t>[SURGEGUARD SOLUTION]  SurgeGuard Active Mitigation</a:t>
            </a:r>
          </a:p>
          <a:p>
            <a:pPr>
              <a:defRPr sz="400"/>
            </a:pPr>
          </a:p>
          <a:p>
            <a:pPr>
              <a:spcAft>
                <a:spcPts val="400"/>
              </a:spcAft>
              <a:defRPr sz="1100">
                <a:solidFill>
                  <a:srgbClr val="A3B8B0"/>
                </a:solidFill>
              </a:defRPr>
            </a:pPr>
            <a:r>
              <a:t>•  Inverter response time: 3.8 ms using insulated-gate bipolar transistors (IGBTs).</a:t>
            </a:r>
          </a:p>
          <a:p>
            <a:pPr>
              <a:spcAft>
                <a:spcPts val="400"/>
              </a:spcAft>
              <a:defRPr sz="1100">
                <a:solidFill>
                  <a:srgbClr val="A3B8B0"/>
                </a:solidFill>
              </a:defRPr>
            </a:pPr>
            <a:r>
              <a:t>•  MegaBatt 522 kWh hybrid inverter provides 200 kW peak surge capacity for 10 seconds.</a:t>
            </a:r>
          </a:p>
          <a:p>
            <a:pPr>
              <a:spcAft>
                <a:spcPts val="400"/>
              </a:spcAft>
              <a:defRPr sz="1100">
                <a:solidFill>
                  <a:srgbClr val="A3B8B0"/>
                </a:solidFill>
              </a:defRPr>
            </a:pPr>
            <a:r>
              <a:t>•  High-frequency DC-bus capacitance buffers the initial 50 ms transient kick instantly.</a:t>
            </a:r>
          </a:p>
          <a:p>
            <a:pPr>
              <a:spcAft>
                <a:spcPts val="400"/>
              </a:spcAft>
              <a:defRPr sz="1100">
                <a:solidFill>
                  <a:srgbClr val="A3B8B0"/>
                </a:solidFill>
              </a:defRPr>
            </a:pPr>
            <a:r>
              <a:t>•  Result: Main bus voltage remains stable within +/- 1.5% tolerance (400V +/- 6V).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APPENDIX B : FINANCIAL SENSITIVITY</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Unsubsidised Euro 5 Diesel Price Escalation Sensitivity</a:t>
            </a:r>
          </a:p>
        </p:txBody>
      </p:sp>
      <p:sp>
        <p:nvSpPr>
          <p:cNvPr id="5" name="Rounded Rectangle 4"/>
          <p:cNvSpPr/>
          <p:nvPr/>
        </p:nvSpPr>
        <p:spPr>
          <a:xfrm>
            <a:off x="731520" y="1645920"/>
            <a:ext cx="52120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4023359"/>
          </a:xfrm>
          <a:prstGeom prst="rect">
            <a:avLst/>
          </a:prstGeom>
          <a:noFill/>
        </p:spPr>
        <p:txBody>
          <a:bodyPr wrap="square">
            <a:spAutoFit/>
          </a:bodyPr>
          <a:lstStyle/>
          <a:p>
            <a:pPr>
              <a:defRPr b="1" sz="1400">
                <a:solidFill>
                  <a:srgbClr val="F07A2A"/>
                </a:solidFill>
              </a:defRPr>
            </a:pPr>
            <a:r>
              <a:t>[MACRO SENSITIVITY]  Malaysian Diesel Deregulation Scenarios</a:t>
            </a:r>
          </a:p>
          <a:p>
            <a:pPr>
              <a:defRPr sz="400"/>
            </a:pPr>
          </a:p>
          <a:p>
            <a:pPr>
              <a:spcAft>
                <a:spcPts val="400"/>
              </a:spcAft>
              <a:defRPr sz="1100">
                <a:solidFill>
                  <a:srgbClr val="A3B8B0"/>
                </a:solidFill>
              </a:defRPr>
            </a:pPr>
            <a:r>
              <a:t>•  Baseline Scenario (RM 5.17 / L): Monthly fuel OpEx saved = RM 95,128. Total monthly savings = RM 125,128.</a:t>
            </a:r>
          </a:p>
          <a:p>
            <a:pPr>
              <a:spcAft>
                <a:spcPts val="400"/>
              </a:spcAft>
              <a:defRPr sz="1100">
                <a:solidFill>
                  <a:srgbClr val="A3B8B0"/>
                </a:solidFill>
              </a:defRPr>
            </a:pPr>
            <a:r>
              <a:t>•  Escalated Scenario (RM 5.80 / L): Monthly fuel OpEx saved = RM 106,720. Total monthly savings = RM 136,720.</a:t>
            </a:r>
          </a:p>
          <a:p>
            <a:pPr>
              <a:spcAft>
                <a:spcPts val="400"/>
              </a:spcAft>
              <a:defRPr sz="1100">
                <a:solidFill>
                  <a:srgbClr val="A3B8B0"/>
                </a:solidFill>
              </a:defRPr>
            </a:pPr>
            <a:r>
              <a:t>•  Global Crude Spike (RM 6.50 / L): Monthly fuel OpEx saved = RM 119,600. Total monthly savings = RM 149,600.</a:t>
            </a:r>
          </a:p>
          <a:p>
            <a:pPr>
              <a:spcAft>
                <a:spcPts val="400"/>
              </a:spcAft>
              <a:defRPr sz="1100">
                <a:solidFill>
                  <a:srgbClr val="A3B8B0"/>
                </a:solidFill>
              </a:defRPr>
            </a:pPr>
            <a:r>
              <a:t>•  Economic Takeaway: Higher fossil fuel volatility increases the ROI and financial buffer of GreenPulse.</a:t>
            </a:r>
          </a:p>
        </p:txBody>
      </p:sp>
      <p:sp>
        <p:nvSpPr>
          <p:cNvPr id="7" name="Rounded Rectangle 6"/>
          <p:cNvSpPr/>
          <p:nvPr/>
        </p:nvSpPr>
        <p:spPr>
          <a:xfrm>
            <a:off x="6217920" y="1645920"/>
            <a:ext cx="52120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4023359"/>
          </a:xfrm>
          <a:prstGeom prst="rect">
            <a:avLst/>
          </a:prstGeom>
          <a:noFill/>
        </p:spPr>
        <p:txBody>
          <a:bodyPr wrap="square">
            <a:spAutoFit/>
          </a:bodyPr>
          <a:lstStyle/>
          <a:p>
            <a:pPr>
              <a:defRPr b="1" sz="1400">
                <a:solidFill>
                  <a:srgbClr val="2E7D5B"/>
                </a:solidFill>
              </a:defRPr>
            </a:pPr>
            <a:r>
              <a:t>[PAYBACK ACCELERATION]  Capital Payback Compression</a:t>
            </a:r>
          </a:p>
          <a:p>
            <a:pPr>
              <a:defRPr sz="400"/>
            </a:pPr>
          </a:p>
          <a:p>
            <a:pPr>
              <a:spcAft>
                <a:spcPts val="400"/>
              </a:spcAft>
              <a:defRPr sz="1100">
                <a:solidFill>
                  <a:srgbClr val="A3B8B0"/>
                </a:solidFill>
              </a:defRPr>
            </a:pPr>
            <a:r>
              <a:t>•  At RM 5.17 / L: Payback = 14.2 months.</a:t>
            </a:r>
          </a:p>
          <a:p>
            <a:pPr>
              <a:spcAft>
                <a:spcPts val="400"/>
              </a:spcAft>
              <a:defRPr sz="1100">
                <a:solidFill>
                  <a:srgbClr val="A3B8B0"/>
                </a:solidFill>
              </a:defRPr>
            </a:pPr>
            <a:r>
              <a:t>•  At RM 5.80 / L: Payback compresses to 12.8 months.</a:t>
            </a:r>
          </a:p>
          <a:p>
            <a:pPr>
              <a:spcAft>
                <a:spcPts val="400"/>
              </a:spcAft>
              <a:defRPr sz="1100">
                <a:solidFill>
                  <a:srgbClr val="A3B8B0"/>
                </a:solidFill>
              </a:defRPr>
            </a:pPr>
            <a:r>
              <a:t>•  At RM 6.50 / L: Payback compresses to 11.4 months.</a:t>
            </a:r>
          </a:p>
          <a:p>
            <a:pPr>
              <a:spcAft>
                <a:spcPts val="400"/>
              </a:spcAft>
              <a:defRPr sz="1100">
                <a:solidFill>
                  <a:srgbClr val="A3B8B0"/>
                </a:solidFill>
              </a:defRPr>
            </a:pPr>
            <a:r>
              <a:t>•  Long-term value: Asset provides free, amortised clean energy for the remaining 8.5+ years of operational life.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000" b="1">
                <a:solidFill>
                  <a:srgbClr val="F07A2A"/>
                </a:solidFill>
              </a:defRPr>
            </a:pPr>
            <a:r>
              <a:t>SIME DARBY PROPERTY UNIVERSITY HACKATHON 2026  |  APPENDIX C : STATUTORY FRAMEWORK</a:t>
            </a:r>
          </a:p>
        </p:txBody>
      </p:sp>
      <p:sp>
        <p:nvSpPr>
          <p:cNvPr id="4" name="TextBox 3"/>
          <p:cNvSpPr txBox="1"/>
          <p:nvPr/>
        </p:nvSpPr>
        <p:spPr>
          <a:xfrm>
            <a:off x="731520" y="685800"/>
            <a:ext cx="10515600" cy="731520"/>
          </a:xfrm>
          <a:prstGeom prst="rect">
            <a:avLst/>
          </a:prstGeom>
          <a:noFill/>
        </p:spPr>
        <p:txBody>
          <a:bodyPr wrap="square">
            <a:spAutoFit/>
          </a:bodyPr>
          <a:lstStyle/>
          <a:p>
            <a:pPr>
              <a:defRPr sz="2600" b="1">
                <a:solidFill>
                  <a:srgbClr val="FFFFFF"/>
                </a:solidFill>
              </a:defRPr>
            </a:pPr>
            <a:r>
              <a:t>DOE Schedule 6 &amp; Environmental Quality Act 1974 Alignment</a:t>
            </a:r>
          </a:p>
        </p:txBody>
      </p:sp>
      <p:sp>
        <p:nvSpPr>
          <p:cNvPr id="5" name="Rounded Rectangle 4"/>
          <p:cNvSpPr/>
          <p:nvPr/>
        </p:nvSpPr>
        <p:spPr>
          <a:xfrm>
            <a:off x="731520" y="1645920"/>
            <a:ext cx="52120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754880" cy="4023359"/>
          </a:xfrm>
          <a:prstGeom prst="rect">
            <a:avLst/>
          </a:prstGeom>
          <a:noFill/>
        </p:spPr>
        <p:txBody>
          <a:bodyPr wrap="square">
            <a:spAutoFit/>
          </a:bodyPr>
          <a:lstStyle/>
          <a:p>
            <a:pPr>
              <a:defRPr b="1" sz="1400">
                <a:solidFill>
                  <a:srgbClr val="D71920"/>
                </a:solidFill>
              </a:defRPr>
            </a:pPr>
            <a:r>
              <a:t>[DOE REGULATIONS]  Statutory Legal Limits</a:t>
            </a:r>
          </a:p>
          <a:p>
            <a:pPr>
              <a:defRPr sz="400"/>
            </a:pPr>
          </a:p>
          <a:p>
            <a:pPr>
              <a:spcAft>
                <a:spcPts val="400"/>
              </a:spcAft>
              <a:defRPr sz="1100">
                <a:solidFill>
                  <a:srgbClr val="A3B8B0"/>
                </a:solidFill>
              </a:defRPr>
            </a:pPr>
            <a:r>
              <a:t>•  DOE Planning Guidelines for Environmental Noise Limits and Control (Schedule 6):</a:t>
            </a:r>
          </a:p>
          <a:p>
            <a:pPr>
              <a:spcAft>
                <a:spcPts val="400"/>
              </a:spcAft>
              <a:defRPr sz="1100">
                <a:solidFill>
                  <a:srgbClr val="A3B8B0"/>
                </a:solidFill>
              </a:defRPr>
            </a:pPr>
            <a:r>
              <a:t>•  • Daytime (07:00 - 19:00): 60.0 dBA L90 limit at residential boundary.</a:t>
            </a:r>
          </a:p>
          <a:p>
            <a:pPr>
              <a:spcAft>
                <a:spcPts val="400"/>
              </a:spcAft>
              <a:defRPr sz="1100">
                <a:solidFill>
                  <a:srgbClr val="A3B8B0"/>
                </a:solidFill>
              </a:defRPr>
            </a:pPr>
            <a:r>
              <a:t>•  • Evening (19:00 - 22:00): 55.0 dBA L90 limit at residential boundary.</a:t>
            </a:r>
          </a:p>
          <a:p>
            <a:pPr>
              <a:spcAft>
                <a:spcPts val="400"/>
              </a:spcAft>
              <a:defRPr sz="1100">
                <a:solidFill>
                  <a:srgbClr val="A3B8B0"/>
                </a:solidFill>
              </a:defRPr>
            </a:pPr>
            <a:r>
              <a:t>•  • Night (22:00 - 07:00): 45.0 dBA L90 limit (Strict curfew; home limits apply).</a:t>
            </a:r>
          </a:p>
          <a:p>
            <a:pPr>
              <a:spcAft>
                <a:spcPts val="400"/>
              </a:spcAft>
              <a:defRPr sz="1100">
                <a:solidFill>
                  <a:srgbClr val="A3B8B0"/>
                </a:solidFill>
              </a:defRPr>
            </a:pPr>
            <a:r>
              <a:t>•  Penalties: RM 100,000 fine and mandatory Stop-Work order under Environmental Quality Act.</a:t>
            </a:r>
          </a:p>
        </p:txBody>
      </p:sp>
      <p:sp>
        <p:nvSpPr>
          <p:cNvPr id="7" name="Rounded Rectangle 6"/>
          <p:cNvSpPr/>
          <p:nvPr/>
        </p:nvSpPr>
        <p:spPr>
          <a:xfrm>
            <a:off x="6217920" y="1645920"/>
            <a:ext cx="5212080" cy="4389120"/>
          </a:xfrm>
          <a:prstGeom prst="roundRect">
            <a:avLst/>
          </a:prstGeom>
          <a:solidFill>
            <a:srgbClr val="1C2A27"/>
          </a:solidFill>
          <a:ln w="12700">
            <a:solidFill>
              <a:srgbClr val="334D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828800"/>
            <a:ext cx="4754880" cy="4023359"/>
          </a:xfrm>
          <a:prstGeom prst="rect">
            <a:avLst/>
          </a:prstGeom>
          <a:noFill/>
        </p:spPr>
        <p:txBody>
          <a:bodyPr wrap="square">
            <a:spAutoFit/>
          </a:bodyPr>
          <a:lstStyle/>
          <a:p>
            <a:pPr>
              <a:defRPr b="1" sz="1400">
                <a:solidFill>
                  <a:srgbClr val="2E7D5B"/>
                </a:solidFill>
              </a:defRPr>
            </a:pPr>
            <a:r>
              <a:t>[FULL COMPLIANCE]  GreenPulse Audit Trail</a:t>
            </a:r>
          </a:p>
          <a:p>
            <a:pPr>
              <a:defRPr sz="400"/>
            </a:pPr>
          </a:p>
          <a:p>
            <a:pPr>
              <a:spcAft>
                <a:spcPts val="400"/>
              </a:spcAft>
              <a:defRPr sz="1100">
                <a:solidFill>
                  <a:srgbClr val="A3B8B0"/>
                </a:solidFill>
              </a:defRPr>
            </a:pPr>
            <a:r>
              <a:t>•  Measured Site Boundary Noise: 54.1 dBA (Complies with daytime 60 dBA and evening 55 dBA limits).</a:t>
            </a:r>
          </a:p>
          <a:p>
            <a:pPr>
              <a:spcAft>
                <a:spcPts val="400"/>
              </a:spcAft>
              <a:defRPr sz="1100">
                <a:solidFill>
                  <a:srgbClr val="A3B8B0"/>
                </a:solidFill>
              </a:defRPr>
            </a:pPr>
            <a:r>
              <a:t>•  Night Operation: Zero noise emission enables silent CLQ worker quarter air conditioning.</a:t>
            </a:r>
          </a:p>
          <a:p>
            <a:pPr>
              <a:spcAft>
                <a:spcPts val="400"/>
              </a:spcAft>
              <a:defRPr sz="1100">
                <a:solidFill>
                  <a:srgbClr val="A3B8B0"/>
                </a:solidFill>
              </a:defRPr>
            </a:pPr>
            <a:r>
              <a:t>•  Clean Air Regulations 2014: 0% Ringelmann smoke opacity; zero carbon monoxide / unburnt diesel exhaust.</a:t>
            </a:r>
          </a:p>
          <a:p>
            <a:pPr>
              <a:spcAft>
                <a:spcPts val="400"/>
              </a:spcAft>
              <a:defRPr sz="1100">
                <a:solidFill>
                  <a:srgbClr val="A3B8B0"/>
                </a:solidFill>
              </a:defRPr>
            </a:pPr>
            <a:r>
              <a:t>•  Audited Reporting: Pre-formatted digital PDF export directly compatible with monthly DOE Environmental Management Plans (EMP).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