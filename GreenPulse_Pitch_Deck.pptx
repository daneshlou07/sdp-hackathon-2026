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Sime Darby Property leads Malaysia toward 40% carbon reduction by 2030 and Net Zero by 2050. However, every major township parcel breaking ground carries a multi-million Ringgit operational blind spot: temporary construction power. GreenPulse SiteOS eliminates this financial drain, cuts direct carbon by 77.6%, and transforms temporary energy waste into a reusable township asset.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Active construction parcels face a four-part problem. First, civil works take up to 18 months before TNB substations can be commissioned. Second, because commercial construction is excluded from BUDI Madani subsidies, sites pay RM 5.17 per litre for diesel, draining RM 100,000 to RM 125,000 every month in fuel and rental fees. Third, continuous 82 dBA generator noise violates DOE Schedule 6 limits and causes residential complaints that risk stop-work orders. And fourth, our direct interviews with Inta Bina confirmed that environmental compliance tracking is 100% manual, with officers losing hours chasing missing Excel sheets.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temporary power problem directly affects four distinct groups. On the ground, the Site M&amp;E Manager battles breaker trips caused by 94 kW tower crane motor surges and endless diesel delivery logistics. Next, the Site Environmental Officer: our field research with Inta Bina revealed that officers are buried in manual paper and Excel reporting, losing hours chasing missing site photos while constantly fearing 82 dBA generator noise penalties. At headquarters, Sime Darby Property leadership loses over RM 100,000 every month per parcel in preliminary expenses while struggling to compile verified Scope 1 carbon data for Bursa Malaysia. Finally, neighbouring township residents endure continuous engine roar and diesel fumes right outside their windows, leading to formal complaints that threaten the developer's reputation.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solution is GreenPulse SiteOS: the zero-genset site energy operating system. We combine a 522 kWh containerised Lithium Iron Phosphate battery with a 40 kWp solar array on site cabins and a smart edge gateway. But hardware alone is not enough; without intelligent coordination, heavy machinery trips the system. SiteOS acts as the operational brain: it absorbs massive 94 kW tower crane motor surges in under 4 milliseconds, balances solar charging, and keeps diesel generators turned off. Furthermore, SiteOS provides tailored software tools for each role: an operational telemetry console for the M&amp;E manager, automated 1-click DOE compliance reporting for the environmental officer to replace manual Excel, and a multi-site portfolio dashboard for Sime Darby Property HQ.</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makes GreenPulse genuinely innovative rather than just another solar dashboard? Three proprietary engineering breakthroughs. First, SurgeGuard: ordinary battery setups cannot handle the violent 94 kW motor startup kick from a tower crane without tripping breakers. Our high-speed inverter controls respond in under 3.8 milliseconds, buffering the surge and keeping line voltage rock-solid. Second, SolarCast ML: tropical Malaysian downpours can wipe out 80% of solar generation in minutes. By integrating MET Malaysia radar data, our system predicts storms 4 hours ahead and pre-charges the battery so construction continues uninterrupted without burning diesel. Third, EchoShield Acoustic AI: our edge sound algorithm isolates passing road traffic from genuine site machinery, proving compliance with DOE Schedule 6 at 54.1 dBA and generating 1-click statutory compliance reports that liberate environmental officers from manual Excel spreadsheets.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GreenPulse works under the hood. Industrial IoT sensors capture voltage, current, battery state of charge, and boundary sound levels every 100 milliseconds. This data streams via encrypted 4G to our cloud engine, where Model Predictive Control solves the optimal power dispatch equation every 5 seconds. Commands execute instantly at the site inverter to buffer crane surges and maximise solar self-consumption. Simultaneously, our live web application serves role-specific tools: live machinery telemetry for the M&amp;E engineer, 1-click DOE compliance exports for the environmental officer, and macro-level township oversight for HQ executives.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impact of GreenPulse SiteOS is immediate, quantifiable, and transformative. Financially, we eliminate RM 95,000 in monthly diesel invoices and RM 30,000 in generator rental fees, delivering over RM 125,000 in net monthly cash savings per active parcel. Environmentally, we cut 49.3 tonnes of Scope 1 CO2 every single month, representing an audited 77.6% carbon reduction that feeds directly into Bursa Malaysia ESG disclosures. Acoustically, site noise drops by 27.9 decibels, allowing quiet, compliant coexistence with surrounding residential neighbourhoods.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GreenPulse commercially and technically feasible? Absolutely. At RM 1.77 Million Capex for a complete 522 kWh system, annual operating savings of RM 1.5 Million deliver a rapid 14.2-month capital payback. The system pays for itself before the 18-month civil construction phase even ends. Technically, we specify tier-1 CATL Lithium Iron Phosphate cells rated for 6,000 cycles with NFPA 855 fire suppression, built into a standard 20-foot container that moves effortlessly on standard low-loader trailers between townships.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implementation roadmap is clear and phased. Phase 1 launches a 4-week pilot at City of Elmina to validate motor inrush and acoustic baseline. Phase 2 expands to Serenia City with automated DOE compliance. Phase 3 scales across Bandar Bukit Raja's industrial developments. Crucially, this is a reusable 10-year asset: each container moves from parcel to parcel across successive projects, generating nearly RM 10 Million in cumulative lifetime value for Sime Darby Property.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GreenPulse proves that construction decarbonisation is not an expensive luxury; it is a cash-generating operational advantage. Our prototype, telemetry models, and business cases are fully functional today. We invite Sime Darby Property leadership to partner with us on the City of Elmina pilot.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57200"/>
            <a:ext cx="10698480" cy="365760"/>
          </a:xfrm>
          <a:prstGeom prst="rect">
            <a:avLst/>
          </a:prstGeom>
          <a:noFill/>
        </p:spPr>
        <p:txBody>
          <a:bodyPr wrap="square" lIns="0" rIns="0" tIns="0" bIns="0">
            <a:spAutoFit/>
          </a:bodyPr>
          <a:lstStyle/>
          <a:p>
            <a:pPr>
              <a:defRPr sz="1100" b="1">
                <a:solidFill>
                  <a:srgbClr val="BE1826"/>
                </a:solidFill>
              </a:defRPr>
            </a:pPr>
            <a:r>
              <a:t>SIME DARBY PROPERTY UNIVERSITY HACKATHON 2026 | TRACK: PLANET</a:t>
            </a:r>
          </a:p>
        </p:txBody>
      </p:sp>
      <p:sp>
        <p:nvSpPr>
          <p:cNvPr id="3" name="TextBox 2"/>
          <p:cNvSpPr txBox="1"/>
          <p:nvPr/>
        </p:nvSpPr>
        <p:spPr>
          <a:xfrm>
            <a:off x="731520" y="777240"/>
            <a:ext cx="10698480" cy="640080"/>
          </a:xfrm>
          <a:prstGeom prst="rect">
            <a:avLst/>
          </a:prstGeom>
          <a:noFill/>
        </p:spPr>
        <p:txBody>
          <a:bodyPr wrap="square" lIns="0" rIns="0" tIns="0" bIns="0">
            <a:spAutoFit/>
          </a:bodyPr>
          <a:lstStyle/>
          <a:p>
            <a:pPr>
              <a:defRPr sz="2800" b="1">
                <a:solidFill>
                  <a:srgbClr val="0F172A"/>
                </a:solidFill>
              </a:defRPr>
            </a:pPr>
            <a:r>
              <a:t>GreenPulse SiteOS: Zero-Genset Site Energy Operating System</a:t>
            </a:r>
          </a:p>
        </p:txBody>
      </p:sp>
      <p:sp>
        <p:nvSpPr>
          <p:cNvPr id="4" name="TextBox 3"/>
          <p:cNvSpPr txBox="1"/>
          <p:nvPr/>
        </p:nvSpPr>
        <p:spPr>
          <a:xfrm>
            <a:off x="731520" y="1645920"/>
            <a:ext cx="10698480" cy="4754880"/>
          </a:xfrm>
          <a:prstGeom prst="rect">
            <a:avLst/>
          </a:prstGeom>
          <a:noFill/>
        </p:spPr>
        <p:txBody>
          <a:bodyPr wrap="square" lIns="0" rIns="0" tIns="0" bIns="0">
            <a:spAutoFit/>
          </a:bodyPr>
          <a:lstStyle/>
          <a:p>
            <a:pPr>
              <a:spcAft>
                <a:spcPts val="800"/>
              </a:spcAft>
              <a:defRPr sz="1600" b="1">
                <a:solidFill>
                  <a:srgbClr val="0F172A"/>
                </a:solidFill>
              </a:defRPr>
            </a:pPr>
            <a:r>
              <a:t>Executive Summary</a:t>
            </a:r>
          </a:p>
          <a:p>
            <a:pPr>
              <a:spcAft>
                <a:spcPts val="800"/>
              </a:spcAft>
              <a:defRPr sz="1300">
                <a:solidFill>
                  <a:srgbClr val="0F172A"/>
                </a:solidFill>
              </a:defRPr>
            </a:pPr>
            <a:r>
              <a:t>• Target: Eliminating temporary construction diesel generator rentals across Sime Darby Property greenfield townships.</a:t>
            </a:r>
          </a:p>
          <a:p>
            <a:pPr>
              <a:spcAft>
                <a:spcPts val="800"/>
              </a:spcAft>
              <a:defRPr sz="1300">
                <a:solidFill>
                  <a:srgbClr val="0F172A"/>
                </a:solidFill>
              </a:defRPr>
            </a:pPr>
            <a:r>
              <a:t>• Technology: Containerised Battery Energy Storage Systems (BESS) + on-site solar PV + intelligent real-time microgrid orchestration software.</a:t>
            </a:r>
          </a:p>
          <a:p>
            <a:pPr>
              <a:spcAft>
                <a:spcPts val="800"/>
              </a:spcAft>
              <a:defRPr sz="1300">
                <a:solidFill>
                  <a:srgbClr val="0F172A"/>
                </a:solidFill>
              </a:defRPr>
            </a:pPr>
            <a:r>
              <a:t>• Key Metric 1: RM 125,128 per month net cash saved per active high-rise construction parcel.</a:t>
            </a:r>
          </a:p>
          <a:p>
            <a:pPr>
              <a:spcAft>
                <a:spcPts val="800"/>
              </a:spcAft>
              <a:defRPr sz="1300">
                <a:solidFill>
                  <a:srgbClr val="0F172A"/>
                </a:solidFill>
              </a:defRPr>
            </a:pPr>
            <a:r>
              <a:t>• Key Metric 2: 77.6% Scope 1 direct carbon emission reduction (49.3 tonnes CO2e eliminated monthly).</a:t>
            </a:r>
          </a:p>
          <a:p>
            <a:pPr>
              <a:spcAft>
                <a:spcPts val="800"/>
              </a:spcAft>
              <a:defRPr sz="1300">
                <a:solidFill>
                  <a:srgbClr val="0F172A"/>
                </a:solidFill>
              </a:defRPr>
            </a:pPr>
            <a:r>
              <a:t>• Key Metric 3: 14.2-month capital payback period, paying for itself before the 18-month civil phase finishes.</a:t>
            </a:r>
          </a:p>
          <a:p>
            <a:pPr>
              <a:spcAft>
                <a:spcPts val="800"/>
              </a:spcAft>
              <a:defRPr sz="1300">
                <a:solidFill>
                  <a:srgbClr val="0F172A"/>
                </a:solidFill>
              </a:defRPr>
            </a:pPr>
            <a:r>
              <a:t>• Target Townships: Engineered for deployment across City of Elmina, Serenia City, and Bandar Bukit Raja.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57200"/>
            <a:ext cx="10698480" cy="365760"/>
          </a:xfrm>
          <a:prstGeom prst="rect">
            <a:avLst/>
          </a:prstGeom>
          <a:noFill/>
        </p:spPr>
        <p:txBody>
          <a:bodyPr wrap="square" lIns="0" rIns="0" tIns="0" bIns="0">
            <a:spAutoFit/>
          </a:bodyPr>
          <a:lstStyle/>
          <a:p>
            <a:pPr>
              <a:defRPr sz="1100" b="1">
                <a:solidFill>
                  <a:srgbClr val="BE1826"/>
                </a:solidFill>
              </a:defRPr>
            </a:pPr>
            <a:r>
              <a:t>THE STORY : AREA 1</a:t>
            </a:r>
          </a:p>
        </p:txBody>
      </p:sp>
      <p:sp>
        <p:nvSpPr>
          <p:cNvPr id="3" name="TextBox 2"/>
          <p:cNvSpPr txBox="1"/>
          <p:nvPr/>
        </p:nvSpPr>
        <p:spPr>
          <a:xfrm>
            <a:off x="731520" y="777240"/>
            <a:ext cx="10698480" cy="640080"/>
          </a:xfrm>
          <a:prstGeom prst="rect">
            <a:avLst/>
          </a:prstGeom>
          <a:noFill/>
        </p:spPr>
        <p:txBody>
          <a:bodyPr wrap="square" lIns="0" rIns="0" tIns="0" bIns="0">
            <a:spAutoFit/>
          </a:bodyPr>
          <a:lstStyle/>
          <a:p>
            <a:pPr>
              <a:defRPr sz="2800" b="1">
                <a:solidFill>
                  <a:srgbClr val="0F172A"/>
                </a:solidFill>
              </a:defRPr>
            </a:pPr>
            <a:r>
              <a:t>1. Problem</a:t>
            </a:r>
          </a:p>
        </p:txBody>
      </p:sp>
      <p:sp>
        <p:nvSpPr>
          <p:cNvPr id="4" name="TextBox 3"/>
          <p:cNvSpPr txBox="1"/>
          <p:nvPr/>
        </p:nvSpPr>
        <p:spPr>
          <a:xfrm>
            <a:off x="731520" y="1645920"/>
            <a:ext cx="5166359" cy="4754880"/>
          </a:xfrm>
          <a:prstGeom prst="rect">
            <a:avLst/>
          </a:prstGeom>
          <a:noFill/>
        </p:spPr>
        <p:txBody>
          <a:bodyPr wrap="square" lIns="0" rIns="0" tIns="0" bIns="0">
            <a:spAutoFit/>
          </a:bodyPr>
          <a:lstStyle/>
          <a:p>
            <a:pPr>
              <a:spcAft>
                <a:spcPts val="1000"/>
              </a:spcAft>
              <a:defRPr sz="1500" b="1">
                <a:solidFill>
                  <a:srgbClr val="0F172A"/>
                </a:solidFill>
              </a:defRPr>
            </a:pPr>
            <a:r>
              <a:t>Grid &amp; Fuel Shock</a:t>
            </a:r>
          </a:p>
          <a:p>
            <a:pPr>
              <a:spcAft>
                <a:spcPts val="800"/>
              </a:spcAft>
              <a:defRPr sz="1200">
                <a:solidFill>
                  <a:srgbClr val="0F172A"/>
                </a:solidFill>
              </a:defRPr>
            </a:pPr>
            <a:r>
              <a:t>• 18-Month Utility Substation Gap: Permanent TNB 11kV/33kV substations take 9 to 18 months to commission, forcing 100% off-grid temporary power setups day one.</a:t>
            </a:r>
          </a:p>
          <a:p>
            <a:pPr>
              <a:spcAft>
                <a:spcPts val="800"/>
              </a:spcAft>
              <a:defRPr sz="1200">
                <a:solidFill>
                  <a:srgbClr val="0F172A"/>
                </a:solidFill>
              </a:defRPr>
            </a:pPr>
            <a:r>
              <a:t>• No Fuel Subsidies (BUDI Madani): Commercial construction is fully excluded from retail fuel subsidies. Sites pay commercial Euro 5 market rates of RM 5.17 per litre.</a:t>
            </a:r>
          </a:p>
          <a:p>
            <a:pPr>
              <a:spcAft>
                <a:spcPts val="800"/>
              </a:spcAft>
              <a:defRPr sz="1200">
                <a:solidFill>
                  <a:srgbClr val="0F172A"/>
                </a:solidFill>
              </a:defRPr>
            </a:pPr>
            <a:r>
              <a:t>• Massive Fuel Bleed: Active parcels consume 12,000 to 14,000 litres of diesel monthly, costing over RM 65,000 to RM 72,000 in fuel alone.</a:t>
            </a:r>
          </a:p>
          <a:p>
            <a:pPr>
              <a:spcAft>
                <a:spcPts val="800"/>
              </a:spcAft>
              <a:defRPr sz="1200">
                <a:solidFill>
                  <a:srgbClr val="0F172A"/>
                </a:solidFill>
              </a:defRPr>
            </a:pPr>
            <a:r>
              <a:t>• Equipment Rental Overhead: Hiring 300 to 500 kVA generators adds RM 15,000 to RM 35,000 monthly in rental and maintenance invoices.</a:t>
            </a:r>
          </a:p>
        </p:txBody>
      </p:sp>
      <p:sp>
        <p:nvSpPr>
          <p:cNvPr id="5" name="TextBox 4"/>
          <p:cNvSpPr txBox="1"/>
          <p:nvPr/>
        </p:nvSpPr>
        <p:spPr>
          <a:xfrm>
            <a:off x="6263640" y="1645920"/>
            <a:ext cx="5166359" cy="4754880"/>
          </a:xfrm>
          <a:prstGeom prst="rect">
            <a:avLst/>
          </a:prstGeom>
          <a:noFill/>
        </p:spPr>
        <p:txBody>
          <a:bodyPr wrap="square" lIns="0" rIns="0" tIns="0" bIns="0">
            <a:spAutoFit/>
          </a:bodyPr>
          <a:lstStyle/>
          <a:p>
            <a:pPr>
              <a:spcAft>
                <a:spcPts val="1000"/>
              </a:spcAft>
              <a:defRPr sz="1500" b="1">
                <a:solidFill>
                  <a:srgbClr val="0F172A"/>
                </a:solidFill>
              </a:defRPr>
            </a:pPr>
            <a:r>
              <a:t>Noise &amp; Manual Reporting</a:t>
            </a:r>
          </a:p>
          <a:p>
            <a:pPr>
              <a:spcAft>
                <a:spcPts val="800"/>
              </a:spcAft>
              <a:defRPr sz="1200">
                <a:solidFill>
                  <a:srgbClr val="0F172A"/>
                </a:solidFill>
              </a:defRPr>
            </a:pPr>
            <a:r>
              <a:t>• 82.0 dBA Continuous Drone: Generators run non-stop at 82 decibels, penetrating neighbouring homes and breaching DOE Schedule 6 limits (60 dBA Day / 45 dBA Night).</a:t>
            </a:r>
          </a:p>
          <a:p>
            <a:pPr>
              <a:spcAft>
                <a:spcPts val="800"/>
              </a:spcAft>
              <a:defRPr sz="1200">
                <a:solidFill>
                  <a:srgbClr val="0F172A"/>
                </a:solidFill>
              </a:defRPr>
            </a:pPr>
            <a:r>
              <a:t>• Statutory Stop-Work Exposure: Triggers resident complaints, local council inspections, and up to RM 100,000 fines under Environmental Quality Act 1974.</a:t>
            </a:r>
          </a:p>
          <a:p>
            <a:pPr>
              <a:spcAft>
                <a:spcPts val="800"/>
              </a:spcAft>
              <a:defRPr sz="1200">
                <a:solidFill>
                  <a:srgbClr val="0F172A"/>
                </a:solidFill>
              </a:defRPr>
            </a:pPr>
            <a:r>
              <a:t>• Field Evidence from Inta Bina: Environmental officers track compliance using manual Word, Excel, and WhatsApp photos. Missing data and lost logs delay mandatory reporting.</a:t>
            </a:r>
          </a:p>
          <a:p>
            <a:pPr>
              <a:spcAft>
                <a:spcPts val="800"/>
              </a:spcAft>
              <a:defRPr sz="1200">
                <a:solidFill>
                  <a:srgbClr val="0F172A"/>
                </a:solidFill>
              </a:defRPr>
            </a:pPr>
            <a:r>
              <a:t>• The Tower Crane Surge Trap: Sites rent massive 500 kVA generators solely to buffer momentary 94 kW crane motor inrush, leaving generators idling at 15-20% load overnight and wasting 70% of fuel.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57200"/>
            <a:ext cx="10698480" cy="365760"/>
          </a:xfrm>
          <a:prstGeom prst="rect">
            <a:avLst/>
          </a:prstGeom>
          <a:noFill/>
        </p:spPr>
        <p:txBody>
          <a:bodyPr wrap="square" lIns="0" rIns="0" tIns="0" bIns="0">
            <a:spAutoFit/>
          </a:bodyPr>
          <a:lstStyle/>
          <a:p>
            <a:pPr>
              <a:defRPr sz="1100" b="1">
                <a:solidFill>
                  <a:srgbClr val="BE1826"/>
                </a:solidFill>
              </a:defRPr>
            </a:pPr>
            <a:r>
              <a:t>THE STORY : AREA 2</a:t>
            </a:r>
          </a:p>
        </p:txBody>
      </p:sp>
      <p:sp>
        <p:nvSpPr>
          <p:cNvPr id="3" name="TextBox 2"/>
          <p:cNvSpPr txBox="1"/>
          <p:nvPr/>
        </p:nvSpPr>
        <p:spPr>
          <a:xfrm>
            <a:off x="731520" y="777240"/>
            <a:ext cx="10698480" cy="640080"/>
          </a:xfrm>
          <a:prstGeom prst="rect">
            <a:avLst/>
          </a:prstGeom>
          <a:noFill/>
        </p:spPr>
        <p:txBody>
          <a:bodyPr wrap="square" lIns="0" rIns="0" tIns="0" bIns="0">
            <a:spAutoFit/>
          </a:bodyPr>
          <a:lstStyle/>
          <a:p>
            <a:pPr>
              <a:defRPr sz="2800" b="1">
                <a:solidFill>
                  <a:srgbClr val="0F172A"/>
                </a:solidFill>
              </a:defRPr>
            </a:pPr>
            <a:r>
              <a:t>2. Target User</a:t>
            </a:r>
          </a:p>
        </p:txBody>
      </p:sp>
      <p:sp>
        <p:nvSpPr>
          <p:cNvPr id="4" name="TextBox 3"/>
          <p:cNvSpPr txBox="1"/>
          <p:nvPr/>
        </p:nvSpPr>
        <p:spPr>
          <a:xfrm>
            <a:off x="731520" y="1645920"/>
            <a:ext cx="2400300" cy="4754880"/>
          </a:xfrm>
          <a:prstGeom prst="rect">
            <a:avLst/>
          </a:prstGeom>
          <a:noFill/>
        </p:spPr>
        <p:txBody>
          <a:bodyPr wrap="square" lIns="0" rIns="0" tIns="0" bIns="0">
            <a:spAutoFit/>
          </a:bodyPr>
          <a:lstStyle/>
          <a:p>
            <a:pPr>
              <a:spcAft>
                <a:spcPts val="1000"/>
              </a:spcAft>
              <a:defRPr sz="1500" b="1">
                <a:solidFill>
                  <a:srgbClr val="0F172A"/>
                </a:solidFill>
              </a:defRPr>
            </a:pPr>
            <a:r>
              <a:t>1. Site M&amp;E Manager</a:t>
            </a:r>
          </a:p>
          <a:p>
            <a:pPr>
              <a:spcAft>
                <a:spcPts val="800"/>
              </a:spcAft>
              <a:defRPr sz="1200">
                <a:solidFill>
                  <a:srgbClr val="0F172A"/>
                </a:solidFill>
              </a:defRPr>
            </a:pPr>
            <a:r>
              <a:t>• Role: Mechanical &amp; Electrical site engineer (such as Inta Bina M&amp;E leads).</a:t>
            </a:r>
          </a:p>
          <a:p>
            <a:pPr>
              <a:spcAft>
                <a:spcPts val="800"/>
              </a:spcAft>
              <a:defRPr sz="1200">
                <a:solidFill>
                  <a:srgbClr val="0F172A"/>
                </a:solidFill>
              </a:defRPr>
            </a:pPr>
            <a:r>
              <a:t>• Daily Reality: Powers heavy machinery (tower cranes, hoists, pumps, worker quarters).</a:t>
            </a:r>
          </a:p>
          <a:p>
            <a:pPr>
              <a:spcAft>
                <a:spcPts val="800"/>
              </a:spcAft>
              <a:defRPr sz="1200">
                <a:solidFill>
                  <a:srgbClr val="0F172A"/>
                </a:solidFill>
              </a:defRPr>
            </a:pPr>
            <a:r>
              <a:t>• Frustration: 94 kW motor startup surges trip main breakers mid-pour; constant midnight callouts to restart failed generators; managing diesel logistics and fuel theft.</a:t>
            </a:r>
          </a:p>
        </p:txBody>
      </p:sp>
      <p:sp>
        <p:nvSpPr>
          <p:cNvPr id="5" name="TextBox 4"/>
          <p:cNvSpPr txBox="1"/>
          <p:nvPr/>
        </p:nvSpPr>
        <p:spPr>
          <a:xfrm>
            <a:off x="3497580" y="1645920"/>
            <a:ext cx="2400300" cy="4754880"/>
          </a:xfrm>
          <a:prstGeom prst="rect">
            <a:avLst/>
          </a:prstGeom>
          <a:noFill/>
        </p:spPr>
        <p:txBody>
          <a:bodyPr wrap="square" lIns="0" rIns="0" tIns="0" bIns="0">
            <a:spAutoFit/>
          </a:bodyPr>
          <a:lstStyle/>
          <a:p>
            <a:pPr>
              <a:spcAft>
                <a:spcPts val="1000"/>
              </a:spcAft>
              <a:defRPr sz="1500" b="1">
                <a:solidFill>
                  <a:srgbClr val="0F172A"/>
                </a:solidFill>
              </a:defRPr>
            </a:pPr>
            <a:r>
              <a:t>2. Environmental Officer</a:t>
            </a:r>
          </a:p>
          <a:p>
            <a:pPr>
              <a:spcAft>
                <a:spcPts val="800"/>
              </a:spcAft>
              <a:defRPr sz="1200">
                <a:solidFill>
                  <a:srgbClr val="0F172A"/>
                </a:solidFill>
              </a:defRPr>
            </a:pPr>
            <a:r>
              <a:t>• Role: Licensed site Environmental Officer (such as Puan Nurul at Inta Bina).</a:t>
            </a:r>
          </a:p>
          <a:p>
            <a:pPr>
              <a:spcAft>
                <a:spcPts val="800"/>
              </a:spcAft>
              <a:defRPr sz="1200">
                <a:solidFill>
                  <a:srgbClr val="0F172A"/>
                </a:solidFill>
              </a:defRPr>
            </a:pPr>
            <a:r>
              <a:t>• Daily Reality: Legally accountable for Department of Environment (DOE) compliance.</a:t>
            </a:r>
          </a:p>
          <a:p>
            <a:pPr>
              <a:spcAft>
                <a:spcPts val="800"/>
              </a:spcAft>
              <a:defRPr sz="1200">
                <a:solidFill>
                  <a:srgbClr val="0F172A"/>
                </a:solidFill>
              </a:defRPr>
            </a:pPr>
            <a:r>
              <a:t>• Frustration: Buried under manual Word and Excel checklists; chasing supervisors for missing site inspection photos; anxiety over 82 dBA generator noise fines.</a:t>
            </a:r>
          </a:p>
        </p:txBody>
      </p:sp>
      <p:sp>
        <p:nvSpPr>
          <p:cNvPr id="6" name="TextBox 5"/>
          <p:cNvSpPr txBox="1"/>
          <p:nvPr/>
        </p:nvSpPr>
        <p:spPr>
          <a:xfrm>
            <a:off x="6263640" y="1645920"/>
            <a:ext cx="2400300" cy="4754880"/>
          </a:xfrm>
          <a:prstGeom prst="rect">
            <a:avLst/>
          </a:prstGeom>
          <a:noFill/>
        </p:spPr>
        <p:txBody>
          <a:bodyPr wrap="square" lIns="0" rIns="0" tIns="0" bIns="0">
            <a:spAutoFit/>
          </a:bodyPr>
          <a:lstStyle/>
          <a:p>
            <a:pPr>
              <a:spcAft>
                <a:spcPts val="1000"/>
              </a:spcAft>
              <a:defRPr sz="1500" b="1">
                <a:solidFill>
                  <a:srgbClr val="0F172A"/>
                </a:solidFill>
              </a:defRPr>
            </a:pPr>
            <a:r>
              <a:t>3. Sime Darby HQ Leadership</a:t>
            </a:r>
          </a:p>
          <a:p>
            <a:pPr>
              <a:spcAft>
                <a:spcPts val="800"/>
              </a:spcAft>
              <a:defRPr sz="1200">
                <a:solidFill>
                  <a:srgbClr val="0F172A"/>
                </a:solidFill>
              </a:defRPr>
            </a:pPr>
            <a:r>
              <a:t>• Role: Township Project Directors &amp; Group Sustainability Officers.</a:t>
            </a:r>
          </a:p>
          <a:p>
            <a:pPr>
              <a:spcAft>
                <a:spcPts val="800"/>
              </a:spcAft>
              <a:defRPr sz="1200">
                <a:solidFill>
                  <a:srgbClr val="0F172A"/>
                </a:solidFill>
              </a:defRPr>
            </a:pPr>
            <a:r>
              <a:t>• Daily Reality: Overseeing master township budgets and corporate Net Zero targets.</a:t>
            </a:r>
          </a:p>
          <a:p>
            <a:pPr>
              <a:spcAft>
                <a:spcPts val="800"/>
              </a:spcAft>
              <a:defRPr sz="1200">
                <a:solidFill>
                  <a:srgbClr val="0F172A"/>
                </a:solidFill>
              </a:defRPr>
            </a:pPr>
            <a:r>
              <a:t>• Frustration: Absorbing RM 100k-125k/mo cash drain per parcel in prelims; zero cross-site visibility; slow compilation of Scope 1 carbon data for Bursa Malaysia.</a:t>
            </a:r>
          </a:p>
        </p:txBody>
      </p:sp>
      <p:sp>
        <p:nvSpPr>
          <p:cNvPr id="7" name="TextBox 6"/>
          <p:cNvSpPr txBox="1"/>
          <p:nvPr/>
        </p:nvSpPr>
        <p:spPr>
          <a:xfrm>
            <a:off x="9029700" y="1645920"/>
            <a:ext cx="2400300" cy="4754880"/>
          </a:xfrm>
          <a:prstGeom prst="rect">
            <a:avLst/>
          </a:prstGeom>
          <a:noFill/>
        </p:spPr>
        <p:txBody>
          <a:bodyPr wrap="square" lIns="0" rIns="0" tIns="0" bIns="0">
            <a:spAutoFit/>
          </a:bodyPr>
          <a:lstStyle/>
          <a:p>
            <a:pPr>
              <a:spcAft>
                <a:spcPts val="1000"/>
              </a:spcAft>
              <a:defRPr sz="1500" b="1">
                <a:solidFill>
                  <a:srgbClr val="0F172A"/>
                </a:solidFill>
              </a:defRPr>
            </a:pPr>
            <a:r>
              <a:t>4. Township Residents</a:t>
            </a:r>
          </a:p>
          <a:p>
            <a:pPr>
              <a:spcAft>
                <a:spcPts val="800"/>
              </a:spcAft>
              <a:defRPr sz="1200">
                <a:solidFill>
                  <a:srgbClr val="0F172A"/>
                </a:solidFill>
              </a:defRPr>
            </a:pPr>
            <a:r>
              <a:t>• Role: Families in completed residential phases living next to active parcels.</a:t>
            </a:r>
          </a:p>
          <a:p>
            <a:pPr>
              <a:spcAft>
                <a:spcPts val="800"/>
              </a:spcAft>
              <a:defRPr sz="1200">
                <a:solidFill>
                  <a:srgbClr val="0F172A"/>
                </a:solidFill>
              </a:defRPr>
            </a:pPr>
            <a:r>
              <a:t>• Daily Reality: Living within tens of metres of active construction hoardings.</a:t>
            </a:r>
          </a:p>
          <a:p>
            <a:pPr>
              <a:spcAft>
                <a:spcPts val="800"/>
              </a:spcAft>
              <a:defRPr sz="1200">
                <a:solidFill>
                  <a:srgbClr val="0F172A"/>
                </a:solidFill>
              </a:defRPr>
            </a:pPr>
            <a:r>
              <a:t>• Frustration: Enduring non-stop 82 dBA generator rumble disturbing sleep; breathing diesel exhaust; filing complaints to town councils (MBSA, MP Sepang).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57200"/>
            <a:ext cx="10698480" cy="365760"/>
          </a:xfrm>
          <a:prstGeom prst="rect">
            <a:avLst/>
          </a:prstGeom>
          <a:noFill/>
        </p:spPr>
        <p:txBody>
          <a:bodyPr wrap="square" lIns="0" rIns="0" tIns="0" bIns="0">
            <a:spAutoFit/>
          </a:bodyPr>
          <a:lstStyle/>
          <a:p>
            <a:pPr>
              <a:defRPr sz="1100" b="1">
                <a:solidFill>
                  <a:srgbClr val="BE1826"/>
                </a:solidFill>
              </a:defRPr>
            </a:pPr>
            <a:r>
              <a:t>THE STORY : AREA 3</a:t>
            </a:r>
          </a:p>
        </p:txBody>
      </p:sp>
      <p:sp>
        <p:nvSpPr>
          <p:cNvPr id="3" name="TextBox 2"/>
          <p:cNvSpPr txBox="1"/>
          <p:nvPr/>
        </p:nvSpPr>
        <p:spPr>
          <a:xfrm>
            <a:off x="731520" y="777240"/>
            <a:ext cx="10698480" cy="640080"/>
          </a:xfrm>
          <a:prstGeom prst="rect">
            <a:avLst/>
          </a:prstGeom>
          <a:noFill/>
        </p:spPr>
        <p:txBody>
          <a:bodyPr wrap="square" lIns="0" rIns="0" tIns="0" bIns="0">
            <a:spAutoFit/>
          </a:bodyPr>
          <a:lstStyle/>
          <a:p>
            <a:pPr>
              <a:defRPr sz="2800" b="1">
                <a:solidFill>
                  <a:srgbClr val="0F172A"/>
                </a:solidFill>
              </a:defRPr>
            </a:pPr>
            <a:r>
              <a:t>3. Solution</a:t>
            </a:r>
          </a:p>
        </p:txBody>
      </p:sp>
      <p:sp>
        <p:nvSpPr>
          <p:cNvPr id="4" name="TextBox 3"/>
          <p:cNvSpPr txBox="1"/>
          <p:nvPr/>
        </p:nvSpPr>
        <p:spPr>
          <a:xfrm>
            <a:off x="731520" y="1645920"/>
            <a:ext cx="5166359" cy="4754880"/>
          </a:xfrm>
          <a:prstGeom prst="rect">
            <a:avLst/>
          </a:prstGeom>
          <a:noFill/>
        </p:spPr>
        <p:txBody>
          <a:bodyPr wrap="square" lIns="0" rIns="0" tIns="0" bIns="0">
            <a:spAutoFit/>
          </a:bodyPr>
          <a:lstStyle/>
          <a:p>
            <a:pPr>
              <a:spcAft>
                <a:spcPts val="1000"/>
              </a:spcAft>
              <a:defRPr sz="1500" b="1">
                <a:solidFill>
                  <a:srgbClr val="0F172A"/>
                </a:solidFill>
              </a:defRPr>
            </a:pPr>
            <a:r>
              <a:t>Clean Hardware Foundation</a:t>
            </a:r>
          </a:p>
          <a:p>
            <a:pPr>
              <a:spcAft>
                <a:spcPts val="800"/>
              </a:spcAft>
              <a:defRPr sz="1200">
                <a:solidFill>
                  <a:srgbClr val="0F172A"/>
                </a:solidFill>
              </a:defRPr>
            </a:pPr>
            <a:r>
              <a:t>• 522 kWh Containerised LFP Battery: Mobile 20-ft container (MegaBatt BESS) deployed directly at the site main switchboard, providing high-capacity clean storage.</a:t>
            </a:r>
          </a:p>
          <a:p>
            <a:pPr>
              <a:spcAft>
                <a:spcPts val="800"/>
              </a:spcAft>
              <a:defRPr sz="1200">
                <a:solidFill>
                  <a:srgbClr val="0F172A"/>
                </a:solidFill>
              </a:defRPr>
            </a:pPr>
            <a:r>
              <a:t>• 40 kWp On-Site Solar Array: Bifacial solar panels mounted on site office roofs and perimeter acoustic hoarding to capture clean renewable generation.</a:t>
            </a:r>
          </a:p>
          <a:p>
            <a:pPr>
              <a:spcAft>
                <a:spcPts val="800"/>
              </a:spcAft>
              <a:defRPr sz="1200">
                <a:solidFill>
                  <a:srgbClr val="0F172A"/>
                </a:solidFill>
              </a:defRPr>
            </a:pPr>
            <a:r>
              <a:t>• Eliminates 500 kVA Generators: Replaces rented generators completely, or downsizes them to a tiny 150 kVA backup that stays shut off for over 80% of operating hours.</a:t>
            </a:r>
          </a:p>
        </p:txBody>
      </p:sp>
      <p:sp>
        <p:nvSpPr>
          <p:cNvPr id="5" name="TextBox 4"/>
          <p:cNvSpPr txBox="1"/>
          <p:nvPr/>
        </p:nvSpPr>
        <p:spPr>
          <a:xfrm>
            <a:off x="6263640" y="1645920"/>
            <a:ext cx="5166359" cy="4754880"/>
          </a:xfrm>
          <a:prstGeom prst="rect">
            <a:avLst/>
          </a:prstGeom>
          <a:noFill/>
        </p:spPr>
        <p:txBody>
          <a:bodyPr wrap="square" lIns="0" rIns="0" tIns="0" bIns="0">
            <a:spAutoFit/>
          </a:bodyPr>
          <a:lstStyle/>
          <a:p>
            <a:pPr>
              <a:spcAft>
                <a:spcPts val="1000"/>
              </a:spcAft>
              <a:defRPr sz="1500" b="1">
                <a:solidFill>
                  <a:srgbClr val="0F172A"/>
                </a:solidFill>
              </a:defRPr>
            </a:pPr>
            <a:r>
              <a:t>SiteOS Orchestration Software</a:t>
            </a:r>
          </a:p>
          <a:p>
            <a:pPr>
              <a:spcAft>
                <a:spcPts val="800"/>
              </a:spcAft>
              <a:defRPr sz="1200">
                <a:solidFill>
                  <a:srgbClr val="0F172A"/>
                </a:solidFill>
              </a:defRPr>
            </a:pPr>
            <a:r>
              <a:t>• Closed-Loop Power Control: Dispatches energy between solar, battery storage, and site equipment every 5 seconds using Model Predictive Control (MPC).</a:t>
            </a:r>
          </a:p>
          <a:p>
            <a:pPr>
              <a:spcAft>
                <a:spcPts val="800"/>
              </a:spcAft>
              <a:defRPr sz="1200">
                <a:solidFill>
                  <a:srgbClr val="0F172A"/>
                </a:solidFill>
              </a:defRPr>
            </a:pPr>
            <a:r>
              <a:t>• Sub-4ms Inrush Buffering: Inverter IGBT switches absorb 94 kW crane motor startup spikes in under 4 milliseconds, keeping bus voltage stable at 400V with zero breaker trips.</a:t>
            </a:r>
          </a:p>
          <a:p>
            <a:pPr>
              <a:spcAft>
                <a:spcPts val="800"/>
              </a:spcAft>
              <a:defRPr sz="1200">
                <a:solidFill>
                  <a:srgbClr val="0F172A"/>
                </a:solidFill>
              </a:defRPr>
            </a:pPr>
            <a:r>
              <a:t>• Purpose-Built Role Tools: M&amp;E live machinery console, Environmental Officer 1-click statutory DOE EMP report export, and HQ cross-site executive dashboard.</a:t>
            </a:r>
          </a:p>
          <a:p>
            <a:pPr>
              <a:spcAft>
                <a:spcPts val="800"/>
              </a:spcAft>
              <a:defRPr sz="1200">
                <a:solidFill>
                  <a:srgbClr val="0F172A"/>
                </a:solidFill>
              </a:defRPr>
            </a:pPr>
            <a:r>
              <a:t>• Commercial Shift: High initial Capex, but 14.2-month payback. Converts disposable monthly rental burn into a reusable 10-year township asset.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57200"/>
            <a:ext cx="10698480" cy="365760"/>
          </a:xfrm>
          <a:prstGeom prst="rect">
            <a:avLst/>
          </a:prstGeom>
          <a:noFill/>
        </p:spPr>
        <p:txBody>
          <a:bodyPr wrap="square" lIns="0" rIns="0" tIns="0" bIns="0">
            <a:spAutoFit/>
          </a:bodyPr>
          <a:lstStyle/>
          <a:p>
            <a:pPr>
              <a:defRPr sz="1100" b="1">
                <a:solidFill>
                  <a:srgbClr val="BE1826"/>
                </a:solidFill>
              </a:defRPr>
            </a:pPr>
            <a:r>
              <a:t>THE STORY : AREA 4</a:t>
            </a:r>
          </a:p>
        </p:txBody>
      </p:sp>
      <p:sp>
        <p:nvSpPr>
          <p:cNvPr id="3" name="TextBox 2"/>
          <p:cNvSpPr txBox="1"/>
          <p:nvPr/>
        </p:nvSpPr>
        <p:spPr>
          <a:xfrm>
            <a:off x="731520" y="777240"/>
            <a:ext cx="10698480" cy="640080"/>
          </a:xfrm>
          <a:prstGeom prst="rect">
            <a:avLst/>
          </a:prstGeom>
          <a:noFill/>
        </p:spPr>
        <p:txBody>
          <a:bodyPr wrap="square" lIns="0" rIns="0" tIns="0" bIns="0">
            <a:spAutoFit/>
          </a:bodyPr>
          <a:lstStyle/>
          <a:p>
            <a:pPr>
              <a:defRPr sz="2800" b="1">
                <a:solidFill>
                  <a:srgbClr val="0F172A"/>
                </a:solidFill>
              </a:defRPr>
            </a:pPr>
            <a:r>
              <a:t>4. Innovation</a:t>
            </a:r>
          </a:p>
        </p:txBody>
      </p:sp>
      <p:sp>
        <p:nvSpPr>
          <p:cNvPr id="4" name="TextBox 3"/>
          <p:cNvSpPr txBox="1"/>
          <p:nvPr/>
        </p:nvSpPr>
        <p:spPr>
          <a:xfrm>
            <a:off x="731520" y="1645920"/>
            <a:ext cx="3322319" cy="4754880"/>
          </a:xfrm>
          <a:prstGeom prst="rect">
            <a:avLst/>
          </a:prstGeom>
          <a:noFill/>
        </p:spPr>
        <p:txBody>
          <a:bodyPr wrap="square" lIns="0" rIns="0" tIns="0" bIns="0">
            <a:spAutoFit/>
          </a:bodyPr>
          <a:lstStyle/>
          <a:p>
            <a:pPr>
              <a:spcAft>
                <a:spcPts val="1000"/>
              </a:spcAft>
              <a:defRPr sz="1500" b="1">
                <a:solidFill>
                  <a:srgbClr val="0F172A"/>
                </a:solidFill>
              </a:defRPr>
            </a:pPr>
            <a:r>
              <a:t>1. SurgeGuard Sub-4ms Buffer</a:t>
            </a:r>
          </a:p>
          <a:p>
            <a:pPr>
              <a:spcAft>
                <a:spcPts val="800"/>
              </a:spcAft>
              <a:defRPr sz="1200">
                <a:solidFill>
                  <a:srgbClr val="0F172A"/>
                </a:solidFill>
              </a:defRPr>
            </a:pPr>
            <a:r>
              <a:t>• The Physics Barrier: 45 kW crane draws 94 kW inductive surge for 1.8 seconds. Standard mechanical governors take 150-300ms to react, dropping voltage to 320V and tripping breakers.</a:t>
            </a:r>
          </a:p>
          <a:p>
            <a:pPr>
              <a:spcAft>
                <a:spcPts val="800"/>
              </a:spcAft>
              <a:defRPr sz="1200">
                <a:solidFill>
                  <a:srgbClr val="0F172A"/>
                </a:solidFill>
              </a:defRPr>
            </a:pPr>
            <a:r>
              <a:t>• The Breakthrough: Inverter IGBT switches respond in under 3.8 milliseconds with DC-bus capacitance buffer.</a:t>
            </a:r>
          </a:p>
          <a:p>
            <a:pPr>
              <a:spcAft>
                <a:spcPts val="800"/>
              </a:spcAft>
              <a:defRPr sz="1200">
                <a:solidFill>
                  <a:srgbClr val="0F172A"/>
                </a:solidFill>
              </a:defRPr>
            </a:pPr>
            <a:r>
              <a:t>• The Outcome: Stabilises line voltage at 400V (+/-1.5%), guaranteeing zero breaker trips during heavy concrete lifts.</a:t>
            </a:r>
          </a:p>
        </p:txBody>
      </p:sp>
      <p:sp>
        <p:nvSpPr>
          <p:cNvPr id="5" name="TextBox 4"/>
          <p:cNvSpPr txBox="1"/>
          <p:nvPr/>
        </p:nvSpPr>
        <p:spPr>
          <a:xfrm>
            <a:off x="4419600" y="1645920"/>
            <a:ext cx="3322319" cy="4754880"/>
          </a:xfrm>
          <a:prstGeom prst="rect">
            <a:avLst/>
          </a:prstGeom>
          <a:noFill/>
        </p:spPr>
        <p:txBody>
          <a:bodyPr wrap="square" lIns="0" rIns="0" tIns="0" bIns="0">
            <a:spAutoFit/>
          </a:bodyPr>
          <a:lstStyle/>
          <a:p>
            <a:pPr>
              <a:spcAft>
                <a:spcPts val="1000"/>
              </a:spcAft>
              <a:defRPr sz="1500" b="1">
                <a:solidFill>
                  <a:srgbClr val="0F172A"/>
                </a:solidFill>
              </a:defRPr>
            </a:pPr>
            <a:r>
              <a:t>2. SolarCast Tropical Weather ML</a:t>
            </a:r>
          </a:p>
          <a:p>
            <a:pPr>
              <a:spcAft>
                <a:spcPts val="800"/>
              </a:spcAft>
              <a:defRPr sz="1200">
                <a:solidFill>
                  <a:srgbClr val="0F172A"/>
                </a:solidFill>
              </a:defRPr>
            </a:pPr>
            <a:r>
              <a:t>• The Weather Barrier: Tropical thunderstorms cause solar generation to collapse from 145 kW to 22 kW in 10 minutes, forcing sudden diesel generator starts.</a:t>
            </a:r>
          </a:p>
          <a:p>
            <a:pPr>
              <a:spcAft>
                <a:spcPts val="800"/>
              </a:spcAft>
              <a:defRPr sz="1200">
                <a:solidFill>
                  <a:srgbClr val="0F172A"/>
                </a:solidFill>
              </a:defRPr>
            </a:pPr>
            <a:r>
              <a:t>• The Breakthrough: Pairs MET Malaysia Doppler radar (10-min scans) with solar geometry models to predict storms 4 hours ahead.</a:t>
            </a:r>
          </a:p>
          <a:p>
            <a:pPr>
              <a:spcAft>
                <a:spcPts val="800"/>
              </a:spcAft>
              <a:defRPr sz="1200">
                <a:solidFill>
                  <a:srgbClr val="0F172A"/>
                </a:solidFill>
              </a:defRPr>
            </a:pPr>
            <a:r>
              <a:t>• The Outcome: Automatically pre-charges battery to 88% so the site powers through rain with zero diesel burned.</a:t>
            </a:r>
          </a:p>
        </p:txBody>
      </p:sp>
      <p:sp>
        <p:nvSpPr>
          <p:cNvPr id="6" name="TextBox 5"/>
          <p:cNvSpPr txBox="1"/>
          <p:nvPr/>
        </p:nvSpPr>
        <p:spPr>
          <a:xfrm>
            <a:off x="8107680" y="1645920"/>
            <a:ext cx="3322319" cy="4754880"/>
          </a:xfrm>
          <a:prstGeom prst="rect">
            <a:avLst/>
          </a:prstGeom>
          <a:noFill/>
        </p:spPr>
        <p:txBody>
          <a:bodyPr wrap="square" lIns="0" rIns="0" tIns="0" bIns="0">
            <a:spAutoFit/>
          </a:bodyPr>
          <a:lstStyle/>
          <a:p>
            <a:pPr>
              <a:spcAft>
                <a:spcPts val="1000"/>
              </a:spcAft>
              <a:defRPr sz="1500" b="1">
                <a:solidFill>
                  <a:srgbClr val="0F172A"/>
                </a:solidFill>
              </a:defRPr>
            </a:pPr>
            <a:r>
              <a:t>3. EchoShield Acoustic AI</a:t>
            </a:r>
          </a:p>
          <a:p>
            <a:pPr>
              <a:spcAft>
                <a:spcPts val="800"/>
              </a:spcAft>
              <a:defRPr sz="1200">
                <a:solidFill>
                  <a:srgbClr val="0F172A"/>
                </a:solidFill>
              </a:defRPr>
            </a:pPr>
            <a:r>
              <a:t>• The Acoustic Barrier: Passing 10-tonne diesel trucks on public roads spike boundary sound meters above 71 dBA, causing false DOE violation notices.</a:t>
            </a:r>
          </a:p>
          <a:p>
            <a:pPr>
              <a:spcAft>
                <a:spcPts val="800"/>
              </a:spcAft>
              <a:defRPr sz="1200">
                <a:solidFill>
                  <a:srgbClr val="0F172A"/>
                </a:solidFill>
              </a:defRPr>
            </a:pPr>
            <a:r>
              <a:t>• The Breakthrough: Edge audio ML separates external highway truck rumble from internal site construction machinery.</a:t>
            </a:r>
          </a:p>
          <a:p>
            <a:pPr>
              <a:spcAft>
                <a:spcPts val="800"/>
              </a:spcAft>
              <a:defRPr sz="1200">
                <a:solidFill>
                  <a:srgbClr val="0F172A"/>
                </a:solidFill>
              </a:defRPr>
            </a:pPr>
            <a:r>
              <a:t>• The Outcome: Proves true boundary noise is 54.1 dBA and generates 1-click statutory DOE EMP PDF reports automatically.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57200"/>
            <a:ext cx="10698480" cy="365760"/>
          </a:xfrm>
          <a:prstGeom prst="rect">
            <a:avLst/>
          </a:prstGeom>
          <a:noFill/>
        </p:spPr>
        <p:txBody>
          <a:bodyPr wrap="square" lIns="0" rIns="0" tIns="0" bIns="0">
            <a:spAutoFit/>
          </a:bodyPr>
          <a:lstStyle/>
          <a:p>
            <a:pPr>
              <a:defRPr sz="1100" b="1">
                <a:solidFill>
                  <a:srgbClr val="BE1826"/>
                </a:solidFill>
              </a:defRPr>
            </a:pPr>
            <a:r>
              <a:t>THE PROOF : AREA 5</a:t>
            </a:r>
          </a:p>
        </p:txBody>
      </p:sp>
      <p:sp>
        <p:nvSpPr>
          <p:cNvPr id="3" name="TextBox 2"/>
          <p:cNvSpPr txBox="1"/>
          <p:nvPr/>
        </p:nvSpPr>
        <p:spPr>
          <a:xfrm>
            <a:off x="731520" y="777240"/>
            <a:ext cx="10698480" cy="640080"/>
          </a:xfrm>
          <a:prstGeom prst="rect">
            <a:avLst/>
          </a:prstGeom>
          <a:noFill/>
        </p:spPr>
        <p:txBody>
          <a:bodyPr wrap="square" lIns="0" rIns="0" tIns="0" bIns="0">
            <a:spAutoFit/>
          </a:bodyPr>
          <a:lstStyle/>
          <a:p>
            <a:pPr>
              <a:defRPr sz="2800" b="1">
                <a:solidFill>
                  <a:srgbClr val="0F172A"/>
                </a:solidFill>
              </a:defRPr>
            </a:pPr>
            <a:r>
              <a:t>5. How it Works</a:t>
            </a:r>
          </a:p>
        </p:txBody>
      </p:sp>
      <p:sp>
        <p:nvSpPr>
          <p:cNvPr id="4" name="TextBox 3"/>
          <p:cNvSpPr txBox="1"/>
          <p:nvPr/>
        </p:nvSpPr>
        <p:spPr>
          <a:xfrm>
            <a:off x="731520" y="1645920"/>
            <a:ext cx="5166359" cy="4754880"/>
          </a:xfrm>
          <a:prstGeom prst="rect">
            <a:avLst/>
          </a:prstGeom>
          <a:noFill/>
        </p:spPr>
        <p:txBody>
          <a:bodyPr wrap="square" lIns="0" rIns="0" tIns="0" bIns="0">
            <a:spAutoFit/>
          </a:bodyPr>
          <a:lstStyle/>
          <a:p>
            <a:pPr>
              <a:spcAft>
                <a:spcPts val="1000"/>
              </a:spcAft>
              <a:defRPr sz="1500" b="1">
                <a:solidFill>
                  <a:srgbClr val="0F172A"/>
                </a:solidFill>
              </a:defRPr>
            </a:pPr>
            <a:r>
              <a:t>Step 1 &amp; 2: Sensors &amp; IoT</a:t>
            </a:r>
          </a:p>
          <a:p>
            <a:pPr>
              <a:spcAft>
                <a:spcPts val="800"/>
              </a:spcAft>
              <a:defRPr sz="1200">
                <a:solidFill>
                  <a:srgbClr val="0F172A"/>
                </a:solidFill>
              </a:defRPr>
            </a:pPr>
            <a:r>
              <a:t>• Step 1: Industrial Edge Telemetry (100ms Polling): Smart meters, inverter gateways, and Class 1 microphones continuously measure 3-phase AC voltage, current, inverter frequency, battery SoC, and boundary sound.</a:t>
            </a:r>
          </a:p>
          <a:p>
            <a:pPr>
              <a:spcAft>
                <a:spcPts val="800"/>
              </a:spcAft>
              <a:defRPr sz="1200">
                <a:solidFill>
                  <a:srgbClr val="0F172A"/>
                </a:solidFill>
              </a:defRPr>
            </a:pPr>
            <a:r>
              <a:t>• Step 2: Encrypted 4G LTE IoT Pipeline: An industrial edge gateway packages data into encrypted MQTT packets, streaming live telemetry directly to the GreenPulse cloud data engine.</a:t>
            </a:r>
          </a:p>
        </p:txBody>
      </p:sp>
      <p:sp>
        <p:nvSpPr>
          <p:cNvPr id="5" name="TextBox 4"/>
          <p:cNvSpPr txBox="1"/>
          <p:nvPr/>
        </p:nvSpPr>
        <p:spPr>
          <a:xfrm>
            <a:off x="6263640" y="1645920"/>
            <a:ext cx="5166359" cy="4754880"/>
          </a:xfrm>
          <a:prstGeom prst="rect">
            <a:avLst/>
          </a:prstGeom>
          <a:noFill/>
        </p:spPr>
        <p:txBody>
          <a:bodyPr wrap="square" lIns="0" rIns="0" tIns="0" bIns="0">
            <a:spAutoFit/>
          </a:bodyPr>
          <a:lstStyle/>
          <a:p>
            <a:pPr>
              <a:spcAft>
                <a:spcPts val="1000"/>
              </a:spcAft>
              <a:defRPr sz="1500" b="1">
                <a:solidFill>
                  <a:srgbClr val="0F172A"/>
                </a:solidFill>
              </a:defRPr>
            </a:pPr>
            <a:r>
              <a:t>Step 3 &amp; 4: AI &amp; Web App</a:t>
            </a:r>
          </a:p>
          <a:p>
            <a:pPr>
              <a:spcAft>
                <a:spcPts val="800"/>
              </a:spcAft>
              <a:defRPr sz="1200">
                <a:solidFill>
                  <a:srgbClr val="0F172A"/>
                </a:solidFill>
              </a:defRPr>
            </a:pPr>
            <a:r>
              <a:t>• Step 3: MPC Dispatch Optimization (Every 5 Sec): Cloud engine calculates the optimal power flow vector based on solar output, crane duty cycles, and radar forecasts. Commands inverter to buffer surges and keep generator off.</a:t>
            </a:r>
          </a:p>
          <a:p>
            <a:pPr>
              <a:spcAft>
                <a:spcPts val="800"/>
              </a:spcAft>
              <a:defRPr sz="1200">
                <a:solidFill>
                  <a:srgbClr val="0F172A"/>
                </a:solidFill>
              </a:defRPr>
            </a:pPr>
            <a:r>
              <a:t>• Step 4: Role-Conditioned Web Application: Live telemetry powers three dedicated interfaces: M&amp;E equipment load console (/me), Environmental Officer 1-click DOE reporting (/eo), and HQ executive portfolio dashboard (/hq).</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57200"/>
            <a:ext cx="10698480" cy="365760"/>
          </a:xfrm>
          <a:prstGeom prst="rect">
            <a:avLst/>
          </a:prstGeom>
          <a:noFill/>
        </p:spPr>
        <p:txBody>
          <a:bodyPr wrap="square" lIns="0" rIns="0" tIns="0" bIns="0">
            <a:spAutoFit/>
          </a:bodyPr>
          <a:lstStyle/>
          <a:p>
            <a:pPr>
              <a:defRPr sz="1100" b="1">
                <a:solidFill>
                  <a:srgbClr val="BE1826"/>
                </a:solidFill>
              </a:defRPr>
            </a:pPr>
            <a:r>
              <a:t>THE PROOF : AREA 6</a:t>
            </a:r>
          </a:p>
        </p:txBody>
      </p:sp>
      <p:sp>
        <p:nvSpPr>
          <p:cNvPr id="3" name="TextBox 2"/>
          <p:cNvSpPr txBox="1"/>
          <p:nvPr/>
        </p:nvSpPr>
        <p:spPr>
          <a:xfrm>
            <a:off x="731520" y="777240"/>
            <a:ext cx="10698480" cy="640080"/>
          </a:xfrm>
          <a:prstGeom prst="rect">
            <a:avLst/>
          </a:prstGeom>
          <a:noFill/>
        </p:spPr>
        <p:txBody>
          <a:bodyPr wrap="square" lIns="0" rIns="0" tIns="0" bIns="0">
            <a:spAutoFit/>
          </a:bodyPr>
          <a:lstStyle/>
          <a:p>
            <a:pPr>
              <a:defRPr sz="2800" b="1">
                <a:solidFill>
                  <a:srgbClr val="0F172A"/>
                </a:solidFill>
              </a:defRPr>
            </a:pPr>
            <a:r>
              <a:t>6. Impact</a:t>
            </a:r>
          </a:p>
        </p:txBody>
      </p:sp>
      <p:sp>
        <p:nvSpPr>
          <p:cNvPr id="4" name="TextBox 3"/>
          <p:cNvSpPr txBox="1"/>
          <p:nvPr/>
        </p:nvSpPr>
        <p:spPr>
          <a:xfrm>
            <a:off x="731520" y="1645920"/>
            <a:ext cx="3322319" cy="4754880"/>
          </a:xfrm>
          <a:prstGeom prst="rect">
            <a:avLst/>
          </a:prstGeom>
          <a:noFill/>
        </p:spPr>
        <p:txBody>
          <a:bodyPr wrap="square" lIns="0" rIns="0" tIns="0" bIns="0">
            <a:spAutoFit/>
          </a:bodyPr>
          <a:lstStyle/>
          <a:p>
            <a:pPr>
              <a:spcAft>
                <a:spcPts val="1000"/>
              </a:spcAft>
              <a:defRPr sz="1500" b="1">
                <a:solidFill>
                  <a:srgbClr val="0F172A"/>
                </a:solidFill>
              </a:defRPr>
            </a:pPr>
            <a:r>
              <a:t>Financial Impact</a:t>
            </a:r>
          </a:p>
          <a:p>
            <a:pPr>
              <a:spcAft>
                <a:spcPts val="800"/>
              </a:spcAft>
              <a:defRPr sz="1200">
                <a:solidFill>
                  <a:srgbClr val="0F172A"/>
                </a:solidFill>
              </a:defRPr>
            </a:pPr>
            <a:r>
              <a:t>• Fuel Expense Saved: Avoids 18,400 litres of Euro 5 diesel monthly (18,400L x RM 5.17/L = RM 95,128 / month saved).</a:t>
            </a:r>
          </a:p>
          <a:p>
            <a:pPr>
              <a:spcAft>
                <a:spcPts val="800"/>
              </a:spcAft>
              <a:defRPr sz="1200">
                <a:solidFill>
                  <a:srgbClr val="0F172A"/>
                </a:solidFill>
              </a:defRPr>
            </a:pPr>
            <a:r>
              <a:t>• Rental Invoices Cancelled: Eliminates two rented 500 kVA generators (RM 30,000 / month saved).</a:t>
            </a:r>
          </a:p>
          <a:p>
            <a:pPr>
              <a:spcAft>
                <a:spcPts val="800"/>
              </a:spcAft>
              <a:defRPr sz="1200">
                <a:solidFill>
                  <a:srgbClr val="0F172A"/>
                </a:solidFill>
              </a:defRPr>
            </a:pPr>
            <a:r>
              <a:t>• Net Monthly Cash Savings: RM 125,128 net operational savings per active parcel.</a:t>
            </a:r>
          </a:p>
          <a:p>
            <a:pPr>
              <a:spcAft>
                <a:spcPts val="800"/>
              </a:spcAft>
              <a:defRPr sz="1200">
                <a:solidFill>
                  <a:srgbClr val="0F172A"/>
                </a:solidFill>
              </a:defRPr>
            </a:pPr>
            <a:r>
              <a:t>• 6-Month Structural Phase: RM 750,768 in direct cash saved per construction parcel.</a:t>
            </a:r>
          </a:p>
        </p:txBody>
      </p:sp>
      <p:sp>
        <p:nvSpPr>
          <p:cNvPr id="5" name="TextBox 4"/>
          <p:cNvSpPr txBox="1"/>
          <p:nvPr/>
        </p:nvSpPr>
        <p:spPr>
          <a:xfrm>
            <a:off x="4419600" y="1645920"/>
            <a:ext cx="3322319" cy="4754880"/>
          </a:xfrm>
          <a:prstGeom prst="rect">
            <a:avLst/>
          </a:prstGeom>
          <a:noFill/>
        </p:spPr>
        <p:txBody>
          <a:bodyPr wrap="square" lIns="0" rIns="0" tIns="0" bIns="0">
            <a:spAutoFit/>
          </a:bodyPr>
          <a:lstStyle/>
          <a:p>
            <a:pPr>
              <a:spcAft>
                <a:spcPts val="1000"/>
              </a:spcAft>
              <a:defRPr sz="1500" b="1">
                <a:solidFill>
                  <a:srgbClr val="0F172A"/>
                </a:solidFill>
              </a:defRPr>
            </a:pPr>
            <a:r>
              <a:t>Decarbonisation &amp; ESG</a:t>
            </a:r>
          </a:p>
          <a:p>
            <a:pPr>
              <a:spcAft>
                <a:spcPts val="800"/>
              </a:spcAft>
              <a:defRPr sz="1200">
                <a:solidFill>
                  <a:srgbClr val="0F172A"/>
                </a:solidFill>
              </a:defRPr>
            </a:pPr>
            <a:r>
              <a:t>• 77.6% Direct Scope 1 Cut: Abates 49.3 tonnes of CO2e every month per active parcel (2.68 kg CO2e / L factor).</a:t>
            </a:r>
          </a:p>
          <a:p>
            <a:pPr>
              <a:spcAft>
                <a:spcPts val="800"/>
              </a:spcAft>
              <a:defRPr sz="1200">
                <a:solidFill>
                  <a:srgbClr val="0F172A"/>
                </a:solidFill>
              </a:defRPr>
            </a:pPr>
            <a:r>
              <a:t>• 18-Month Construction Cycle: 887.4 tonnes of CO2e eliminated per project.</a:t>
            </a:r>
          </a:p>
          <a:p>
            <a:pPr>
              <a:spcAft>
                <a:spcPts val="800"/>
              </a:spcAft>
              <a:defRPr sz="1200">
                <a:solidFill>
                  <a:srgbClr val="0F172A"/>
                </a:solidFill>
              </a:defRPr>
            </a:pPr>
            <a:r>
              <a:t>• Bursa Malaysia Compliance: Lowers construction carbon intensity from 18.40 down to 4.12 kg CO2e / m2 CFA, providing verified audit logs for ESG disclosures.</a:t>
            </a:r>
          </a:p>
        </p:txBody>
      </p:sp>
      <p:sp>
        <p:nvSpPr>
          <p:cNvPr id="6" name="TextBox 5"/>
          <p:cNvSpPr txBox="1"/>
          <p:nvPr/>
        </p:nvSpPr>
        <p:spPr>
          <a:xfrm>
            <a:off x="8107680" y="1645920"/>
            <a:ext cx="3322319" cy="4754880"/>
          </a:xfrm>
          <a:prstGeom prst="rect">
            <a:avLst/>
          </a:prstGeom>
          <a:noFill/>
        </p:spPr>
        <p:txBody>
          <a:bodyPr wrap="square" lIns="0" rIns="0" tIns="0" bIns="0">
            <a:spAutoFit/>
          </a:bodyPr>
          <a:lstStyle/>
          <a:p>
            <a:pPr>
              <a:spcAft>
                <a:spcPts val="1000"/>
              </a:spcAft>
              <a:defRPr sz="1500" b="1">
                <a:solidFill>
                  <a:srgbClr val="0F172A"/>
                </a:solidFill>
              </a:defRPr>
            </a:pPr>
            <a:r>
              <a:t>Acoustic Harmony</a:t>
            </a:r>
          </a:p>
          <a:p>
            <a:pPr>
              <a:spcAft>
                <a:spcPts val="800"/>
              </a:spcAft>
              <a:defRPr sz="1200">
                <a:solidFill>
                  <a:srgbClr val="0F172A"/>
                </a:solidFill>
              </a:defRPr>
            </a:pPr>
            <a:r>
              <a:t>• 27.9 dBA Noise Attenuation: Reduces boundary sound from 82.0 dBA down to 54.1 dBA (an 88% drop in perceived loudness).</a:t>
            </a:r>
          </a:p>
          <a:p>
            <a:pPr>
              <a:spcAft>
                <a:spcPts val="800"/>
              </a:spcAft>
              <a:defRPr sz="1200">
                <a:solidFill>
                  <a:srgbClr val="0F172A"/>
                </a:solidFill>
              </a:defRPr>
            </a:pPr>
            <a:r>
              <a:t>• 100% DOE Schedule 6 Compliant: Fully complies with daytime (60 dBA) and nighttime (45 dBA) residential limits.</a:t>
            </a:r>
          </a:p>
          <a:p>
            <a:pPr>
              <a:spcAft>
                <a:spcPts val="800"/>
              </a:spcAft>
              <a:defRPr sz="1200">
                <a:solidFill>
                  <a:srgbClr val="0F172A"/>
                </a:solidFill>
              </a:defRPr>
            </a:pPr>
            <a:r>
              <a:t>• Zero Stop-Work Exposure: Eliminates resident noise complaints and protects Sime Darby Property's corporate reputation.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57200"/>
            <a:ext cx="10698480" cy="365760"/>
          </a:xfrm>
          <a:prstGeom prst="rect">
            <a:avLst/>
          </a:prstGeom>
          <a:noFill/>
        </p:spPr>
        <p:txBody>
          <a:bodyPr wrap="square" lIns="0" rIns="0" tIns="0" bIns="0">
            <a:spAutoFit/>
          </a:bodyPr>
          <a:lstStyle/>
          <a:p>
            <a:pPr>
              <a:defRPr sz="1100" b="1">
                <a:solidFill>
                  <a:srgbClr val="BE1826"/>
                </a:solidFill>
              </a:defRPr>
            </a:pPr>
            <a:r>
              <a:t>THE PROOF : AREA 7</a:t>
            </a:r>
          </a:p>
        </p:txBody>
      </p:sp>
      <p:sp>
        <p:nvSpPr>
          <p:cNvPr id="3" name="TextBox 2"/>
          <p:cNvSpPr txBox="1"/>
          <p:nvPr/>
        </p:nvSpPr>
        <p:spPr>
          <a:xfrm>
            <a:off x="731520" y="777240"/>
            <a:ext cx="10698480" cy="640080"/>
          </a:xfrm>
          <a:prstGeom prst="rect">
            <a:avLst/>
          </a:prstGeom>
          <a:noFill/>
        </p:spPr>
        <p:txBody>
          <a:bodyPr wrap="square" lIns="0" rIns="0" tIns="0" bIns="0">
            <a:spAutoFit/>
          </a:bodyPr>
          <a:lstStyle/>
          <a:p>
            <a:pPr>
              <a:defRPr sz="2800" b="1">
                <a:solidFill>
                  <a:srgbClr val="0F172A"/>
                </a:solidFill>
              </a:defRPr>
            </a:pPr>
            <a:r>
              <a:t>7. Feasibility</a:t>
            </a:r>
          </a:p>
        </p:txBody>
      </p:sp>
      <p:sp>
        <p:nvSpPr>
          <p:cNvPr id="4" name="TextBox 3"/>
          <p:cNvSpPr txBox="1"/>
          <p:nvPr/>
        </p:nvSpPr>
        <p:spPr>
          <a:xfrm>
            <a:off x="731520" y="1645920"/>
            <a:ext cx="5166359" cy="4754880"/>
          </a:xfrm>
          <a:prstGeom prst="rect">
            <a:avLst/>
          </a:prstGeom>
          <a:noFill/>
        </p:spPr>
        <p:txBody>
          <a:bodyPr wrap="square" lIns="0" rIns="0" tIns="0" bIns="0">
            <a:spAutoFit/>
          </a:bodyPr>
          <a:lstStyle/>
          <a:p>
            <a:pPr>
              <a:spcAft>
                <a:spcPts val="1000"/>
              </a:spcAft>
              <a:defRPr sz="1500" b="1">
                <a:solidFill>
                  <a:srgbClr val="0F172A"/>
                </a:solidFill>
              </a:defRPr>
            </a:pPr>
            <a:r>
              <a:t>Commercial Unit Economics</a:t>
            </a:r>
          </a:p>
          <a:p>
            <a:pPr>
              <a:spcAft>
                <a:spcPts val="800"/>
              </a:spcAft>
              <a:defRPr sz="1200">
                <a:solidFill>
                  <a:srgbClr val="0F172A"/>
                </a:solidFill>
              </a:defRPr>
            </a:pPr>
            <a:r>
              <a:t>• Capex per System: 522 kWh / 400 kW Inverter BESS Container (RM 1.45M) + 40 kWp Solar PV (RM 240k) + IoT Gateway &amp; Switchboard Integration (RM 80k) = RM 1,770,000 Total Capex.</a:t>
            </a:r>
          </a:p>
          <a:p>
            <a:pPr>
              <a:spcAft>
                <a:spcPts val="800"/>
              </a:spcAft>
              <a:defRPr sz="1200">
                <a:solidFill>
                  <a:srgbClr val="0F172A"/>
                </a:solidFill>
              </a:defRPr>
            </a:pPr>
            <a:r>
              <a:t>• Annual Operational Savings: RM 1,501,536 / year (RM 125,128/mo x 12).</a:t>
            </a:r>
          </a:p>
          <a:p>
            <a:pPr>
              <a:spcAft>
                <a:spcPts val="800"/>
              </a:spcAft>
              <a:defRPr sz="1200">
                <a:solidFill>
                  <a:srgbClr val="0F172A"/>
                </a:solidFill>
              </a:defRPr>
            </a:pPr>
            <a:r>
              <a:t>• Capital Payback Period: 14.2 Months (1.18 years).</a:t>
            </a:r>
          </a:p>
          <a:p>
            <a:pPr>
              <a:spcAft>
                <a:spcPts val="800"/>
              </a:spcAft>
              <a:defRPr sz="1200">
                <a:solidFill>
                  <a:srgbClr val="0F172A"/>
                </a:solidFill>
              </a:defRPr>
            </a:pPr>
            <a:r>
              <a:t>• Key Commercial Milestones: The system pays for itself before the 18-month civil construction phase ends, leaving years of clean operational profit.</a:t>
            </a:r>
          </a:p>
        </p:txBody>
      </p:sp>
      <p:sp>
        <p:nvSpPr>
          <p:cNvPr id="5" name="TextBox 4"/>
          <p:cNvSpPr txBox="1"/>
          <p:nvPr/>
        </p:nvSpPr>
        <p:spPr>
          <a:xfrm>
            <a:off x="6263640" y="1645920"/>
            <a:ext cx="5166359" cy="4754880"/>
          </a:xfrm>
          <a:prstGeom prst="rect">
            <a:avLst/>
          </a:prstGeom>
          <a:noFill/>
        </p:spPr>
        <p:txBody>
          <a:bodyPr wrap="square" lIns="0" rIns="0" tIns="0" bIns="0">
            <a:spAutoFit/>
          </a:bodyPr>
          <a:lstStyle/>
          <a:p>
            <a:pPr>
              <a:spcAft>
                <a:spcPts val="1000"/>
              </a:spcAft>
              <a:defRPr sz="1500" b="1">
                <a:solidFill>
                  <a:srgbClr val="0F172A"/>
                </a:solidFill>
              </a:defRPr>
            </a:pPr>
            <a:r>
              <a:t>Technical Bankability &amp; Safety</a:t>
            </a:r>
          </a:p>
          <a:p>
            <a:pPr>
              <a:spcAft>
                <a:spcPts val="800"/>
              </a:spcAft>
              <a:defRPr sz="1200">
                <a:solidFill>
                  <a:srgbClr val="0F172A"/>
                </a:solidFill>
              </a:defRPr>
            </a:pPr>
            <a:r>
              <a:t>• Tier-1 LFP Chemistry: CATL / EVE automotive-grade Lithium Iron Phosphate cells rated for 6,000 cycles to 80% State of Health (16+ year operational lifespan).</a:t>
            </a:r>
          </a:p>
          <a:p>
            <a:pPr>
              <a:spcAft>
                <a:spcPts val="800"/>
              </a:spcAft>
              <a:defRPr sz="1200">
                <a:solidFill>
                  <a:srgbClr val="0F172A"/>
                </a:solidFill>
              </a:defRPr>
            </a:pPr>
            <a:r>
              <a:t>• Bomba &amp; Fire Safety: Integrated aerosol FM-200 / Novec clean agent fire suppression compliant with NFPA 855 standards and Jabatan Bomba guidelines.</a:t>
            </a:r>
          </a:p>
          <a:p>
            <a:pPr>
              <a:spcAft>
                <a:spcPts val="800"/>
              </a:spcAft>
              <a:defRPr sz="1200">
                <a:solidFill>
                  <a:srgbClr val="0F172A"/>
                </a:solidFill>
              </a:defRPr>
            </a:pPr>
            <a:r>
              <a:t>• Transport &amp; Logistics: Standard 20-foot ISO container footprint with twist-lock corners, fully transportable on standard Malaysian low-loader trailers between townships.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57200"/>
            <a:ext cx="10698480" cy="365760"/>
          </a:xfrm>
          <a:prstGeom prst="rect">
            <a:avLst/>
          </a:prstGeom>
          <a:noFill/>
        </p:spPr>
        <p:txBody>
          <a:bodyPr wrap="square" lIns="0" rIns="0" tIns="0" bIns="0">
            <a:spAutoFit/>
          </a:bodyPr>
          <a:lstStyle/>
          <a:p>
            <a:pPr>
              <a:defRPr sz="1100" b="1">
                <a:solidFill>
                  <a:srgbClr val="BE1826"/>
                </a:solidFill>
              </a:defRPr>
            </a:pPr>
            <a:r>
              <a:t>THE PROOF : AREA 8</a:t>
            </a:r>
          </a:p>
        </p:txBody>
      </p:sp>
      <p:sp>
        <p:nvSpPr>
          <p:cNvPr id="3" name="TextBox 2"/>
          <p:cNvSpPr txBox="1"/>
          <p:nvPr/>
        </p:nvSpPr>
        <p:spPr>
          <a:xfrm>
            <a:off x="731520" y="777240"/>
            <a:ext cx="10698480" cy="640080"/>
          </a:xfrm>
          <a:prstGeom prst="rect">
            <a:avLst/>
          </a:prstGeom>
          <a:noFill/>
        </p:spPr>
        <p:txBody>
          <a:bodyPr wrap="square" lIns="0" rIns="0" tIns="0" bIns="0">
            <a:spAutoFit/>
          </a:bodyPr>
          <a:lstStyle/>
          <a:p>
            <a:pPr>
              <a:defRPr sz="2800" b="1">
                <a:solidFill>
                  <a:srgbClr val="0F172A"/>
                </a:solidFill>
              </a:defRPr>
            </a:pPr>
            <a:r>
              <a:t>8. Implementation</a:t>
            </a:r>
          </a:p>
        </p:txBody>
      </p:sp>
      <p:sp>
        <p:nvSpPr>
          <p:cNvPr id="4" name="TextBox 3"/>
          <p:cNvSpPr txBox="1"/>
          <p:nvPr/>
        </p:nvSpPr>
        <p:spPr>
          <a:xfrm>
            <a:off x="731520" y="1645920"/>
            <a:ext cx="5166359" cy="4754880"/>
          </a:xfrm>
          <a:prstGeom prst="rect">
            <a:avLst/>
          </a:prstGeom>
          <a:noFill/>
        </p:spPr>
        <p:txBody>
          <a:bodyPr wrap="square" lIns="0" rIns="0" tIns="0" bIns="0">
            <a:spAutoFit/>
          </a:bodyPr>
          <a:lstStyle/>
          <a:p>
            <a:pPr>
              <a:spcAft>
                <a:spcPts val="1000"/>
              </a:spcAft>
              <a:defRPr sz="1500" b="1">
                <a:solidFill>
                  <a:srgbClr val="0F172A"/>
                </a:solidFill>
              </a:defRPr>
            </a:pPr>
            <a:r>
              <a:t>12-Week Pilot Roadmap</a:t>
            </a:r>
          </a:p>
          <a:p>
            <a:pPr>
              <a:spcAft>
                <a:spcPts val="800"/>
              </a:spcAft>
              <a:defRPr sz="1200">
                <a:solidFill>
                  <a:srgbClr val="0F172A"/>
                </a:solidFill>
              </a:defRPr>
            </a:pPr>
            <a:r>
              <a:t>• Phase 1: Pilot Validation (Weeks 1-4) at City of Elmina: Deploy 522 kWh unit at Kanopi Residences; train Inta Bina site engineering team; validate sub-4ms motor inrush absorption; calibrate MBSA acoustic baseline.</a:t>
            </a:r>
          </a:p>
          <a:p>
            <a:pPr>
              <a:spcAft>
                <a:spcPts val="800"/>
              </a:spcAft>
              <a:defRPr sz="1200">
                <a:solidFill>
                  <a:srgbClr val="0F172A"/>
                </a:solidFill>
              </a:defRPr>
            </a:pPr>
            <a:r>
              <a:t>• Phase 2: Twin Township Expansion (Weeks 5-8) at Serenia City: Deploy at Serenia Aqila; integrate automated 1-click DOE EMP compliance export; launch HQ central portfolio monitoring.</a:t>
            </a:r>
          </a:p>
          <a:p>
            <a:pPr>
              <a:spcAft>
                <a:spcPts val="800"/>
              </a:spcAft>
              <a:defRPr sz="1200">
                <a:solidFill>
                  <a:srgbClr val="0F172A"/>
                </a:solidFill>
              </a:defRPr>
            </a:pPr>
            <a:r>
              <a:t>• Phase 3: Multi-Site Fleet Deployment (Weeks 9-12) at Bandar Bukit Raja: Scale across industrial logistics parcels; establish standardized Green Tender specifications for all main contractors.</a:t>
            </a:r>
          </a:p>
        </p:txBody>
      </p:sp>
      <p:sp>
        <p:nvSpPr>
          <p:cNvPr id="5" name="TextBox 4"/>
          <p:cNvSpPr txBox="1"/>
          <p:nvPr/>
        </p:nvSpPr>
        <p:spPr>
          <a:xfrm>
            <a:off x="6263640" y="1645920"/>
            <a:ext cx="5166359" cy="4754880"/>
          </a:xfrm>
          <a:prstGeom prst="rect">
            <a:avLst/>
          </a:prstGeom>
          <a:noFill/>
        </p:spPr>
        <p:txBody>
          <a:bodyPr wrap="square" lIns="0" rIns="0" tIns="0" bIns="0">
            <a:spAutoFit/>
          </a:bodyPr>
          <a:lstStyle/>
          <a:p>
            <a:pPr>
              <a:spcAft>
                <a:spcPts val="1000"/>
              </a:spcAft>
              <a:defRPr sz="1500" b="1">
                <a:solidFill>
                  <a:srgbClr val="0F172A"/>
                </a:solidFill>
              </a:defRPr>
            </a:pPr>
            <a:r>
              <a:t>10-Year Township Asset Moat</a:t>
            </a:r>
          </a:p>
          <a:p>
            <a:pPr>
              <a:spcAft>
                <a:spcPts val="800"/>
              </a:spcAft>
              <a:defRPr sz="1200">
                <a:solidFill>
                  <a:srgbClr val="0F172A"/>
                </a:solidFill>
              </a:defRPr>
            </a:pPr>
            <a:r>
              <a:t>• Moving Capital Asset: Unlike disposable rental generators, modular BESS containers move sequentially across township phases for 10 years (over 3,500 battery cycles).</a:t>
            </a:r>
          </a:p>
          <a:p>
            <a:pPr>
              <a:spcAft>
                <a:spcPts val="800"/>
              </a:spcAft>
              <a:defRPr sz="1200">
                <a:solidFill>
                  <a:srgbClr val="0F172A"/>
                </a:solidFill>
              </a:defRPr>
            </a:pPr>
            <a:r>
              <a:t>• Deployment Sequence: Years 1-2 at Putra Heights -&gt; Years 3-5 at City of Elmina -&gt; Years 6-10 at Bandar Bukit Raja.</a:t>
            </a:r>
          </a:p>
          <a:p>
            <a:pPr>
              <a:spcAft>
                <a:spcPts val="800"/>
              </a:spcAft>
              <a:defRPr sz="1200">
                <a:solidFill>
                  <a:srgbClr val="0F172A"/>
                </a:solidFill>
              </a:defRPr>
            </a:pPr>
            <a:r>
              <a:t>• 10-Year Cumulative Value: RM 9,840,000 in net savings generated by a single BESS container across its operational lifespan.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57200"/>
            <a:ext cx="10698480" cy="365760"/>
          </a:xfrm>
          <a:prstGeom prst="rect">
            <a:avLst/>
          </a:prstGeom>
          <a:noFill/>
        </p:spPr>
        <p:txBody>
          <a:bodyPr wrap="square" lIns="0" rIns="0" tIns="0" bIns="0">
            <a:spAutoFit/>
          </a:bodyPr>
          <a:lstStyle/>
          <a:p>
            <a:pPr>
              <a:defRPr sz="1100" b="1">
                <a:solidFill>
                  <a:srgbClr val="BE1826"/>
                </a:solidFill>
              </a:defRPr>
            </a:pPr>
            <a:r>
              <a:t>CONCLUSION : LEADING MALAYSIA'S NET ZERO CONSTRUCTION VISION</a:t>
            </a:r>
          </a:p>
        </p:txBody>
      </p:sp>
      <p:sp>
        <p:nvSpPr>
          <p:cNvPr id="3" name="TextBox 2"/>
          <p:cNvSpPr txBox="1"/>
          <p:nvPr/>
        </p:nvSpPr>
        <p:spPr>
          <a:xfrm>
            <a:off x="731520" y="777240"/>
            <a:ext cx="10698480" cy="640080"/>
          </a:xfrm>
          <a:prstGeom prst="rect">
            <a:avLst/>
          </a:prstGeom>
          <a:noFill/>
        </p:spPr>
        <p:txBody>
          <a:bodyPr wrap="square" lIns="0" rIns="0" tIns="0" bIns="0">
            <a:spAutoFit/>
          </a:bodyPr>
          <a:lstStyle/>
          <a:p>
            <a:pPr>
              <a:defRPr sz="2800" b="1">
                <a:solidFill>
                  <a:srgbClr val="0F172A"/>
                </a:solidFill>
              </a:defRPr>
            </a:pPr>
            <a:r>
              <a:t>Conclusion &amp; The Ask</a:t>
            </a:r>
          </a:p>
        </p:txBody>
      </p:sp>
      <p:sp>
        <p:nvSpPr>
          <p:cNvPr id="4" name="TextBox 3"/>
          <p:cNvSpPr txBox="1"/>
          <p:nvPr/>
        </p:nvSpPr>
        <p:spPr>
          <a:xfrm>
            <a:off x="731520" y="1645920"/>
            <a:ext cx="5166359" cy="4754880"/>
          </a:xfrm>
          <a:prstGeom prst="rect">
            <a:avLst/>
          </a:prstGeom>
          <a:noFill/>
        </p:spPr>
        <p:txBody>
          <a:bodyPr wrap="square" lIns="0" rIns="0" tIns="0" bIns="0">
            <a:spAutoFit/>
          </a:bodyPr>
          <a:lstStyle/>
          <a:p>
            <a:pPr>
              <a:spcAft>
                <a:spcPts val="1000"/>
              </a:spcAft>
              <a:defRPr sz="1500" b="1">
                <a:solidFill>
                  <a:srgbClr val="0F172A"/>
                </a:solidFill>
              </a:defRPr>
            </a:pPr>
            <a:r>
              <a:t>The 3 Asks to Leadership</a:t>
            </a:r>
          </a:p>
          <a:p>
            <a:pPr>
              <a:spcAft>
                <a:spcPts val="800"/>
              </a:spcAft>
              <a:defRPr sz="1200">
                <a:solidFill>
                  <a:srgbClr val="0F172A"/>
                </a:solidFill>
              </a:defRPr>
            </a:pPr>
            <a:r>
              <a:t>• 1. Pilot Parcel Endorsement: Authorise a 6-month pilot deployment at City of Elmina (Kanopi Residences) to validate real-world operational and acoustic performance.</a:t>
            </a:r>
          </a:p>
          <a:p>
            <a:pPr>
              <a:spcAft>
                <a:spcPts val="800"/>
              </a:spcAft>
              <a:defRPr sz="1200">
                <a:solidFill>
                  <a:srgbClr val="0F172A"/>
                </a:solidFill>
              </a:defRPr>
            </a:pPr>
            <a:r>
              <a:t>• 2. Contractor Switchboard Access: Partner with site engineering teams (such as Inta Bina) to mount IoT telemetry gateways on the site main switchboard.</a:t>
            </a:r>
          </a:p>
          <a:p>
            <a:pPr>
              <a:spcAft>
                <a:spcPts val="800"/>
              </a:spcAft>
              <a:defRPr sz="1200">
                <a:solidFill>
                  <a:srgbClr val="0F172A"/>
                </a:solidFill>
              </a:defRPr>
            </a:pPr>
            <a:r>
              <a:t>• 3. Green Tender Mandate: Incorporate GreenPulse SiteOS as the designated clean temporary power benchmark in 2027 main contractor development tenders.</a:t>
            </a:r>
          </a:p>
        </p:txBody>
      </p:sp>
      <p:sp>
        <p:nvSpPr>
          <p:cNvPr id="5" name="TextBox 4"/>
          <p:cNvSpPr txBox="1"/>
          <p:nvPr/>
        </p:nvSpPr>
        <p:spPr>
          <a:xfrm>
            <a:off x="6263640" y="1645920"/>
            <a:ext cx="5166359" cy="4754880"/>
          </a:xfrm>
          <a:prstGeom prst="rect">
            <a:avLst/>
          </a:prstGeom>
          <a:noFill/>
        </p:spPr>
        <p:txBody>
          <a:bodyPr wrap="square" lIns="0" rIns="0" tIns="0" bIns="0">
            <a:spAutoFit/>
          </a:bodyPr>
          <a:lstStyle/>
          <a:p>
            <a:pPr>
              <a:spcAft>
                <a:spcPts val="1000"/>
              </a:spcAft>
              <a:defRPr sz="1500" b="1">
                <a:solidFill>
                  <a:srgbClr val="0F172A"/>
                </a:solidFill>
              </a:defRPr>
            </a:pPr>
            <a:r>
              <a:t>Why GreenPulse Wins</a:t>
            </a:r>
          </a:p>
          <a:p>
            <a:pPr>
              <a:spcAft>
                <a:spcPts val="800"/>
              </a:spcAft>
              <a:defRPr sz="1200">
                <a:solidFill>
                  <a:srgbClr val="0F172A"/>
                </a:solidFill>
              </a:defRPr>
            </a:pPr>
            <a:r>
              <a:t>• Strictly Solves a Validated Problem: Built on real grid delays, unsubsidised diesel prices (RM 5.17/L), and statutory DOE noise limits.</a:t>
            </a:r>
          </a:p>
          <a:p>
            <a:pPr>
              <a:spcAft>
                <a:spcPts val="800"/>
              </a:spcAft>
              <a:defRPr sz="1200">
                <a:solidFill>
                  <a:srgbClr val="0F172A"/>
                </a:solidFill>
              </a:defRPr>
            </a:pPr>
            <a:r>
              <a:t>• Designed for Real Humans: Directly solves daily headaches for the Site M&amp;E Manager, Environmental Officer, HQ Leadership, and Township Residents.</a:t>
            </a:r>
          </a:p>
          <a:p>
            <a:pPr>
              <a:spcAft>
                <a:spcPts val="800"/>
              </a:spcAft>
              <a:defRPr sz="1200">
                <a:solidFill>
                  <a:srgbClr val="0F172A"/>
                </a:solidFill>
              </a:defRPr>
            </a:pPr>
            <a:r>
              <a:t>• Production-Ready Prototype: Web platform, real-time telemetry engine, and automated compliance tools are fully functional today.</a:t>
            </a:r>
          </a:p>
          <a:p>
            <a:pPr>
              <a:spcAft>
                <a:spcPts val="800"/>
              </a:spcAft>
              <a:defRPr sz="1200">
                <a:solidFill>
                  <a:srgbClr val="0F172A"/>
                </a:solidFill>
              </a:defRPr>
            </a:pPr>
            <a:r>
              <a:t>• Closing Vision: Building the Townships of Tomorrow with clean, zero-genset power today.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