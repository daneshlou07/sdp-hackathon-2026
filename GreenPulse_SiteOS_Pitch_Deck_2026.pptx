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[0:00 - 0:45]</a:t>
            </a:r>
          </a:p>
          <a:p>
            <a:r>
              <a:t>Good morning, judges.</a:t>
            </a:r>
          </a:p>
          <a:p>
            <a:r>
              <a:t>Every time Sime Darby starts a new township project—like Putra Heights or City of Elmina—the site has no electrical connection from TNB for the first 1 to 2 years.</a:t>
            </a:r>
          </a:p>
          <a:p>
            <a:r>
              <a:t>Because construction cannot wait, contractors rent giant diesel generators.</a:t>
            </a:r>
          </a:p>
          <a:p>
            <a:r>
              <a:t>Following diesel subsidy cuts, commercial diesel costs RM 5.17 per liter. A typical site burns RM 70,000 in fuel and spends another RM 30,000 to rent the generator every month. That is over RM 100,000 thrown away every month.</a:t>
            </a:r>
          </a:p>
          <a:p>
            <a:r>
              <a:t>On top of that, noisy generators lead to angry neighbors and risk government stop-work fines.</a:t>
            </a:r>
          </a:p>
          <a:p>
            <a:r>
              <a:t>We built GreenPulse to fix this. It is smart software that replaces rented generators with clean solar and battery storage. Let us walk you through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[Problem]</a:t>
            </a:r>
          </a:p>
          <a:p>
            <a:r>
              <a:t>Let us look at the plain numbers:</a:t>
            </a:r>
          </a:p>
          <a:p>
            <a:r>
              <a:t>First, TNB power takes 9 to 18 months to connect. Builders cannot wait.</a:t>
            </a:r>
          </a:p>
          <a:p>
            <a:r>
              <a:t>Second, commercial diesel costs RM 5.17 per liter with zero subsidies. Burning 14,000 liters costs over RM 70,000 every single month.</a:t>
            </a:r>
          </a:p>
          <a:p>
            <a:r>
              <a:t>Third, contractors rent giant 500 kVA generators at RM 30,000 a month solely because a crane draws a momentary 94 kW surge when it lifts. That means the generator runs half-empty 70% of the day.</a:t>
            </a:r>
          </a:p>
          <a:p>
            <a:r>
              <a:t>Together, that is RM 100,000+ thrown away every month. And the constant 82 dB roar risks stop-work fines from the Department of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[Target Users]</a:t>
            </a:r>
          </a:p>
          <a:p>
            <a:r>
              <a:t>Software only works when it solves real problems for real people on site:</a:t>
            </a:r>
          </a:p>
          <a:p>
            <a:r>
              <a:t>1. The Site Engineer: He does not care about buzzwords. He wants to know if the crane breaker will trip while hoisting wet concrete. GreenPulse makes sure it never trips.</a:t>
            </a:r>
          </a:p>
          <a:p>
            <a:r>
              <a:t>2. The Safety Officer: She is caught between angry neighbors and government inspectors. GreenPulse keeps the site at 54 decibels and gives her 1-click audit reports.</a:t>
            </a:r>
          </a:p>
          <a:p>
            <a:r>
              <a:t>3. The Finance Director at Sime Darby HQ: He wants to stop bleeding cash on rented generators and wants an asset that can be reused across township phases for 10 years.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[Solution]</a:t>
            </a:r>
          </a:p>
          <a:p>
            <a:r>
              <a:t>GreenPulse is the brain that makes clean site energy work.</a:t>
            </a:r>
          </a:p>
          <a:p>
            <a:r>
              <a:t>We do not build hardware. We provide the smart software that connects to standard battery containers—like the MegaBatt units Inta Bina already uses.</a:t>
            </a:r>
          </a:p>
          <a:p>
            <a:r>
              <a:t>We give each user a simple, dedicated screen:</a:t>
            </a:r>
          </a:p>
          <a:p>
            <a:r>
              <a:t>Screen 1 gives the Site Engineer full power control and stops crane breakers from tripping.</a:t>
            </a:r>
          </a:p>
          <a:p>
            <a:r>
              <a:t>Screen 2 proves to the Safety Officer that fence noise is 54 decibels and lets her print audit reports in 1 click.</a:t>
            </a:r>
          </a:p>
          <a:p>
            <a:r>
              <a:t>Screen 3 gives HQ Finance live cash savings numbers and verified carbon data for annual reports.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[Innovation]</a:t>
            </a:r>
          </a:p>
          <a:p>
            <a:r>
              <a:t>Most battery apps are passive: they just show a green dot and yesterday's power graphs.</a:t>
            </a:r>
          </a:p>
          <a:p>
            <a:r>
              <a:t>GreenPulse does four smart things:</a:t>
            </a:r>
          </a:p>
          <a:p>
            <a:r>
              <a:t>First, when a heavy crane starts lifting, it delivers a power boost in under 4 milliseconds so breakers never trip.</a:t>
            </a:r>
          </a:p>
          <a:p>
            <a:r>
              <a:t>Second, it checks weather radar and pre-charges the battery before afternoon rainstorms.</a:t>
            </a:r>
          </a:p>
          <a:p>
            <a:r>
              <a:t>Third, it filters out passing highway trucks from fence noise meters, proving your site stayed under 60 decibels.</a:t>
            </a:r>
          </a:p>
          <a:p>
            <a:r>
              <a:t>Fourth, it helps Sime Darby reuse battery containers across different project phases for 10 years instead of renting disposable gear.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[How It Works]</a:t>
            </a:r>
          </a:p>
          <a:p>
            <a:r>
              <a:t>Here is the whole process in 4 simple steps:</a:t>
            </a:r>
          </a:p>
          <a:p>
            <a:r>
              <a:t>In Step 1, solar panels charge a battery container, while our 4G box and sound meters track site metrics every second.</a:t>
            </a:r>
          </a:p>
          <a:p>
            <a:r>
              <a:t>In Step 2, GreenPulse looks at weather radar and pre-charges the battery before afternoon rain.</a:t>
            </a:r>
          </a:p>
          <a:p>
            <a:r>
              <a:t>In Step 3, the battery powers cranes, hoists, and offices cleanly, absorbing heavy motor surges in under 4 milliseconds.</a:t>
            </a:r>
          </a:p>
          <a:p>
            <a:r>
              <a:t>In Step 4, it automatically logs compliance data, keeping noise under 55 decibels and generating 1-click reports for government officers and HQ.</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[Impact &amp; Economics]</a:t>
            </a:r>
          </a:p>
          <a:p>
            <a:r>
              <a:t>Let us look at the financial and environmental results:</a:t>
            </a:r>
          </a:p>
          <a:p>
            <a:r>
              <a:t>First, we stop burning 14,000 liters of diesel at RM 5.17 per liter, and we cancel the generator rental. That saves RM 125,000 every single month per site.</a:t>
            </a:r>
          </a:p>
          <a:p>
            <a:r>
              <a:t>Even after paying for the battery equipment, net savings are over RM 100,000 a month. The system pays for itself in just 14 months—well within a 2-year contract.</a:t>
            </a:r>
          </a:p>
          <a:p>
            <a:r>
              <a:t>Second, we eliminate 49 tonnes of carbon emissions every month, cutting site emissions by 77%.</a:t>
            </a:r>
          </a:p>
          <a:p>
            <a:r>
              <a:t>Third, we drop boundary noise from 82 decibels down to 54 decibels, eliminating complaints and stop-work risks.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[Feasibility]</a:t>
            </a:r>
          </a:p>
          <a:p>
            <a:r>
              <a:t>Judges, deliverability is crucial. GreenPulse does not require inventing new hardware.</a:t>
            </a:r>
          </a:p>
          <a:p>
            <a:r>
              <a:t>It works with commercially available container batteries like the MegaBatt units Inta Bina already runs at project site P196.</a:t>
            </a:r>
          </a:p>
          <a:p>
            <a:r>
              <a:t>It connects using standard industrial cables. Even if mobile internet drops, the local controller keeps running safely.</a:t>
            </a:r>
          </a:p>
          <a:p>
            <a:r>
              <a:t>Most importantly, our working prototype is finished and operational today. You can test live crane power, check sound levels, and export reports right 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[Implementation]</a:t>
            </a:r>
          </a:p>
          <a:p>
            <a:r>
              <a:t>Our implementation is straightforward:</a:t>
            </a:r>
          </a:p>
          <a:p>
            <a:r>
              <a:t>Over 12 weeks, we add clean energy clauses into contractor tenders, plug our gateway into an active site battery, and start tracking savings.</a:t>
            </a:r>
          </a:p>
          <a:p>
            <a:r>
              <a:t>Now look at the right side of this slide:</a:t>
            </a:r>
          </a:p>
          <a:p>
            <a:r>
              <a:t>A single contractor cannot buy a battery for a 2-year project. But Sime Darby builds 15-year townships.</a:t>
            </a:r>
          </a:p>
          <a:p>
            <a:r>
              <a:t>By buying battery containers centrally and moving them from Putra Heights to Elmina to Bandar Bukit Raja over a 10-year lifespan, Sime Darby unlocks RM 9.8 million in cumulative net savings.</a:t>
            </a:r>
          </a:p>
          <a:p>
            <a:r>
              <a:t>That transforms disposable generator rental expense into a reusable township balance sheet asset.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[Conclusion &amp; Ask]</a:t>
            </a:r>
          </a:p>
          <a:p>
            <a:r>
              <a:t>In conclusion, judges: GreenPulse is direct, practical, and grounded in real Malaysian numbers.</a:t>
            </a:r>
          </a:p>
          <a:p>
            <a:r>
              <a:t>It saves RM 125,000 every month per site, pays for itself in 14 months, and unlocks RM 9.8 million across a 10-year township.</a:t>
            </a:r>
          </a:p>
          <a:p>
            <a:r>
              <a:t>Our ask to Sime Darby Property leadership is simple:</a:t>
            </a:r>
          </a:p>
          <a:p>
            <a:r>
              <a:t>1. Approve a 12-week pilot test on an active parcel at Putra Heights or City of Elmina.</a:t>
            </a:r>
          </a:p>
          <a:p>
            <a:r>
              <a:t>2. Help us write clean battery rules into standard contractor tenders.</a:t>
            </a:r>
          </a:p>
          <a:p>
            <a:r>
              <a:t>3. Together, let us make Sime Darby Property Malaysia's first zero-generator property developer.</a:t>
            </a:r>
          </a:p>
          <a:p>
            <a:r>
              <a:t>Thank you! We are Team Build with Geeks.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TECHNICAL DETAILS</a:t>
            </a:r>
          </a:p>
          <a:p>
            <a:r>
              <a:t>The 4G gateway connects to inverters and batteries over standard industrial cables.</a:t>
            </a:r>
          </a:p>
          <a:p>
            <a:r>
              <a:t>When a crane starts, power is boosted in under 4 milliseconds.</a:t>
            </a:r>
          </a:p>
          <a:p>
            <a:r>
              <a:t>Audio processing filters out passing road trucks.</a:t>
            </a:r>
          </a:p>
          <a:p>
            <a:r>
              <a:t>Local memory buffers 30 days of data so power dispatch continues even if cellular internet goes down.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COST BREAKDOWN</a:t>
            </a:r>
          </a:p>
          <a:p>
            <a:r>
              <a:t>Conventional generators cost RM 102k to RM 125k monthly in diesel and rental fees.</a:t>
            </a:r>
          </a:p>
          <a:p>
            <a:r>
              <a:t>Under GreenPulse, equipment financing and software cost RM 20,000 monthly, leaving over RM 100,000 in net cash savings every month.</a:t>
            </a:r>
          </a:p>
          <a:p>
            <a:r>
              <a:t>Payback takes just 14 months, and a 10-year fleet redeployment yields RM 9.84 million in net savings.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 CASE STUDY EVIDENCE</a:t>
            </a:r>
          </a:p>
          <a:p>
            <a:r>
              <a:t>Our data is backed by real project evidence from Inta Bina:</a:t>
            </a:r>
          </a:p>
          <a:p>
            <a:r>
              <a:t>At site P196, a MegaBatt battery powers a 50t tower crane and hoists, proving cranes can run on batteries.</a:t>
            </a:r>
          </a:p>
          <a:p>
            <a:r>
              <a:t>At Rimbayu CLQ, 4,500 liters of diesel were burned monthly before solar and batteries were proposed.</a:t>
            </a:r>
          </a:p>
          <a:p>
            <a:r>
              <a:t>GreenPulse provides the software brain that prevents rain blackouts and makes this hardware work reliably.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 RULES &amp; TEAM</a:t>
            </a:r>
          </a:p>
          <a:p>
            <a:r>
              <a:t>Our proposal follows all relevant Malaysian laws:</a:t>
            </a:r>
          </a:p>
          <a:p>
            <a:r>
              <a:t>- DOE Environmental Noise Schedule 6 limits.</a:t>
            </a:r>
          </a:p>
          <a:p>
            <a:r>
              <a:t>- Clean Air Regulations 2014.</a:t>
            </a:r>
          </a:p>
          <a:p>
            <a:r>
              <a:t>- Bursa Malaysia Sustainability Reporting Guidelines.</a:t>
            </a:r>
          </a:p>
          <a:p>
            <a:r>
              <a:t>Team Build with Geeks brings together software, electrical engineering, and financial modeling with a working prototype ready for immediate pilot testing.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365760"/>
          </a:xfrm>
          <a:prstGeom prst="rect">
            <a:avLst/>
          </a:prstGeom>
          <a:noFill/>
        </p:spPr>
        <p:txBody>
          <a:bodyPr wrap="none">
            <a:spAutoFit/>
          </a:bodyPr>
          <a:lstStyle/>
          <a:p>
            <a:pPr>
              <a:defRPr sz="1100" b="1">
                <a:solidFill>
                  <a:srgbClr val="D71920"/>
                </a:solidFill>
              </a:defRPr>
            </a:pPr>
            <a:r>
              <a:t>SIME DARBY PROPERTY UNIVERSITY HACKATHON 2026  |  TRACK: PLANET</a:t>
            </a:r>
          </a:p>
        </p:txBody>
      </p:sp>
      <p:sp>
        <p:nvSpPr>
          <p:cNvPr id="4" name="TextBox 3"/>
          <p:cNvSpPr txBox="1"/>
          <p:nvPr/>
        </p:nvSpPr>
        <p:spPr>
          <a:xfrm>
            <a:off x="914400" y="1097280"/>
            <a:ext cx="10362895" cy="1097280"/>
          </a:xfrm>
          <a:prstGeom prst="rect">
            <a:avLst/>
          </a:prstGeom>
          <a:noFill/>
        </p:spPr>
        <p:txBody>
          <a:bodyPr wrap="none">
            <a:spAutoFit/>
          </a:bodyPr>
          <a:lstStyle/>
          <a:p>
            <a:pPr>
              <a:defRPr sz="4400" b="1">
                <a:solidFill>
                  <a:srgbClr val="FFFFFF"/>
                </a:solidFill>
              </a:defRPr>
            </a:pPr>
            <a:r>
              <a:t>GreenPulse</a:t>
            </a:r>
          </a:p>
        </p:txBody>
      </p:sp>
      <p:sp>
        <p:nvSpPr>
          <p:cNvPr id="5" name="TextBox 4"/>
          <p:cNvSpPr txBox="1"/>
          <p:nvPr/>
        </p:nvSpPr>
        <p:spPr>
          <a:xfrm>
            <a:off x="914400" y="2148840"/>
            <a:ext cx="10362895" cy="731520"/>
          </a:xfrm>
          <a:prstGeom prst="rect">
            <a:avLst/>
          </a:prstGeom>
          <a:noFill/>
        </p:spPr>
        <p:txBody>
          <a:bodyPr wrap="square">
            <a:spAutoFit/>
          </a:bodyPr>
          <a:lstStyle/>
          <a:p>
            <a:pPr>
              <a:defRPr sz="2000" b="1">
                <a:solidFill>
                  <a:srgbClr val="059669"/>
                </a:solidFill>
              </a:defRPr>
            </a:pPr>
            <a:r>
              <a:t>Ditch the Diesel: Smart Battery Power for Construction Sites</a:t>
            </a:r>
          </a:p>
          <a:p>
            <a:pPr>
              <a:defRPr sz="1300">
                <a:solidFill>
                  <a:srgbClr val="CBD5E1"/>
                </a:solidFill>
              </a:defRPr>
            </a:pPr>
            <a:r>
              <a:t>Stop throwing away RM 125,000 every month on rented diesel generators. We use batteries and smart software to power heavy site cranes cleanly and reliably.</a:t>
            </a:r>
          </a:p>
        </p:txBody>
      </p:sp>
      <p:sp>
        <p:nvSpPr>
          <p:cNvPr id="6" name="Rounded Rectangle 5"/>
          <p:cNvSpPr/>
          <p:nvPr/>
        </p:nvSpPr>
        <p:spPr>
          <a:xfrm>
            <a:off x="914400" y="3246120"/>
            <a:ext cx="324612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429000"/>
            <a:ext cx="2788920" cy="1737360"/>
          </a:xfrm>
          <a:prstGeom prst="rect">
            <a:avLst/>
          </a:prstGeom>
          <a:noFill/>
        </p:spPr>
        <p:txBody>
          <a:bodyPr wrap="square" lIns="0" rIns="0" tIns="0" bIns="0">
            <a:spAutoFit/>
          </a:bodyPr>
          <a:lstStyle/>
          <a:p>
            <a:pPr>
              <a:defRPr b="1" sz="1300">
                <a:solidFill>
                  <a:srgbClr val="D71920"/>
                </a:solidFill>
              </a:defRPr>
            </a:pPr>
            <a:r>
              <a:t>[PROBLEM]  The Money Pit</a:t>
            </a:r>
          </a:p>
          <a:p>
            <a:pPr>
              <a:defRPr sz="400"/>
            </a:pPr>
          </a:p>
          <a:p>
            <a:pPr>
              <a:lnSpc>
                <a:spcPct val="115000"/>
              </a:lnSpc>
              <a:defRPr sz="1050">
                <a:solidFill>
                  <a:srgbClr val="CBD5E1"/>
                </a:solidFill>
              </a:defRPr>
            </a:pPr>
            <a:r>
              <a:rPr b="1">
                <a:solidFill>
                  <a:srgbClr val="FFFFFF"/>
                </a:solidFill>
              </a:rPr>
              <a:t>- No Power Grid: </a:t>
            </a:r>
            <a:r>
              <a:rPr>
                <a:solidFill>
                  <a:srgbClr val="CBD5E1"/>
                </a:solidFill>
              </a:rPr>
              <a:t>Sites wait 1 to 2 years for TNB cables, so they rely on rented generators.</a:t>
            </a:r>
          </a:p>
          <a:p>
            <a:pPr>
              <a:lnSpc>
                <a:spcPct val="115000"/>
              </a:lnSpc>
              <a:defRPr sz="1050">
                <a:solidFill>
                  <a:srgbClr val="CBD5E1"/>
                </a:solidFill>
              </a:defRPr>
            </a:pPr>
            <a:r>
              <a:rPr b="1">
                <a:solidFill>
                  <a:srgbClr val="FFFFFF"/>
                </a:solidFill>
              </a:rPr>
              <a:t>- No Diesel Subsidy: </a:t>
            </a:r>
            <a:r>
              <a:rPr>
                <a:solidFill>
                  <a:srgbClr val="CBD5E1"/>
                </a:solidFill>
              </a:rPr>
              <a:t>Builders pay full price for commercial diesel at RM 5.17 per liter.</a:t>
            </a:r>
          </a:p>
          <a:p>
            <a:pPr>
              <a:lnSpc>
                <a:spcPct val="115000"/>
              </a:lnSpc>
              <a:defRPr sz="1050">
                <a:solidFill>
                  <a:srgbClr val="CBD5E1"/>
                </a:solidFill>
              </a:defRPr>
            </a:pPr>
            <a:r>
              <a:rPr b="1">
                <a:solidFill>
                  <a:srgbClr val="FFFFFF"/>
                </a:solidFill>
              </a:rPr>
              <a:t>- Huge Monthly Bill: </a:t>
            </a:r>
            <a:r>
              <a:rPr>
                <a:solidFill>
                  <a:srgbClr val="CBD5E1"/>
                </a:solidFill>
              </a:rPr>
              <a:t>RM 70,000 for fuel + RM 30,000 generator rental = over RM 100,000 burned every month.</a:t>
            </a:r>
          </a:p>
        </p:txBody>
      </p:sp>
      <p:sp>
        <p:nvSpPr>
          <p:cNvPr id="8" name="Rounded Rectangle 7"/>
          <p:cNvSpPr/>
          <p:nvPr/>
        </p:nvSpPr>
        <p:spPr>
          <a:xfrm>
            <a:off x="4471416" y="3246120"/>
            <a:ext cx="324612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0016" y="3429000"/>
            <a:ext cx="2788920" cy="1737360"/>
          </a:xfrm>
          <a:prstGeom prst="rect">
            <a:avLst/>
          </a:prstGeom>
          <a:noFill/>
        </p:spPr>
        <p:txBody>
          <a:bodyPr wrap="square" lIns="0" rIns="0" tIns="0" bIns="0">
            <a:spAutoFit/>
          </a:bodyPr>
          <a:lstStyle/>
          <a:p>
            <a:pPr>
              <a:defRPr b="1" sz="1300">
                <a:solidFill>
                  <a:srgbClr val="059669"/>
                </a:solidFill>
              </a:defRPr>
            </a:pPr>
            <a:r>
              <a:t>[SOLUTION]  The Smart Fix</a:t>
            </a:r>
          </a:p>
          <a:p>
            <a:pPr>
              <a:defRPr sz="400"/>
            </a:pPr>
          </a:p>
          <a:p>
            <a:pPr>
              <a:lnSpc>
                <a:spcPct val="115000"/>
              </a:lnSpc>
              <a:defRPr sz="1050">
                <a:solidFill>
                  <a:srgbClr val="CBD5E1"/>
                </a:solidFill>
              </a:defRPr>
            </a:pPr>
            <a:r>
              <a:rPr b="1">
                <a:solidFill>
                  <a:srgbClr val="FFFFFF"/>
                </a:solidFill>
              </a:rPr>
              <a:t>- Solar + Battery: </a:t>
            </a:r>
            <a:r>
              <a:rPr>
                <a:solidFill>
                  <a:srgbClr val="CBD5E1"/>
                </a:solidFill>
              </a:rPr>
              <a:t>We plug smart software into big battery containers and temporary solar panels.</a:t>
            </a:r>
          </a:p>
          <a:p>
            <a:pPr>
              <a:lnSpc>
                <a:spcPct val="115000"/>
              </a:lnSpc>
              <a:defRPr sz="1050">
                <a:solidFill>
                  <a:srgbClr val="CBD5E1"/>
                </a:solidFill>
              </a:defRPr>
            </a:pPr>
            <a:r>
              <a:rPr b="1">
                <a:solidFill>
                  <a:srgbClr val="FFFFFF"/>
                </a:solidFill>
              </a:rPr>
              <a:t>- Smooths Crane Surges: </a:t>
            </a:r>
            <a:r>
              <a:rPr>
                <a:solidFill>
                  <a:srgbClr val="CBD5E1"/>
                </a:solidFill>
              </a:rPr>
              <a:t>When the crane lifts, the battery gives an instant boost in 4 milliseconds.</a:t>
            </a:r>
          </a:p>
          <a:p>
            <a:pPr>
              <a:lnSpc>
                <a:spcPct val="115000"/>
              </a:lnSpc>
              <a:defRPr sz="1050">
                <a:solidFill>
                  <a:srgbClr val="CBD5E1"/>
                </a:solidFill>
              </a:defRPr>
            </a:pPr>
            <a:r>
              <a:rPr b="1">
                <a:solidFill>
                  <a:srgbClr val="FFFFFF"/>
                </a:solidFill>
              </a:rPr>
              <a:t>- Zero Breaker Trips: </a:t>
            </a:r>
            <a:r>
              <a:rPr>
                <a:solidFill>
                  <a:srgbClr val="CBD5E1"/>
                </a:solidFill>
              </a:rPr>
              <a:t>Keeps the power stable so concrete pours never stall mid-lift.</a:t>
            </a:r>
          </a:p>
        </p:txBody>
      </p:sp>
      <p:sp>
        <p:nvSpPr>
          <p:cNvPr id="10" name="Rounded Rectangle 9"/>
          <p:cNvSpPr/>
          <p:nvPr/>
        </p:nvSpPr>
        <p:spPr>
          <a:xfrm>
            <a:off x="8028431" y="3246120"/>
            <a:ext cx="324612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3429000"/>
            <a:ext cx="2788920" cy="1737360"/>
          </a:xfrm>
          <a:prstGeom prst="rect">
            <a:avLst/>
          </a:prstGeom>
          <a:noFill/>
        </p:spPr>
        <p:txBody>
          <a:bodyPr wrap="square" lIns="0" rIns="0" tIns="0" bIns="0">
            <a:spAutoFit/>
          </a:bodyPr>
          <a:lstStyle/>
          <a:p>
            <a:pPr>
              <a:defRPr b="1" sz="1300">
                <a:solidFill>
                  <a:srgbClr val="2563EB"/>
                </a:solidFill>
              </a:defRPr>
            </a:pPr>
            <a:r>
              <a:t>[RESULT]  The Real Impact</a:t>
            </a:r>
          </a:p>
          <a:p>
            <a:pPr>
              <a:defRPr sz="400"/>
            </a:pPr>
          </a:p>
          <a:p>
            <a:pPr>
              <a:lnSpc>
                <a:spcPct val="115000"/>
              </a:lnSpc>
              <a:defRPr sz="1050">
                <a:solidFill>
                  <a:srgbClr val="CBD5E1"/>
                </a:solidFill>
              </a:defRPr>
            </a:pPr>
            <a:r>
              <a:rPr b="1">
                <a:solidFill>
                  <a:srgbClr val="FFFFFF"/>
                </a:solidFill>
              </a:rPr>
              <a:t>- Big Cash Savings: </a:t>
            </a:r>
            <a:r>
              <a:rPr>
                <a:solidFill>
                  <a:srgbClr val="CBD5E1"/>
                </a:solidFill>
              </a:rPr>
              <a:t>Saves RM 125,000 every month and pays for itself in just 14 months.</a:t>
            </a:r>
          </a:p>
          <a:p>
            <a:pPr>
              <a:lnSpc>
                <a:spcPct val="115000"/>
              </a:lnSpc>
              <a:defRPr sz="1050">
                <a:solidFill>
                  <a:srgbClr val="CBD5E1"/>
                </a:solidFill>
              </a:defRPr>
            </a:pPr>
            <a:r>
              <a:rPr b="1">
                <a:solidFill>
                  <a:srgbClr val="FFFFFF"/>
                </a:solidFill>
              </a:rPr>
              <a:t>- Quiet &amp; Clean: </a:t>
            </a:r>
            <a:r>
              <a:rPr>
                <a:solidFill>
                  <a:srgbClr val="CBD5E1"/>
                </a:solidFill>
              </a:rPr>
              <a:t>88% quieter (54 dB at the fence). Zero black smoke and zero neighbor complaints.</a:t>
            </a:r>
          </a:p>
          <a:p>
            <a:pPr>
              <a:lnSpc>
                <a:spcPct val="115000"/>
              </a:lnSpc>
              <a:defRPr sz="1050">
                <a:solidFill>
                  <a:srgbClr val="CBD5E1"/>
                </a:solidFill>
              </a:defRPr>
            </a:pPr>
            <a:r>
              <a:rPr b="1">
                <a:solidFill>
                  <a:srgbClr val="FFFFFF"/>
                </a:solidFill>
              </a:rPr>
              <a:t>- 10-Year Use: </a:t>
            </a:r>
            <a:r>
              <a:rPr>
                <a:solidFill>
                  <a:srgbClr val="CBD5E1"/>
                </a:solidFill>
              </a:rPr>
              <a:t>Move the batteries from Putra Heights to Elmina across future township phases.</a:t>
            </a:r>
          </a:p>
        </p:txBody>
      </p:sp>
      <p:sp>
        <p:nvSpPr>
          <p:cNvPr id="12" name="Rounded Rectangle 11"/>
          <p:cNvSpPr/>
          <p:nvPr/>
        </p:nvSpPr>
        <p:spPr>
          <a:xfrm>
            <a:off x="914400" y="5577840"/>
            <a:ext cx="242316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669279"/>
            <a:ext cx="2148840" cy="685800"/>
          </a:xfrm>
          <a:prstGeom prst="rect">
            <a:avLst/>
          </a:prstGeom>
          <a:noFill/>
        </p:spPr>
        <p:txBody>
          <a:bodyPr wrap="square" lIns="0" rIns="0" tIns="0" bIns="0">
            <a:spAutoFit/>
          </a:bodyPr>
          <a:lstStyle/>
          <a:p>
            <a:pPr algn="ctr">
              <a:defRPr sz="1800" b="1">
                <a:solidFill>
                  <a:srgbClr val="059669"/>
                </a:solidFill>
              </a:defRPr>
            </a:pPr>
            <a:r>
              <a:t>RM 125,000 / mo</a:t>
            </a:r>
          </a:p>
          <a:p>
            <a:pPr algn="ctr">
              <a:defRPr sz="950">
                <a:solidFill>
                  <a:srgbClr val="64748B"/>
                </a:solidFill>
              </a:defRPr>
            </a:pPr>
            <a:r>
              <a:t>Cash Saved Per Site</a:t>
            </a:r>
          </a:p>
        </p:txBody>
      </p:sp>
      <p:sp>
        <p:nvSpPr>
          <p:cNvPr id="14" name="Rounded Rectangle 13"/>
          <p:cNvSpPr/>
          <p:nvPr/>
        </p:nvSpPr>
        <p:spPr>
          <a:xfrm>
            <a:off x="3557015" y="5577840"/>
            <a:ext cx="242316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94176" y="5669279"/>
            <a:ext cx="2148840" cy="685800"/>
          </a:xfrm>
          <a:prstGeom prst="rect">
            <a:avLst/>
          </a:prstGeom>
          <a:noFill/>
        </p:spPr>
        <p:txBody>
          <a:bodyPr wrap="square" lIns="0" rIns="0" tIns="0" bIns="0">
            <a:spAutoFit/>
          </a:bodyPr>
          <a:lstStyle/>
          <a:p>
            <a:pPr algn="ctr">
              <a:defRPr sz="1800" b="1">
                <a:solidFill>
                  <a:srgbClr val="FFFFFF"/>
                </a:solidFill>
              </a:defRPr>
            </a:pPr>
            <a:r>
              <a:t>14 Months</a:t>
            </a:r>
          </a:p>
          <a:p>
            <a:pPr algn="ctr">
              <a:defRPr sz="950">
                <a:solidFill>
                  <a:srgbClr val="64748B"/>
                </a:solidFill>
              </a:defRPr>
            </a:pPr>
            <a:r>
              <a:t>Payback Time</a:t>
            </a:r>
          </a:p>
        </p:txBody>
      </p:sp>
      <p:sp>
        <p:nvSpPr>
          <p:cNvPr id="16" name="Rounded Rectangle 15"/>
          <p:cNvSpPr/>
          <p:nvPr/>
        </p:nvSpPr>
        <p:spPr>
          <a:xfrm>
            <a:off x="6199631" y="5577840"/>
            <a:ext cx="242316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5669279"/>
            <a:ext cx="2148840" cy="685800"/>
          </a:xfrm>
          <a:prstGeom prst="rect">
            <a:avLst/>
          </a:prstGeom>
          <a:noFill/>
        </p:spPr>
        <p:txBody>
          <a:bodyPr wrap="square" lIns="0" rIns="0" tIns="0" bIns="0">
            <a:spAutoFit/>
          </a:bodyPr>
          <a:lstStyle/>
          <a:p>
            <a:pPr algn="ctr">
              <a:defRPr sz="1800" b="1">
                <a:solidFill>
                  <a:srgbClr val="2563EB"/>
                </a:solidFill>
              </a:defRPr>
            </a:pPr>
            <a:r>
              <a:t>88% Quieter</a:t>
            </a:r>
          </a:p>
          <a:p>
            <a:pPr algn="ctr">
              <a:defRPr sz="950">
                <a:solidFill>
                  <a:srgbClr val="64748B"/>
                </a:solidFill>
              </a:defRPr>
            </a:pPr>
            <a:r>
              <a:t>Boundary Noise (-28 dB)</a:t>
            </a:r>
          </a:p>
        </p:txBody>
      </p:sp>
      <p:sp>
        <p:nvSpPr>
          <p:cNvPr id="18" name="Rounded Rectangle 17"/>
          <p:cNvSpPr/>
          <p:nvPr/>
        </p:nvSpPr>
        <p:spPr>
          <a:xfrm>
            <a:off x="8842247" y="5577840"/>
            <a:ext cx="242316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79407" y="5669279"/>
            <a:ext cx="2148840" cy="685800"/>
          </a:xfrm>
          <a:prstGeom prst="rect">
            <a:avLst/>
          </a:prstGeom>
          <a:noFill/>
        </p:spPr>
        <p:txBody>
          <a:bodyPr wrap="square" lIns="0" rIns="0" tIns="0" bIns="0">
            <a:spAutoFit/>
          </a:bodyPr>
          <a:lstStyle/>
          <a:p>
            <a:pPr algn="ctr">
              <a:defRPr sz="1800" b="1">
                <a:solidFill>
                  <a:srgbClr val="D71920"/>
                </a:solidFill>
              </a:defRPr>
            </a:pPr>
            <a:r>
              <a:t>77% Carbon Cut</a:t>
            </a:r>
          </a:p>
          <a:p>
            <a:pPr algn="ctr">
              <a:defRPr sz="950">
                <a:solidFill>
                  <a:srgbClr val="64748B"/>
                </a:solidFill>
              </a:defRPr>
            </a:pPr>
            <a:r>
              <a:t>Site Emissions Slashed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STORY  |  1. PROBLEM</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New Sites Waste Over RM 100,000 Every Month on Dirty Diesel</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Three real problems that happen on every new Sime Darby construction parcel</a:t>
            </a:r>
          </a:p>
        </p:txBody>
      </p:sp>
      <p:sp>
        <p:nvSpPr>
          <p:cNvPr id="6" name="Rounded Rectangle 5"/>
          <p:cNvSpPr/>
          <p:nvPr/>
        </p:nvSpPr>
        <p:spPr>
          <a:xfrm>
            <a:off x="731520" y="1645920"/>
            <a:ext cx="3328416"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3108960"/>
          </a:xfrm>
          <a:prstGeom prst="rect">
            <a:avLst/>
          </a:prstGeom>
          <a:noFill/>
        </p:spPr>
        <p:txBody>
          <a:bodyPr wrap="square" lIns="0" rIns="0" tIns="0" bIns="0">
            <a:spAutoFit/>
          </a:bodyPr>
          <a:lstStyle/>
          <a:p>
            <a:pPr>
              <a:defRPr b="1" sz="1300">
                <a:solidFill>
                  <a:srgbClr val="D71920"/>
                </a:solidFill>
              </a:defRPr>
            </a:pPr>
            <a:r>
              <a:t>[GRID DELAY]  1. TNB Power Takes 1 to 2 Years</a:t>
            </a:r>
          </a:p>
          <a:p>
            <a:pPr>
              <a:defRPr sz="400"/>
            </a:pPr>
          </a:p>
          <a:p>
            <a:pPr>
              <a:lnSpc>
                <a:spcPct val="115000"/>
              </a:lnSpc>
              <a:defRPr sz="1050">
                <a:solidFill>
                  <a:srgbClr val="334155"/>
                </a:solidFill>
              </a:defRPr>
            </a:pPr>
            <a:r>
              <a:rPr b="1">
                <a:solidFill>
                  <a:srgbClr val="0F172A"/>
                </a:solidFill>
              </a:rPr>
              <a:t>- No Grid Connection: </a:t>
            </a:r>
            <a:r>
              <a:rPr>
                <a:solidFill>
                  <a:srgbClr val="334155"/>
                </a:solidFill>
              </a:rPr>
              <a:t>When building starts at greenfield areas, permanent TNB substations take 9 to 18 months to build and turn on.</a:t>
            </a:r>
          </a:p>
          <a:p>
            <a:pPr>
              <a:lnSpc>
                <a:spcPct val="115000"/>
              </a:lnSpc>
              <a:defRPr sz="1050">
                <a:solidFill>
                  <a:srgbClr val="334155"/>
                </a:solidFill>
              </a:defRPr>
            </a:pPr>
            <a:r>
              <a:rPr b="1">
                <a:solidFill>
                  <a:srgbClr val="0F172A"/>
                </a:solidFill>
              </a:rPr>
              <a:t>- Contractors Are Trapped: </a:t>
            </a:r>
            <a:r>
              <a:rPr>
                <a:solidFill>
                  <a:srgbClr val="334155"/>
                </a:solidFill>
              </a:rPr>
              <a:t>Building work cannot stop or delay without heavy late-delivery penalties.</a:t>
            </a:r>
          </a:p>
          <a:p>
            <a:pPr>
              <a:lnSpc>
                <a:spcPct val="115000"/>
              </a:lnSpc>
              <a:defRPr sz="1050">
                <a:solidFill>
                  <a:srgbClr val="334155"/>
                </a:solidFill>
              </a:defRPr>
            </a:pPr>
            <a:r>
              <a:rPr b="1">
                <a:solidFill>
                  <a:srgbClr val="0F172A"/>
                </a:solidFill>
              </a:rPr>
              <a:t>- Forced onto Generators: </a:t>
            </a:r>
            <a:r>
              <a:rPr>
                <a:solidFill>
                  <a:srgbClr val="334155"/>
                </a:solidFill>
              </a:rPr>
              <a:t>Every site is forced to run temporary diesel power for 12 to 24 months.</a:t>
            </a:r>
          </a:p>
        </p:txBody>
      </p:sp>
      <p:sp>
        <p:nvSpPr>
          <p:cNvPr id="8" name="Rounded Rectangle 7"/>
          <p:cNvSpPr/>
          <p:nvPr/>
        </p:nvSpPr>
        <p:spPr>
          <a:xfrm>
            <a:off x="4425696" y="1645920"/>
            <a:ext cx="3328416"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3108960"/>
          </a:xfrm>
          <a:prstGeom prst="rect">
            <a:avLst/>
          </a:prstGeom>
          <a:noFill/>
        </p:spPr>
        <p:txBody>
          <a:bodyPr wrap="square" lIns="0" rIns="0" tIns="0" bIns="0">
            <a:spAutoFit/>
          </a:bodyPr>
          <a:lstStyle/>
          <a:p>
            <a:pPr>
              <a:defRPr b="1" sz="1300">
                <a:solidFill>
                  <a:srgbClr val="D71920"/>
                </a:solidFill>
              </a:defRPr>
            </a:pPr>
            <a:r>
              <a:t>[FUEL COST]  2. Commercial Diesel Costs RM 5.17 / L</a:t>
            </a:r>
          </a:p>
          <a:p>
            <a:pPr>
              <a:defRPr sz="400"/>
            </a:pPr>
          </a:p>
          <a:p>
            <a:pPr>
              <a:lnSpc>
                <a:spcPct val="115000"/>
              </a:lnSpc>
              <a:defRPr sz="1050">
                <a:solidFill>
                  <a:srgbClr val="334155"/>
                </a:solidFill>
              </a:defRPr>
            </a:pPr>
            <a:r>
              <a:rPr b="1">
                <a:solidFill>
                  <a:srgbClr val="0F172A"/>
                </a:solidFill>
              </a:rPr>
              <a:t>- Zero Government Subsidy: </a:t>
            </a:r>
            <a:r>
              <a:rPr>
                <a:solidFill>
                  <a:srgbClr val="334155"/>
                </a:solidFill>
              </a:rPr>
              <a:t>Construction sites get zero diesel subsidies from the government (no BUDI Madani).</a:t>
            </a:r>
          </a:p>
          <a:p>
            <a:pPr>
              <a:lnSpc>
                <a:spcPct val="115000"/>
              </a:lnSpc>
              <a:defRPr sz="1050">
                <a:solidFill>
                  <a:srgbClr val="334155"/>
                </a:solidFill>
              </a:defRPr>
            </a:pPr>
            <a:r>
              <a:rPr b="1">
                <a:solidFill>
                  <a:srgbClr val="0F172A"/>
                </a:solidFill>
              </a:rPr>
              <a:t>- Heavy Fuel Burn: </a:t>
            </a:r>
            <a:r>
              <a:rPr>
                <a:solidFill>
                  <a:srgbClr val="334155"/>
                </a:solidFill>
              </a:rPr>
              <a:t>A typical site burns 12,000 to 14,000 liters of commercial Euro 5 diesel every month.</a:t>
            </a:r>
          </a:p>
          <a:p>
            <a:pPr>
              <a:lnSpc>
                <a:spcPct val="115000"/>
              </a:lnSpc>
              <a:defRPr sz="1050">
                <a:solidFill>
                  <a:srgbClr val="334155"/>
                </a:solidFill>
              </a:defRPr>
            </a:pPr>
            <a:r>
              <a:rPr b="1">
                <a:solidFill>
                  <a:srgbClr val="0F172A"/>
                </a:solidFill>
              </a:rPr>
              <a:t>- RM 70,000 Monthly Bill: </a:t>
            </a:r>
            <a:r>
              <a:rPr>
                <a:solidFill>
                  <a:srgbClr val="334155"/>
                </a:solidFill>
              </a:rPr>
              <a:t>That is over RM 70,000 in fuel invoices every month on a single site.</a:t>
            </a:r>
          </a:p>
        </p:txBody>
      </p:sp>
      <p:sp>
        <p:nvSpPr>
          <p:cNvPr id="10" name="Rounded Rectangle 9"/>
          <p:cNvSpPr/>
          <p:nvPr/>
        </p:nvSpPr>
        <p:spPr>
          <a:xfrm>
            <a:off x="8119872" y="1645920"/>
            <a:ext cx="3328416"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3108960"/>
          </a:xfrm>
          <a:prstGeom prst="rect">
            <a:avLst/>
          </a:prstGeom>
          <a:noFill/>
        </p:spPr>
        <p:txBody>
          <a:bodyPr wrap="square" lIns="0" rIns="0" tIns="0" bIns="0">
            <a:spAutoFit/>
          </a:bodyPr>
          <a:lstStyle/>
          <a:p>
            <a:pPr>
              <a:defRPr b="1" sz="1300">
                <a:solidFill>
                  <a:srgbClr val="D71920"/>
                </a:solidFill>
              </a:defRPr>
            </a:pPr>
            <a:r>
              <a:t>[RENTAL BLEED]  3. Giant Rentals for Tiny Spikes</a:t>
            </a:r>
          </a:p>
          <a:p>
            <a:pPr>
              <a:defRPr sz="400"/>
            </a:pPr>
          </a:p>
          <a:p>
            <a:pPr>
              <a:lnSpc>
                <a:spcPct val="115000"/>
              </a:lnSpc>
              <a:defRPr sz="1050">
                <a:solidFill>
                  <a:srgbClr val="334155"/>
                </a:solidFill>
              </a:defRPr>
            </a:pPr>
            <a:r>
              <a:rPr b="1">
                <a:solidFill>
                  <a:srgbClr val="0F172A"/>
                </a:solidFill>
              </a:rPr>
              <a:t>- RM 30,000 Rental Invoice: </a:t>
            </a:r>
            <a:r>
              <a:rPr>
                <a:solidFill>
                  <a:srgbClr val="334155"/>
                </a:solidFill>
              </a:rPr>
              <a:t>Contractors pay RM 30,000 every month to rent huge 500 kVA generators.</a:t>
            </a:r>
          </a:p>
          <a:p>
            <a:pPr>
              <a:lnSpc>
                <a:spcPct val="115000"/>
              </a:lnSpc>
              <a:defRPr sz="1050">
                <a:solidFill>
                  <a:srgbClr val="334155"/>
                </a:solidFill>
              </a:defRPr>
            </a:pPr>
            <a:r>
              <a:rPr b="1">
                <a:solidFill>
                  <a:srgbClr val="0F172A"/>
                </a:solidFill>
              </a:rPr>
              <a:t>- The Crane Spike Trap: </a:t>
            </a:r>
            <a:r>
              <a:rPr>
                <a:solidFill>
                  <a:srgbClr val="334155"/>
                </a:solidFill>
              </a:rPr>
              <a:t>Why so big? Because when a 50t tower crane starts lifting, it draws a quick 94 kW power surge. Smaller generators trip.</a:t>
            </a:r>
          </a:p>
          <a:p>
            <a:pPr>
              <a:lnSpc>
                <a:spcPct val="115000"/>
              </a:lnSpc>
              <a:defRPr sz="1050">
                <a:solidFill>
                  <a:srgbClr val="334155"/>
                </a:solidFill>
              </a:defRPr>
            </a:pPr>
            <a:r>
              <a:rPr b="1">
                <a:solidFill>
                  <a:srgbClr val="0F172A"/>
                </a:solidFill>
              </a:rPr>
              <a:t>- Idling 70% of the Day: </a:t>
            </a:r>
            <a:r>
              <a:rPr>
                <a:solidFill>
                  <a:srgbClr val="334155"/>
                </a:solidFill>
              </a:rPr>
              <a:t>Most of the day, these giant generators just idle at 25% capacity, wasting fuel and blowing smoke.</a:t>
            </a:r>
          </a:p>
        </p:txBody>
      </p:sp>
      <p:sp>
        <p:nvSpPr>
          <p:cNvPr id="12" name="Rounded Rectangle 11"/>
          <p:cNvSpPr/>
          <p:nvPr/>
        </p:nvSpPr>
        <p:spPr>
          <a:xfrm>
            <a:off x="731520" y="5303520"/>
            <a:ext cx="10728655" cy="1188720"/>
          </a:xfrm>
          <a:prstGeom prst="roundRect">
            <a:avLst/>
          </a:prstGeom>
          <a:solidFill>
            <a:srgbClr val="FEF2F2"/>
          </a:solidFill>
          <a:ln w="12700">
            <a:solidFill>
              <a:srgbClr val="D71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94960"/>
            <a:ext cx="10362895" cy="1005840"/>
          </a:xfrm>
          <a:prstGeom prst="rect">
            <a:avLst/>
          </a:prstGeom>
          <a:noFill/>
        </p:spPr>
        <p:txBody>
          <a:bodyPr wrap="square" lIns="0" rIns="0" tIns="0" bIns="0">
            <a:spAutoFit/>
          </a:bodyPr>
          <a:lstStyle/>
          <a:p>
            <a:pPr>
              <a:defRPr b="1" sz="1200">
                <a:solidFill>
                  <a:srgbClr val="D71920"/>
                </a:solidFill>
              </a:defRPr>
            </a:pPr>
            <a:r>
              <a:t>THE REGULATORY HEADACHE: NOISE COMPLAINTS &amp; STOP-WORK ORDERS</a:t>
            </a:r>
          </a:p>
          <a:p>
            <a:pPr>
              <a:defRPr sz="1050">
                <a:solidFill>
                  <a:srgbClr val="334155"/>
                </a:solidFill>
              </a:defRPr>
            </a:pPr>
            <a:r>
              <a:t>Diesel generators roar at 82 decibels day and night. When sites are next to completed homes, neighbors complain immediately. Under Department of Environment (DOE) rules, residential boundary noise cannot exceed 60 dB during the day or 45 dB at night. Exceeding this brings DOE compound fines and stop-work orders that halt construction.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STORY  |  2. TARGET USER</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Three People on Site Who Need This Problem Fixed</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Built specifically for the real people running daily site operations, environmental safety, and company finance</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059669"/>
                </a:solidFill>
              </a:defRPr>
            </a:pPr>
            <a:r>
              <a:t>[SITE OPERATIONS]  Site Engineer (M&amp;E Manager)</a:t>
            </a:r>
          </a:p>
          <a:p>
            <a:pPr>
              <a:defRPr sz="400"/>
            </a:pPr>
          </a:p>
          <a:p>
            <a:pPr>
              <a:lnSpc>
                <a:spcPct val="115000"/>
              </a:lnSpc>
              <a:defRPr sz="1050">
                <a:solidFill>
                  <a:srgbClr val="334155"/>
                </a:solidFill>
              </a:defRPr>
            </a:pPr>
            <a:r>
              <a:rPr b="1">
                <a:solidFill>
                  <a:srgbClr val="0F172A"/>
                </a:solidFill>
              </a:rPr>
              <a:t>- Who He Is: </a:t>
            </a:r>
            <a:r>
              <a:rPr>
                <a:solidFill>
                  <a:srgbClr val="334155"/>
                </a:solidFill>
              </a:rPr>
              <a:t>The engineer on site making sure power runs smoothly.</a:t>
            </a:r>
          </a:p>
          <a:p>
            <a:pPr>
              <a:lnSpc>
                <a:spcPct val="115000"/>
              </a:lnSpc>
              <a:defRPr sz="1050">
                <a:solidFill>
                  <a:srgbClr val="334155"/>
                </a:solidFill>
              </a:defRPr>
            </a:pPr>
            <a:r>
              <a:rPr b="1">
                <a:solidFill>
                  <a:srgbClr val="0F172A"/>
                </a:solidFill>
              </a:rPr>
              <a:t>- What He Cares About: </a:t>
            </a:r>
            <a:r>
              <a:rPr>
                <a:solidFill>
                  <a:srgbClr val="334155"/>
                </a:solidFill>
              </a:rPr>
              <a:t>Keeping tower cranes, material hoists, and water pumps running with zero downtime.</a:t>
            </a:r>
          </a:p>
          <a:p>
            <a:pPr>
              <a:lnSpc>
                <a:spcPct val="115000"/>
              </a:lnSpc>
              <a:defRPr sz="1050">
                <a:solidFill>
                  <a:srgbClr val="334155"/>
                </a:solidFill>
              </a:defRPr>
            </a:pPr>
            <a:r>
              <a:rPr b="1">
                <a:solidFill>
                  <a:srgbClr val="0F172A"/>
                </a:solidFill>
              </a:rPr>
              <a:t>- His Big Frustrations: </a:t>
            </a:r>
            <a:r>
              <a:rPr>
                <a:solidFill>
                  <a:srgbClr val="334155"/>
                </a:solidFill>
              </a:rPr>
              <a:t>Generators breaking down, breakers tripping when the crane lifts, ordering diesel deliveries, and worrying about fuel theft.</a:t>
            </a:r>
          </a:p>
          <a:p>
            <a:pPr>
              <a:lnSpc>
                <a:spcPct val="115000"/>
              </a:lnSpc>
              <a:defRPr sz="1050">
                <a:solidFill>
                  <a:srgbClr val="334155"/>
                </a:solidFill>
              </a:defRPr>
            </a:pPr>
            <a:r>
              <a:rPr b="1">
                <a:solidFill>
                  <a:srgbClr val="0F172A"/>
                </a:solidFill>
              </a:rPr>
              <a:t>- How GreenPulse Helps: </a:t>
            </a:r>
            <a:r>
              <a:rPr>
                <a:solidFill>
                  <a:srgbClr val="334155"/>
                </a:solidFill>
              </a:rPr>
              <a:t>Absorbs motor surges so breakers never trip, shows exact battery charge, and warns him hours before rain hits.</a:t>
            </a:r>
          </a:p>
          <a:p>
            <a:pPr>
              <a:lnSpc>
                <a:spcPct val="115000"/>
              </a:lnSpc>
              <a:defRPr sz="1050">
                <a:solidFill>
                  <a:srgbClr val="334155"/>
                </a:solidFill>
              </a:defRPr>
            </a:pPr>
            <a:r>
              <a:rPr b="1">
                <a:solidFill>
                  <a:srgbClr val="0F172A"/>
                </a:solidFill>
              </a:rPr>
              <a:t>- His Win: </a:t>
            </a:r>
            <a:r>
              <a:rPr>
                <a:solidFill>
                  <a:srgbClr val="334155"/>
                </a:solidFill>
              </a:rPr>
              <a:t>Zero power trips, 100% crane uptime, and no fuel refilling hassles.</a:t>
            </a:r>
          </a:p>
        </p:txBody>
      </p:sp>
      <p:sp>
        <p:nvSpPr>
          <p:cNvPr id="8" name="Rounded Rectangle 7"/>
          <p:cNvSpPr/>
          <p:nvPr/>
        </p:nvSpPr>
        <p:spPr>
          <a:xfrm>
            <a:off x="4425696"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4389120"/>
          </a:xfrm>
          <a:prstGeom prst="rect">
            <a:avLst/>
          </a:prstGeom>
          <a:noFill/>
        </p:spPr>
        <p:txBody>
          <a:bodyPr wrap="square" lIns="0" rIns="0" tIns="0" bIns="0">
            <a:spAutoFit/>
          </a:bodyPr>
          <a:lstStyle/>
          <a:p>
            <a:pPr>
              <a:defRPr b="1" sz="1300">
                <a:solidFill>
                  <a:srgbClr val="D71920"/>
                </a:solidFill>
              </a:defRPr>
            </a:pPr>
            <a:r>
              <a:t>[SAFETY &amp; COMPLIANCE]  Site Safety Officer (EO)</a:t>
            </a:r>
          </a:p>
          <a:p>
            <a:pPr>
              <a:defRPr sz="400"/>
            </a:pPr>
          </a:p>
          <a:p>
            <a:pPr>
              <a:lnSpc>
                <a:spcPct val="115000"/>
              </a:lnSpc>
              <a:defRPr sz="1050">
                <a:solidFill>
                  <a:srgbClr val="334155"/>
                </a:solidFill>
              </a:defRPr>
            </a:pPr>
            <a:r>
              <a:rPr b="1">
                <a:solidFill>
                  <a:srgbClr val="0F172A"/>
                </a:solidFill>
              </a:rPr>
              <a:t>- Who She Is: </a:t>
            </a:r>
            <a:r>
              <a:rPr>
                <a:solidFill>
                  <a:srgbClr val="334155"/>
                </a:solidFill>
              </a:rPr>
              <a:t>The officer responsible for environment, health, and government compliance.</a:t>
            </a:r>
          </a:p>
          <a:p>
            <a:pPr>
              <a:lnSpc>
                <a:spcPct val="115000"/>
              </a:lnSpc>
              <a:defRPr sz="1050">
                <a:solidFill>
                  <a:srgbClr val="334155"/>
                </a:solidFill>
              </a:defRPr>
            </a:pPr>
            <a:r>
              <a:rPr b="1">
                <a:solidFill>
                  <a:srgbClr val="0F172A"/>
                </a:solidFill>
              </a:rPr>
              <a:t>- What She Cares About: </a:t>
            </a:r>
            <a:r>
              <a:rPr>
                <a:solidFill>
                  <a:srgbClr val="334155"/>
                </a:solidFill>
              </a:rPr>
              <a:t>Passing DOE site inspections and preventing neighbor complaints.</a:t>
            </a:r>
          </a:p>
          <a:p>
            <a:pPr>
              <a:lnSpc>
                <a:spcPct val="115000"/>
              </a:lnSpc>
              <a:defRPr sz="1050">
                <a:solidFill>
                  <a:srgbClr val="334155"/>
                </a:solidFill>
              </a:defRPr>
            </a:pPr>
            <a:r>
              <a:rPr b="1">
                <a:solidFill>
                  <a:srgbClr val="0F172A"/>
                </a:solidFill>
              </a:rPr>
              <a:t>- Her Big Frustrations: </a:t>
            </a:r>
            <a:r>
              <a:rPr>
                <a:solidFill>
                  <a:srgbClr val="334155"/>
                </a:solidFill>
              </a:rPr>
              <a:t>Angry residents complaining about generator noise, black exhaust smoke, and wasting days writing manual monthly reports.</a:t>
            </a:r>
          </a:p>
          <a:p>
            <a:pPr>
              <a:lnSpc>
                <a:spcPct val="115000"/>
              </a:lnSpc>
              <a:defRPr sz="1050">
                <a:solidFill>
                  <a:srgbClr val="334155"/>
                </a:solidFill>
              </a:defRPr>
            </a:pPr>
            <a:r>
              <a:rPr b="1">
                <a:solidFill>
                  <a:srgbClr val="0F172A"/>
                </a:solidFill>
              </a:rPr>
              <a:t>- How GreenPulse Helps: </a:t>
            </a:r>
            <a:r>
              <a:rPr>
                <a:solidFill>
                  <a:srgbClr val="334155"/>
                </a:solidFill>
              </a:rPr>
              <a:t>Shows real-time fence noise at 54 dB, proves zero smoke, and lets her download a certified DOE report in 1 click.</a:t>
            </a:r>
          </a:p>
          <a:p>
            <a:pPr>
              <a:lnSpc>
                <a:spcPct val="115000"/>
              </a:lnSpc>
              <a:defRPr sz="1050">
                <a:solidFill>
                  <a:srgbClr val="334155"/>
                </a:solidFill>
              </a:defRPr>
            </a:pPr>
            <a:r>
              <a:rPr b="1">
                <a:solidFill>
                  <a:srgbClr val="0F172A"/>
                </a:solidFill>
              </a:rPr>
              <a:t>- Her Win: </a:t>
            </a:r>
            <a:r>
              <a:rPr>
                <a:solidFill>
                  <a:srgbClr val="334155"/>
                </a:solidFill>
              </a:rPr>
              <a:t>88% quieter site, zero DOE fines, and zero neighbor complaints.</a:t>
            </a:r>
          </a:p>
        </p:txBody>
      </p:sp>
      <p:sp>
        <p:nvSpPr>
          <p:cNvPr id="10" name="Rounded Rectangle 9"/>
          <p:cNvSpPr/>
          <p:nvPr/>
        </p:nvSpPr>
        <p:spPr>
          <a:xfrm>
            <a:off x="8119872"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4389120"/>
          </a:xfrm>
          <a:prstGeom prst="rect">
            <a:avLst/>
          </a:prstGeom>
          <a:noFill/>
        </p:spPr>
        <p:txBody>
          <a:bodyPr wrap="square" lIns="0" rIns="0" tIns="0" bIns="0">
            <a:spAutoFit/>
          </a:bodyPr>
          <a:lstStyle/>
          <a:p>
            <a:pPr>
              <a:defRPr b="1" sz="1300">
                <a:solidFill>
                  <a:srgbClr val="2563EB"/>
                </a:solidFill>
              </a:defRPr>
            </a:pPr>
            <a:r>
              <a:t>[MANAGEMENT &amp; FINANCE]  Finance Director &amp; Sime Darby HQ</a:t>
            </a:r>
          </a:p>
          <a:p>
            <a:pPr>
              <a:defRPr sz="400"/>
            </a:pPr>
          </a:p>
          <a:p>
            <a:pPr>
              <a:lnSpc>
                <a:spcPct val="115000"/>
              </a:lnSpc>
              <a:defRPr sz="1050">
                <a:solidFill>
                  <a:srgbClr val="334155"/>
                </a:solidFill>
              </a:defRPr>
            </a:pPr>
            <a:r>
              <a:rPr b="1">
                <a:solidFill>
                  <a:srgbClr val="0F172A"/>
                </a:solidFill>
              </a:rPr>
              <a:t>- Who They Are: </a:t>
            </a:r>
            <a:r>
              <a:rPr>
                <a:solidFill>
                  <a:srgbClr val="334155"/>
                </a:solidFill>
              </a:rPr>
              <a:t>The team managing township budgets and group sustainability goals.</a:t>
            </a:r>
          </a:p>
          <a:p>
            <a:pPr>
              <a:lnSpc>
                <a:spcPct val="115000"/>
              </a:lnSpc>
              <a:defRPr sz="1050">
                <a:solidFill>
                  <a:srgbClr val="334155"/>
                </a:solidFill>
              </a:defRPr>
            </a:pPr>
            <a:r>
              <a:rPr b="1">
                <a:solidFill>
                  <a:srgbClr val="0F172A"/>
                </a:solidFill>
              </a:rPr>
              <a:t>- What They Care About: </a:t>
            </a:r>
            <a:r>
              <a:rPr>
                <a:solidFill>
                  <a:srgbClr val="334155"/>
                </a:solidFill>
              </a:rPr>
              <a:t>Cutting unnecessary project expenses and hitting Sime Darby's 2030 net-zero targets.</a:t>
            </a:r>
          </a:p>
          <a:p>
            <a:pPr>
              <a:lnSpc>
                <a:spcPct val="115000"/>
              </a:lnSpc>
              <a:defRPr sz="1050">
                <a:solidFill>
                  <a:srgbClr val="334155"/>
                </a:solidFill>
              </a:defRPr>
            </a:pPr>
            <a:r>
              <a:rPr b="1">
                <a:solidFill>
                  <a:srgbClr val="0F172A"/>
                </a:solidFill>
              </a:rPr>
              <a:t>- Their Big Frustrations: </a:t>
            </a:r>
            <a:r>
              <a:rPr>
                <a:solidFill>
                  <a:srgbClr val="334155"/>
                </a:solidFill>
              </a:rPr>
              <a:t>Millions spent on rented equipment that leaves zero value behind, and messy contractor diesel receipts.</a:t>
            </a:r>
          </a:p>
          <a:p>
            <a:pPr>
              <a:lnSpc>
                <a:spcPct val="115000"/>
              </a:lnSpc>
              <a:defRPr sz="1050">
                <a:solidFill>
                  <a:srgbClr val="334155"/>
                </a:solidFill>
              </a:defRPr>
            </a:pPr>
            <a:r>
              <a:rPr b="1">
                <a:solidFill>
                  <a:srgbClr val="0F172A"/>
                </a:solidFill>
              </a:rPr>
              <a:t>- How GreenPulse Helps: </a:t>
            </a:r>
            <a:r>
              <a:rPr>
                <a:solidFill>
                  <a:srgbClr val="334155"/>
                </a:solidFill>
              </a:rPr>
              <a:t>Tracks live cash savings against RM 5.17/L fuel, calculates verified carbon cuts, and moves batteries across township phases for 10 years.</a:t>
            </a:r>
          </a:p>
          <a:p>
            <a:pPr>
              <a:lnSpc>
                <a:spcPct val="115000"/>
              </a:lnSpc>
              <a:defRPr sz="1050">
                <a:solidFill>
                  <a:srgbClr val="334155"/>
                </a:solidFill>
              </a:defRPr>
            </a:pPr>
            <a:r>
              <a:rPr b="1">
                <a:solidFill>
                  <a:srgbClr val="0F172A"/>
                </a:solidFill>
              </a:rPr>
              <a:t>- Their Win: </a:t>
            </a:r>
            <a:r>
              <a:rPr>
                <a:solidFill>
                  <a:srgbClr val="334155"/>
                </a:solidFill>
              </a:rPr>
              <a:t>Saves RM 125,000/mo, 14-month payback, and real ESG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STORY  |  3. SOLUTION</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GreenPulse: Smart Software That Replaces Diesel Generators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We do not build hardware—we provide the smart software that runs clean battery containers on construction sites</a:t>
            </a:r>
          </a:p>
        </p:txBody>
      </p:sp>
      <p:sp>
        <p:nvSpPr>
          <p:cNvPr id="6" name="Rounded Rectangle 5"/>
          <p:cNvSpPr/>
          <p:nvPr/>
        </p:nvSpPr>
        <p:spPr>
          <a:xfrm>
            <a:off x="731520" y="1645920"/>
            <a:ext cx="36576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3200400" cy="4389120"/>
          </a:xfrm>
          <a:prstGeom prst="rect">
            <a:avLst/>
          </a:prstGeom>
          <a:noFill/>
        </p:spPr>
        <p:txBody>
          <a:bodyPr wrap="square" lIns="0" rIns="0" tIns="0" bIns="0">
            <a:spAutoFit/>
          </a:bodyPr>
          <a:lstStyle/>
          <a:p>
            <a:pPr>
              <a:defRPr b="1" sz="1300">
                <a:solidFill>
                  <a:srgbClr val="0F172A"/>
                </a:solidFill>
              </a:defRPr>
            </a:pPr>
            <a:r>
              <a:t>[THE CORE SYSTEM]  How the Software Works</a:t>
            </a:r>
          </a:p>
          <a:p>
            <a:pPr>
              <a:defRPr sz="400"/>
            </a:pPr>
          </a:p>
          <a:p>
            <a:pPr>
              <a:lnSpc>
                <a:spcPct val="115000"/>
              </a:lnSpc>
              <a:defRPr sz="1050">
                <a:solidFill>
                  <a:srgbClr val="334155"/>
                </a:solidFill>
              </a:defRPr>
            </a:pPr>
            <a:r>
              <a:rPr b="1">
                <a:solidFill>
                  <a:srgbClr val="0F172A"/>
                </a:solidFill>
              </a:rPr>
              <a:t>- Smart Brain, Not Hardware: </a:t>
            </a:r>
            <a:r>
              <a:rPr>
                <a:solidFill>
                  <a:srgbClr val="334155"/>
                </a:solidFill>
              </a:rPr>
              <a:t>We do not manufacture batteries. We build the smart operating system that controls them.</a:t>
            </a:r>
          </a:p>
          <a:p>
            <a:pPr>
              <a:lnSpc>
                <a:spcPct val="115000"/>
              </a:lnSpc>
              <a:defRPr sz="1050">
                <a:solidFill>
                  <a:srgbClr val="334155"/>
                </a:solidFill>
              </a:defRPr>
            </a:pPr>
            <a:r>
              <a:rPr b="1">
                <a:solidFill>
                  <a:srgbClr val="0F172A"/>
                </a:solidFill>
              </a:rPr>
              <a:t>- Works with Existing Containers: </a:t>
            </a:r>
            <a:r>
              <a:rPr>
                <a:solidFill>
                  <a:srgbClr val="334155"/>
                </a:solidFill>
              </a:rPr>
              <a:t>Plugs directly into standard battery containers (like MegaBatt 261 kWh) and temporary solar panels.</a:t>
            </a:r>
          </a:p>
          <a:p>
            <a:pPr>
              <a:lnSpc>
                <a:spcPct val="115000"/>
              </a:lnSpc>
              <a:defRPr sz="1050">
                <a:solidFill>
                  <a:srgbClr val="334155"/>
                </a:solidFill>
              </a:defRPr>
            </a:pPr>
            <a:r>
              <a:rPr b="1">
                <a:solidFill>
                  <a:srgbClr val="0F172A"/>
                </a:solidFill>
              </a:rPr>
              <a:t>- No Guesswork on Site: </a:t>
            </a:r>
            <a:r>
              <a:rPr>
                <a:solidFill>
                  <a:srgbClr val="334155"/>
                </a:solidFill>
              </a:rPr>
              <a:t>Our software monitors power second-by-second and tells the battery exactly when to charge and discharge.</a:t>
            </a:r>
          </a:p>
          <a:p>
            <a:pPr>
              <a:lnSpc>
                <a:spcPct val="115000"/>
              </a:lnSpc>
              <a:defRPr sz="1050">
                <a:solidFill>
                  <a:srgbClr val="334155"/>
                </a:solidFill>
              </a:defRPr>
            </a:pPr>
            <a:r>
              <a:rPr b="1">
                <a:solidFill>
                  <a:srgbClr val="0F172A"/>
                </a:solidFill>
              </a:rPr>
              <a:t>- Always Works Offline: </a:t>
            </a:r>
            <a:r>
              <a:rPr>
                <a:solidFill>
                  <a:srgbClr val="334155"/>
                </a:solidFill>
              </a:rPr>
              <a:t>If mobile data goes down, the local controller keeps running safely on site. Power never stops.</a:t>
            </a:r>
          </a:p>
          <a:p>
            <a:pPr>
              <a:lnSpc>
                <a:spcPct val="115000"/>
              </a:lnSpc>
              <a:defRPr sz="1050">
                <a:solidFill>
                  <a:srgbClr val="334155"/>
                </a:solidFill>
              </a:defRPr>
            </a:pPr>
            <a:r>
              <a:rPr b="1">
                <a:solidFill>
                  <a:srgbClr val="0F172A"/>
                </a:solidFill>
              </a:rPr>
              <a:t>- Easy Contract Clause: </a:t>
            </a:r>
            <a:r>
              <a:rPr>
                <a:solidFill>
                  <a:srgbClr val="334155"/>
                </a:solidFill>
              </a:rPr>
              <a:t>Can be written straight into standard Sime Darby contractor tenders today.</a:t>
            </a:r>
          </a:p>
        </p:txBody>
      </p:sp>
      <p:sp>
        <p:nvSpPr>
          <p:cNvPr id="8" name="Rounded Rectangle 7"/>
          <p:cNvSpPr/>
          <p:nvPr/>
        </p:nvSpPr>
        <p:spPr>
          <a:xfrm>
            <a:off x="4754880" y="1645920"/>
            <a:ext cx="6705295" cy="146304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1828800"/>
            <a:ext cx="6248095" cy="1097280"/>
          </a:xfrm>
          <a:prstGeom prst="rect">
            <a:avLst/>
          </a:prstGeom>
          <a:noFill/>
        </p:spPr>
        <p:txBody>
          <a:bodyPr wrap="square" lIns="0" rIns="0" tIns="0" bIns="0">
            <a:spAutoFit/>
          </a:bodyPr>
          <a:lstStyle/>
          <a:p>
            <a:pPr>
              <a:defRPr b="1" sz="1300">
                <a:solidFill>
                  <a:srgbClr val="059669"/>
                </a:solidFill>
              </a:defRPr>
            </a:pPr>
            <a:r>
              <a:t>[ENGINEER SCREEN]  1. Site Engineer Screen (/me)</a:t>
            </a:r>
          </a:p>
          <a:p>
            <a:pPr>
              <a:defRPr sz="400"/>
            </a:pPr>
          </a:p>
          <a:p>
            <a:pPr>
              <a:lnSpc>
                <a:spcPct val="115000"/>
              </a:lnSpc>
              <a:defRPr sz="1050">
                <a:solidFill>
                  <a:srgbClr val="334155"/>
                </a:solidFill>
              </a:defRPr>
            </a:pPr>
            <a:r>
              <a:rPr b="1">
                <a:solidFill>
                  <a:srgbClr val="0F172A"/>
                </a:solidFill>
              </a:rPr>
              <a:t>- Live Machine Power: </a:t>
            </a:r>
            <a:r>
              <a:rPr>
                <a:solidFill>
                  <a:srgbClr val="334155"/>
                </a:solidFill>
              </a:rPr>
              <a:t>Shows power going to the tower crane (45 kW), hoists (28 kW), and offices (12 kW).</a:t>
            </a:r>
          </a:p>
          <a:p>
            <a:pPr>
              <a:lnSpc>
                <a:spcPct val="115000"/>
              </a:lnSpc>
              <a:defRPr sz="1050">
                <a:solidFill>
                  <a:srgbClr val="334155"/>
                </a:solidFill>
              </a:defRPr>
            </a:pPr>
            <a:r>
              <a:rPr b="1">
                <a:solidFill>
                  <a:srgbClr val="0F172A"/>
                </a:solidFill>
              </a:rPr>
              <a:t>- Surge Protection: </a:t>
            </a:r>
            <a:r>
              <a:rPr>
                <a:solidFill>
                  <a:srgbClr val="334155"/>
                </a:solidFill>
              </a:rPr>
              <a:t>Absorbs 94 kW motor startup kicks in 4 milliseconds so breakers never trip.</a:t>
            </a:r>
          </a:p>
          <a:p>
            <a:pPr>
              <a:lnSpc>
                <a:spcPct val="115000"/>
              </a:lnSpc>
              <a:defRPr sz="1050">
                <a:solidFill>
                  <a:srgbClr val="334155"/>
                </a:solidFill>
              </a:defRPr>
            </a:pPr>
            <a:r>
              <a:rPr b="1">
                <a:solidFill>
                  <a:srgbClr val="0F172A"/>
                </a:solidFill>
              </a:rPr>
              <a:t>- Rain Warning: </a:t>
            </a:r>
            <a:r>
              <a:rPr>
                <a:solidFill>
                  <a:srgbClr val="334155"/>
                </a:solidFill>
              </a:rPr>
              <a:t>Checks weather radar and pre-charges the battery to 88% before storms hit.</a:t>
            </a:r>
          </a:p>
        </p:txBody>
      </p:sp>
      <p:sp>
        <p:nvSpPr>
          <p:cNvPr id="10" name="Rounded Rectangle 9"/>
          <p:cNvSpPr/>
          <p:nvPr/>
        </p:nvSpPr>
        <p:spPr>
          <a:xfrm>
            <a:off x="4754880" y="3291840"/>
            <a:ext cx="6705295" cy="1463040"/>
          </a:xfrm>
          <a:prstGeom prst="roundRect">
            <a:avLst/>
          </a:prstGeom>
          <a:solidFill>
            <a:srgbClr val="FEF2F2"/>
          </a:solidFill>
          <a:ln w="12700">
            <a:solidFill>
              <a:srgbClr val="D71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3474720"/>
            <a:ext cx="6248095" cy="1097280"/>
          </a:xfrm>
          <a:prstGeom prst="rect">
            <a:avLst/>
          </a:prstGeom>
          <a:noFill/>
        </p:spPr>
        <p:txBody>
          <a:bodyPr wrap="square" lIns="0" rIns="0" tIns="0" bIns="0">
            <a:spAutoFit/>
          </a:bodyPr>
          <a:lstStyle/>
          <a:p>
            <a:pPr>
              <a:defRPr b="1" sz="1300">
                <a:solidFill>
                  <a:srgbClr val="D71920"/>
                </a:solidFill>
              </a:defRPr>
            </a:pPr>
            <a:r>
              <a:t>[SAFETY SCREEN]  2. Environmental Officer Screen (/eo)</a:t>
            </a:r>
          </a:p>
          <a:p>
            <a:pPr>
              <a:defRPr sz="400"/>
            </a:pPr>
          </a:p>
          <a:p>
            <a:pPr>
              <a:lnSpc>
                <a:spcPct val="115000"/>
              </a:lnSpc>
              <a:defRPr sz="1050">
                <a:solidFill>
                  <a:srgbClr val="334155"/>
                </a:solidFill>
              </a:defRPr>
            </a:pPr>
            <a:r>
              <a:rPr b="1">
                <a:solidFill>
                  <a:srgbClr val="0F172A"/>
                </a:solidFill>
              </a:rPr>
              <a:t>- Live Fence Sound Meter: </a:t>
            </a:r>
            <a:r>
              <a:rPr>
                <a:solidFill>
                  <a:srgbClr val="334155"/>
                </a:solidFill>
              </a:rPr>
              <a:t>Shows live sound at 54 dB, safely below the government 60 dB daytime limit.</a:t>
            </a:r>
          </a:p>
          <a:p>
            <a:pPr>
              <a:lnSpc>
                <a:spcPct val="115000"/>
              </a:lnSpc>
              <a:defRPr sz="1050">
                <a:solidFill>
                  <a:srgbClr val="334155"/>
                </a:solidFill>
              </a:defRPr>
            </a:pPr>
            <a:r>
              <a:rPr b="1">
                <a:solidFill>
                  <a:srgbClr val="0F172A"/>
                </a:solidFill>
              </a:rPr>
              <a:t>- Zero Smoke Certified: </a:t>
            </a:r>
            <a:r>
              <a:rPr>
                <a:solidFill>
                  <a:srgbClr val="334155"/>
                </a:solidFill>
              </a:rPr>
              <a:t>Proves zero black smoke and clean air compliance under Malaysian regulations.</a:t>
            </a:r>
          </a:p>
          <a:p>
            <a:pPr>
              <a:lnSpc>
                <a:spcPct val="115000"/>
              </a:lnSpc>
              <a:defRPr sz="1050">
                <a:solidFill>
                  <a:srgbClr val="334155"/>
                </a:solidFill>
              </a:defRPr>
            </a:pPr>
            <a:r>
              <a:rPr b="1">
                <a:solidFill>
                  <a:srgbClr val="0F172A"/>
                </a:solidFill>
              </a:rPr>
              <a:t>- 1-Click PDF Report: </a:t>
            </a:r>
            <a:r>
              <a:rPr>
                <a:solidFill>
                  <a:srgbClr val="334155"/>
                </a:solidFill>
              </a:rPr>
              <a:t>Generates ready-to-print official reports for Department of Environment visits.</a:t>
            </a:r>
          </a:p>
        </p:txBody>
      </p:sp>
      <p:sp>
        <p:nvSpPr>
          <p:cNvPr id="12" name="Rounded Rectangle 11"/>
          <p:cNvSpPr/>
          <p:nvPr/>
        </p:nvSpPr>
        <p:spPr>
          <a:xfrm>
            <a:off x="4754880" y="4937760"/>
            <a:ext cx="6705295" cy="1463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5120640"/>
            <a:ext cx="6248095" cy="1097280"/>
          </a:xfrm>
          <a:prstGeom prst="rect">
            <a:avLst/>
          </a:prstGeom>
          <a:noFill/>
        </p:spPr>
        <p:txBody>
          <a:bodyPr wrap="square" lIns="0" rIns="0" tIns="0" bIns="0">
            <a:spAutoFit/>
          </a:bodyPr>
          <a:lstStyle/>
          <a:p>
            <a:pPr>
              <a:defRPr b="1" sz="1300">
                <a:solidFill>
                  <a:srgbClr val="2563EB"/>
                </a:solidFill>
              </a:defRPr>
            </a:pPr>
            <a:r>
              <a:t>[MANAGEMENT SCREEN]  3. Finance &amp; HQ Screen (/hq)</a:t>
            </a:r>
          </a:p>
          <a:p>
            <a:pPr>
              <a:defRPr sz="400"/>
            </a:pPr>
          </a:p>
          <a:p>
            <a:pPr>
              <a:lnSpc>
                <a:spcPct val="115000"/>
              </a:lnSpc>
              <a:defRPr sz="1050">
                <a:solidFill>
                  <a:srgbClr val="334155"/>
                </a:solidFill>
              </a:defRPr>
            </a:pPr>
            <a:r>
              <a:rPr b="1">
                <a:solidFill>
                  <a:srgbClr val="0F172A"/>
                </a:solidFill>
              </a:rPr>
              <a:t>- Live RM 5.17/L Fuel Ticker: </a:t>
            </a:r>
            <a:r>
              <a:rPr>
                <a:solidFill>
                  <a:srgbClr val="334155"/>
                </a:solidFill>
              </a:rPr>
              <a:t>Shows live cash saved every day based on official Malaysian diesel prices.</a:t>
            </a:r>
          </a:p>
          <a:p>
            <a:pPr>
              <a:lnSpc>
                <a:spcPct val="115000"/>
              </a:lnSpc>
              <a:defRPr sz="1050">
                <a:solidFill>
                  <a:srgbClr val="334155"/>
                </a:solidFill>
              </a:defRPr>
            </a:pPr>
            <a:r>
              <a:rPr b="1">
                <a:solidFill>
                  <a:srgbClr val="0F172A"/>
                </a:solidFill>
              </a:rPr>
              <a:t>- Verified Carbon Cuts: </a:t>
            </a:r>
            <a:r>
              <a:rPr>
                <a:solidFill>
                  <a:srgbClr val="334155"/>
                </a:solidFill>
              </a:rPr>
              <a:t>Calculates real carbon savings for Sime Darby's Bursa Malaysia ESG reports.</a:t>
            </a:r>
          </a:p>
          <a:p>
            <a:pPr>
              <a:lnSpc>
                <a:spcPct val="115000"/>
              </a:lnSpc>
              <a:defRPr sz="1050">
                <a:solidFill>
                  <a:srgbClr val="334155"/>
                </a:solidFill>
              </a:defRPr>
            </a:pPr>
            <a:r>
              <a:rPr b="1">
                <a:solidFill>
                  <a:srgbClr val="0F172A"/>
                </a:solidFill>
              </a:rPr>
              <a:t>- 10-Year Moving Plan: </a:t>
            </a:r>
            <a:r>
              <a:rPr>
                <a:solidFill>
                  <a:srgbClr val="334155"/>
                </a:solidFill>
              </a:rPr>
              <a:t>Tracks where battery containers should move next as township phases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STORY  |  4. INNOVATION</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Why GreenPulse Is Smarter Than Simple Battery Apps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Standard battery apps only show yesterday's charts. GreenPulse actively controls the site in real time.</a:t>
            </a:r>
          </a:p>
        </p:txBody>
      </p:sp>
      <p:sp>
        <p:nvSpPr>
          <p:cNvPr id="6" name="Rounded Rectangle 5"/>
          <p:cNvSpPr/>
          <p:nvPr/>
        </p:nvSpPr>
        <p:spPr>
          <a:xfrm>
            <a:off x="731520" y="164592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23790" cy="1874520"/>
          </a:xfrm>
          <a:prstGeom prst="rect">
            <a:avLst/>
          </a:prstGeom>
          <a:noFill/>
        </p:spPr>
        <p:txBody>
          <a:bodyPr wrap="square" lIns="0" rIns="0" tIns="0" bIns="0">
            <a:spAutoFit/>
          </a:bodyPr>
          <a:lstStyle/>
          <a:p>
            <a:pPr>
              <a:defRPr b="1" sz="1300">
                <a:solidFill>
                  <a:srgbClr val="059669"/>
                </a:solidFill>
              </a:defRPr>
            </a:pPr>
            <a:r>
              <a:t>[INSTANT POWER BOOST]  1. Absorbs Heavy Crane Surges in Under 4ms</a:t>
            </a:r>
          </a:p>
          <a:p>
            <a:pPr>
              <a:defRPr sz="400"/>
            </a:pPr>
          </a:p>
          <a:p>
            <a:pPr>
              <a:lnSpc>
                <a:spcPct val="115000"/>
              </a:lnSpc>
              <a:defRPr sz="1050">
                <a:solidFill>
                  <a:srgbClr val="334155"/>
                </a:solidFill>
              </a:defRPr>
            </a:pPr>
            <a:r>
              <a:rPr b="1">
                <a:solidFill>
                  <a:srgbClr val="0F172A"/>
                </a:solidFill>
              </a:rPr>
              <a:t>- The Problem: </a:t>
            </a:r>
            <a:r>
              <a:rPr>
                <a:solidFill>
                  <a:srgbClr val="334155"/>
                </a:solidFill>
              </a:rPr>
              <a:t>When a 50t crane lifts a 2.5t concrete bucket, motor startup draws 94 kW instantly.</a:t>
            </a:r>
          </a:p>
          <a:p>
            <a:pPr>
              <a:lnSpc>
                <a:spcPct val="115000"/>
              </a:lnSpc>
              <a:defRPr sz="1050">
                <a:solidFill>
                  <a:srgbClr val="334155"/>
                </a:solidFill>
              </a:defRPr>
            </a:pPr>
            <a:r>
              <a:rPr b="1">
                <a:solidFill>
                  <a:srgbClr val="0F172A"/>
                </a:solidFill>
              </a:rPr>
              <a:t>- The Normal Failure: </a:t>
            </a:r>
            <a:r>
              <a:rPr>
                <a:solidFill>
                  <a:srgbClr val="334155"/>
                </a:solidFill>
              </a:rPr>
              <a:t>Standard batteries or weak grid lines dip and trip the main circuit breaker.</a:t>
            </a:r>
          </a:p>
          <a:p>
            <a:pPr>
              <a:lnSpc>
                <a:spcPct val="115000"/>
              </a:lnSpc>
              <a:defRPr sz="1050">
                <a:solidFill>
                  <a:srgbClr val="334155"/>
                </a:solidFill>
              </a:defRPr>
            </a:pPr>
            <a:r>
              <a:rPr b="1">
                <a:solidFill>
                  <a:srgbClr val="0F172A"/>
                </a:solidFill>
              </a:rPr>
              <a:t>- Our Fix: </a:t>
            </a:r>
            <a:r>
              <a:rPr>
                <a:solidFill>
                  <a:srgbClr val="334155"/>
                </a:solidFill>
              </a:rPr>
              <a:t>GreenPulse commands the battery in under 4 milliseconds, smoothing the surge so nothing trips.</a:t>
            </a:r>
          </a:p>
        </p:txBody>
      </p:sp>
      <p:sp>
        <p:nvSpPr>
          <p:cNvPr id="8" name="Rounded Rectangle 7"/>
          <p:cNvSpPr/>
          <p:nvPr/>
        </p:nvSpPr>
        <p:spPr>
          <a:xfrm>
            <a:off x="6278270" y="164592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6870" y="1828800"/>
            <a:ext cx="4723790" cy="1874520"/>
          </a:xfrm>
          <a:prstGeom prst="rect">
            <a:avLst/>
          </a:prstGeom>
          <a:noFill/>
        </p:spPr>
        <p:txBody>
          <a:bodyPr wrap="square" lIns="0" rIns="0" tIns="0" bIns="0">
            <a:spAutoFit/>
          </a:bodyPr>
          <a:lstStyle/>
          <a:p>
            <a:pPr>
              <a:defRPr b="1" sz="1300">
                <a:solidFill>
                  <a:srgbClr val="D97706"/>
                </a:solidFill>
              </a:defRPr>
            </a:pPr>
            <a:r>
              <a:t>[WEATHER FORESIGHT]  2. Predicts Rainstorms Before They Hit</a:t>
            </a:r>
          </a:p>
          <a:p>
            <a:pPr>
              <a:defRPr sz="400"/>
            </a:pPr>
          </a:p>
          <a:p>
            <a:pPr>
              <a:lnSpc>
                <a:spcPct val="115000"/>
              </a:lnSpc>
              <a:defRPr sz="1050">
                <a:solidFill>
                  <a:srgbClr val="334155"/>
                </a:solidFill>
              </a:defRPr>
            </a:pPr>
            <a:r>
              <a:rPr b="1">
                <a:solidFill>
                  <a:srgbClr val="0F172A"/>
                </a:solidFill>
              </a:rPr>
              <a:t>- The Problem: </a:t>
            </a:r>
            <a:r>
              <a:rPr>
                <a:solidFill>
                  <a:srgbClr val="334155"/>
                </a:solidFill>
              </a:rPr>
              <a:t>A heavy afternoon storm can drop solar power from 145 kW down to 20 kW in minutes.</a:t>
            </a:r>
          </a:p>
          <a:p>
            <a:pPr>
              <a:lnSpc>
                <a:spcPct val="115000"/>
              </a:lnSpc>
              <a:defRPr sz="1050">
                <a:solidFill>
                  <a:srgbClr val="334155"/>
                </a:solidFill>
              </a:defRPr>
            </a:pPr>
            <a:r>
              <a:rPr b="1">
                <a:solidFill>
                  <a:srgbClr val="0F172A"/>
                </a:solidFill>
              </a:rPr>
              <a:t>- Radar Connection: </a:t>
            </a:r>
            <a:r>
              <a:rPr>
                <a:solidFill>
                  <a:srgbClr val="334155"/>
                </a:solidFill>
              </a:rPr>
              <a:t>GreenPulse connects to MET Malaysia Doppler radar to spot rain 3 hours ahead.</a:t>
            </a:r>
          </a:p>
          <a:p>
            <a:pPr>
              <a:lnSpc>
                <a:spcPct val="115000"/>
              </a:lnSpc>
              <a:defRPr sz="1050">
                <a:solidFill>
                  <a:srgbClr val="334155"/>
                </a:solidFill>
              </a:defRPr>
            </a:pPr>
            <a:r>
              <a:rPr b="1">
                <a:solidFill>
                  <a:srgbClr val="0F172A"/>
                </a:solidFill>
              </a:rPr>
              <a:t>- Smart Pre-Charge: </a:t>
            </a:r>
            <a:r>
              <a:rPr>
                <a:solidFill>
                  <a:srgbClr val="334155"/>
                </a:solidFill>
              </a:rPr>
              <a:t>Automatically charges the battery to 88% in the morning so you never run out of juice.</a:t>
            </a:r>
          </a:p>
        </p:txBody>
      </p:sp>
      <p:sp>
        <p:nvSpPr>
          <p:cNvPr id="10" name="Rounded Rectangle 9"/>
          <p:cNvSpPr/>
          <p:nvPr/>
        </p:nvSpPr>
        <p:spPr>
          <a:xfrm>
            <a:off x="731520" y="411480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97680"/>
            <a:ext cx="4723790" cy="1874520"/>
          </a:xfrm>
          <a:prstGeom prst="rect">
            <a:avLst/>
          </a:prstGeom>
          <a:noFill/>
        </p:spPr>
        <p:txBody>
          <a:bodyPr wrap="square" lIns="0" rIns="0" tIns="0" bIns="0">
            <a:spAutoFit/>
          </a:bodyPr>
          <a:lstStyle/>
          <a:p>
            <a:pPr>
              <a:defRPr b="1" sz="1300">
                <a:solidFill>
                  <a:srgbClr val="D71920"/>
                </a:solidFill>
              </a:defRPr>
            </a:pPr>
            <a:r>
              <a:t>[NOISE FILTER AI]  3. Filters Out Road Traffic Noise</a:t>
            </a:r>
          </a:p>
          <a:p>
            <a:pPr>
              <a:defRPr sz="400"/>
            </a:pPr>
          </a:p>
          <a:p>
            <a:pPr>
              <a:lnSpc>
                <a:spcPct val="115000"/>
              </a:lnSpc>
              <a:defRPr sz="1050">
                <a:solidFill>
                  <a:srgbClr val="334155"/>
                </a:solidFill>
              </a:defRPr>
            </a:pPr>
            <a:r>
              <a:rPr b="1">
                <a:solidFill>
                  <a:srgbClr val="0F172A"/>
                </a:solidFill>
              </a:rPr>
              <a:t>- The Problem: </a:t>
            </a:r>
            <a:r>
              <a:rPr>
                <a:solidFill>
                  <a:srgbClr val="334155"/>
                </a:solidFill>
              </a:rPr>
              <a:t>Noisy dump trucks driving on public roads outside can trigger false 70 dB noise alarms.</a:t>
            </a:r>
          </a:p>
          <a:p>
            <a:pPr>
              <a:lnSpc>
                <a:spcPct val="115000"/>
              </a:lnSpc>
              <a:defRPr sz="1050">
                <a:solidFill>
                  <a:srgbClr val="334155"/>
                </a:solidFill>
              </a:defRPr>
            </a:pPr>
            <a:r>
              <a:rPr b="1">
                <a:solidFill>
                  <a:srgbClr val="0F172A"/>
                </a:solidFill>
              </a:rPr>
              <a:t>- Smart Separation: </a:t>
            </a:r>
            <a:r>
              <a:rPr>
                <a:solidFill>
                  <a:srgbClr val="334155"/>
                </a:solidFill>
              </a:rPr>
              <a:t>Our audio software separates site machinery noise from passing highway traffic.</a:t>
            </a:r>
          </a:p>
          <a:p>
            <a:pPr>
              <a:lnSpc>
                <a:spcPct val="115000"/>
              </a:lnSpc>
              <a:defRPr sz="1050">
                <a:solidFill>
                  <a:srgbClr val="334155"/>
                </a:solidFill>
              </a:defRPr>
            </a:pPr>
            <a:r>
              <a:rPr b="1">
                <a:solidFill>
                  <a:srgbClr val="0F172A"/>
                </a:solidFill>
              </a:rPr>
              <a:t>- Legal Protection: </a:t>
            </a:r>
            <a:r>
              <a:rPr>
                <a:solidFill>
                  <a:srgbClr val="334155"/>
                </a:solidFill>
              </a:rPr>
              <a:t>Proves to government officers that true site noise is only 54 dB, preventing false fines.</a:t>
            </a:r>
          </a:p>
        </p:txBody>
      </p:sp>
      <p:sp>
        <p:nvSpPr>
          <p:cNvPr id="12" name="Rounded Rectangle 11"/>
          <p:cNvSpPr/>
          <p:nvPr/>
        </p:nvSpPr>
        <p:spPr>
          <a:xfrm>
            <a:off x="6278270" y="411480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6870" y="4297680"/>
            <a:ext cx="4723790" cy="1874520"/>
          </a:xfrm>
          <a:prstGeom prst="rect">
            <a:avLst/>
          </a:prstGeom>
          <a:noFill/>
        </p:spPr>
        <p:txBody>
          <a:bodyPr wrap="square" lIns="0" rIns="0" tIns="0" bIns="0">
            <a:spAutoFit/>
          </a:bodyPr>
          <a:lstStyle/>
          <a:p>
            <a:pPr>
              <a:defRPr b="1" sz="1300">
                <a:solidFill>
                  <a:srgbClr val="2563EB"/>
                </a:solidFill>
              </a:defRPr>
            </a:pPr>
            <a:r>
              <a:t>[TOWNSHIP ASSET]  4. 10-Year Township Reuse (Not a Stranded Cost)</a:t>
            </a:r>
          </a:p>
          <a:p>
            <a:pPr>
              <a:defRPr sz="400"/>
            </a:pPr>
          </a:p>
          <a:p>
            <a:pPr>
              <a:lnSpc>
                <a:spcPct val="115000"/>
              </a:lnSpc>
              <a:defRPr sz="1050">
                <a:solidFill>
                  <a:srgbClr val="334155"/>
                </a:solidFill>
              </a:defRPr>
            </a:pPr>
            <a:r>
              <a:rPr b="1">
                <a:solidFill>
                  <a:srgbClr val="0F172A"/>
                </a:solidFill>
              </a:rPr>
              <a:t>- The Contractor Dilemma: </a:t>
            </a:r>
            <a:r>
              <a:rPr>
                <a:solidFill>
                  <a:srgbClr val="334155"/>
                </a:solidFill>
              </a:rPr>
              <a:t>A contractor on a 2-year job cannot justify buying an expensive battery container.</a:t>
            </a:r>
          </a:p>
          <a:p>
            <a:pPr>
              <a:lnSpc>
                <a:spcPct val="115000"/>
              </a:lnSpc>
              <a:defRPr sz="1050">
                <a:solidFill>
                  <a:srgbClr val="334155"/>
                </a:solidFill>
              </a:defRPr>
            </a:pPr>
            <a:r>
              <a:rPr b="1">
                <a:solidFill>
                  <a:srgbClr val="0F172A"/>
                </a:solidFill>
              </a:rPr>
              <a:t>- The Sime Darby Moat: </a:t>
            </a:r>
            <a:r>
              <a:rPr>
                <a:solidFill>
                  <a:srgbClr val="334155"/>
                </a:solidFill>
              </a:rPr>
              <a:t>Sime Darby masterplans entire townships for 10 to 15 years.</a:t>
            </a:r>
          </a:p>
          <a:p>
            <a:pPr>
              <a:lnSpc>
                <a:spcPct val="115000"/>
              </a:lnSpc>
              <a:defRPr sz="1050">
                <a:solidFill>
                  <a:srgbClr val="334155"/>
                </a:solidFill>
              </a:defRPr>
            </a:pPr>
            <a:r>
              <a:rPr b="1">
                <a:solidFill>
                  <a:srgbClr val="0F172A"/>
                </a:solidFill>
              </a:rPr>
              <a:t>- Sequential Moves: </a:t>
            </a:r>
            <a:r>
              <a:rPr>
                <a:solidFill>
                  <a:srgbClr val="334155"/>
                </a:solidFill>
              </a:rPr>
              <a:t>GreenPulse tracks batteries moving from Putra Heights to Elmina over 10 years, saving RM 9.8M.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PROOF  |  5. HOW IT WORKS</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How Power Flows from the Sun to Heavy Site Machinery</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A simple 4-step loop that runs cleanly on site every day</a:t>
            </a:r>
          </a:p>
        </p:txBody>
      </p:sp>
      <p:sp>
        <p:nvSpPr>
          <p:cNvPr id="6" name="Rounded Rectangle 5"/>
          <p:cNvSpPr/>
          <p:nvPr/>
        </p:nvSpPr>
        <p:spPr>
          <a:xfrm>
            <a:off x="731520" y="1645920"/>
            <a:ext cx="2468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011680" cy="4389120"/>
          </a:xfrm>
          <a:prstGeom prst="rect">
            <a:avLst/>
          </a:prstGeom>
          <a:noFill/>
        </p:spPr>
        <p:txBody>
          <a:bodyPr wrap="square" lIns="0" rIns="0" tIns="0" bIns="0">
            <a:spAutoFit/>
          </a:bodyPr>
          <a:lstStyle/>
          <a:p>
            <a:pPr>
              <a:defRPr b="1" sz="1300">
                <a:solidFill>
                  <a:srgbClr val="0F172A"/>
                </a:solidFill>
              </a:defRPr>
            </a:pPr>
            <a:r>
              <a:t>[1. TELEMETRY]  Step 1: Capture Clean Power</a:t>
            </a:r>
          </a:p>
          <a:p>
            <a:pPr>
              <a:defRPr sz="400"/>
            </a:pPr>
          </a:p>
          <a:p>
            <a:pPr>
              <a:lnSpc>
                <a:spcPct val="115000"/>
              </a:lnSpc>
              <a:defRPr sz="1050">
                <a:solidFill>
                  <a:srgbClr val="334155"/>
                </a:solidFill>
              </a:defRPr>
            </a:pPr>
            <a:r>
              <a:rPr b="1">
                <a:solidFill>
                  <a:srgbClr val="0F172A"/>
                </a:solidFill>
              </a:rPr>
              <a:t>- Solar &amp; Battery: </a:t>
            </a:r>
            <a:r>
              <a:rPr>
                <a:solidFill>
                  <a:srgbClr val="334155"/>
                </a:solidFill>
              </a:rPr>
              <a:t>Temporary solar panels on roofs or ground feed power into a battery storage container.</a:t>
            </a:r>
          </a:p>
          <a:p>
            <a:pPr>
              <a:lnSpc>
                <a:spcPct val="115000"/>
              </a:lnSpc>
              <a:defRPr sz="1050">
                <a:solidFill>
                  <a:srgbClr val="334155"/>
                </a:solidFill>
              </a:defRPr>
            </a:pPr>
            <a:r>
              <a:rPr b="1">
                <a:solidFill>
                  <a:srgbClr val="0F172A"/>
                </a:solidFill>
              </a:rPr>
              <a:t>- Small 4G Box: </a:t>
            </a:r>
            <a:r>
              <a:rPr>
                <a:solidFill>
                  <a:srgbClr val="334155"/>
                </a:solidFill>
              </a:rPr>
              <a:t>A small industrial box connects to the battery and solar inverters on site.</a:t>
            </a:r>
          </a:p>
          <a:p>
            <a:pPr>
              <a:lnSpc>
                <a:spcPct val="115000"/>
              </a:lnSpc>
              <a:defRPr sz="1050">
                <a:solidFill>
                  <a:srgbClr val="334155"/>
                </a:solidFill>
              </a:defRPr>
            </a:pPr>
            <a:r>
              <a:rPr b="1">
                <a:solidFill>
                  <a:srgbClr val="0F172A"/>
                </a:solidFill>
              </a:rPr>
              <a:t>- Fence Sound Meter: </a:t>
            </a:r>
            <a:r>
              <a:rPr>
                <a:solidFill>
                  <a:srgbClr val="334155"/>
                </a:solidFill>
              </a:rPr>
              <a:t>A sound meter on the site hoarding tracks noise levels every second.</a:t>
            </a:r>
          </a:p>
        </p:txBody>
      </p:sp>
      <p:sp>
        <p:nvSpPr>
          <p:cNvPr id="8" name="Rounded Rectangle 7"/>
          <p:cNvSpPr/>
          <p:nvPr/>
        </p:nvSpPr>
        <p:spPr>
          <a:xfrm>
            <a:off x="3483864" y="1645920"/>
            <a:ext cx="2468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2464" y="1828800"/>
            <a:ext cx="2011680" cy="4389120"/>
          </a:xfrm>
          <a:prstGeom prst="rect">
            <a:avLst/>
          </a:prstGeom>
          <a:noFill/>
        </p:spPr>
        <p:txBody>
          <a:bodyPr wrap="square" lIns="0" rIns="0" tIns="0" bIns="0">
            <a:spAutoFit/>
          </a:bodyPr>
          <a:lstStyle/>
          <a:p>
            <a:pPr>
              <a:defRPr b="1" sz="1300">
                <a:solidFill>
                  <a:srgbClr val="D97706"/>
                </a:solidFill>
              </a:defRPr>
            </a:pPr>
            <a:r>
              <a:t>[2. PLANNING]  Step 2: Smart Brain Plans</a:t>
            </a:r>
          </a:p>
          <a:p>
            <a:pPr>
              <a:defRPr sz="400"/>
            </a:pPr>
          </a:p>
          <a:p>
            <a:pPr>
              <a:lnSpc>
                <a:spcPct val="115000"/>
              </a:lnSpc>
              <a:defRPr sz="1050">
                <a:solidFill>
                  <a:srgbClr val="334155"/>
                </a:solidFill>
              </a:defRPr>
            </a:pPr>
            <a:r>
              <a:rPr b="1">
                <a:solidFill>
                  <a:srgbClr val="0F172A"/>
                </a:solidFill>
              </a:rPr>
              <a:t>- Checks Weather: </a:t>
            </a:r>
            <a:r>
              <a:rPr>
                <a:solidFill>
                  <a:srgbClr val="334155"/>
                </a:solidFill>
              </a:rPr>
              <a:t>GreenPulse checks rain radar and plans out power for the next 24 hours.</a:t>
            </a:r>
          </a:p>
          <a:p>
            <a:pPr>
              <a:lnSpc>
                <a:spcPct val="115000"/>
              </a:lnSpc>
              <a:defRPr sz="1050">
                <a:solidFill>
                  <a:srgbClr val="334155"/>
                </a:solidFill>
              </a:defRPr>
            </a:pPr>
            <a:r>
              <a:rPr b="1">
                <a:solidFill>
                  <a:srgbClr val="0F172A"/>
                </a:solidFill>
              </a:rPr>
              <a:t>- Holds Reserve: </a:t>
            </a:r>
            <a:r>
              <a:rPr>
                <a:solidFill>
                  <a:srgbClr val="334155"/>
                </a:solidFill>
              </a:rPr>
              <a:t>Pre-charges the battery before storms so high-priority concrete work never halts.</a:t>
            </a:r>
          </a:p>
          <a:p>
            <a:pPr>
              <a:lnSpc>
                <a:spcPct val="115000"/>
              </a:lnSpc>
              <a:defRPr sz="1050">
                <a:solidFill>
                  <a:srgbClr val="334155"/>
                </a:solidFill>
              </a:defRPr>
            </a:pPr>
            <a:r>
              <a:rPr b="1">
                <a:solidFill>
                  <a:srgbClr val="0F172A"/>
                </a:solidFill>
              </a:rPr>
              <a:t>- Automated Control: </a:t>
            </a:r>
            <a:r>
              <a:rPr>
                <a:solidFill>
                  <a:srgbClr val="334155"/>
                </a:solidFill>
              </a:rPr>
              <a:t>Decides when to store solar and when to supply power to machines.</a:t>
            </a:r>
          </a:p>
        </p:txBody>
      </p:sp>
      <p:sp>
        <p:nvSpPr>
          <p:cNvPr id="10" name="Rounded Rectangle 9"/>
          <p:cNvSpPr/>
          <p:nvPr/>
        </p:nvSpPr>
        <p:spPr>
          <a:xfrm>
            <a:off x="6236208" y="1645920"/>
            <a:ext cx="2468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828800"/>
            <a:ext cx="2011680" cy="4389120"/>
          </a:xfrm>
          <a:prstGeom prst="rect">
            <a:avLst/>
          </a:prstGeom>
          <a:noFill/>
        </p:spPr>
        <p:txBody>
          <a:bodyPr wrap="square" lIns="0" rIns="0" tIns="0" bIns="0">
            <a:spAutoFit/>
          </a:bodyPr>
          <a:lstStyle/>
          <a:p>
            <a:pPr>
              <a:defRPr b="1" sz="1300">
                <a:solidFill>
                  <a:srgbClr val="059669"/>
                </a:solidFill>
              </a:defRPr>
            </a:pPr>
            <a:r>
              <a:t>[3. OPERATIONS]  Step 3: Power the Machines</a:t>
            </a:r>
          </a:p>
          <a:p>
            <a:pPr>
              <a:defRPr sz="400"/>
            </a:pPr>
          </a:p>
          <a:p>
            <a:pPr>
              <a:lnSpc>
                <a:spcPct val="115000"/>
              </a:lnSpc>
              <a:defRPr sz="1050">
                <a:solidFill>
                  <a:srgbClr val="334155"/>
                </a:solidFill>
              </a:defRPr>
            </a:pPr>
            <a:r>
              <a:rPr b="1">
                <a:solidFill>
                  <a:srgbClr val="0F172A"/>
                </a:solidFill>
              </a:rPr>
              <a:t>- Runs Heavy Equipment: </a:t>
            </a:r>
            <a:r>
              <a:rPr>
                <a:solidFill>
                  <a:srgbClr val="334155"/>
                </a:solidFill>
              </a:rPr>
              <a:t>Powers the 50t crane (45 kW), passenger hoists (28 kW), and site offices (12 kW).</a:t>
            </a:r>
          </a:p>
          <a:p>
            <a:pPr>
              <a:lnSpc>
                <a:spcPct val="115000"/>
              </a:lnSpc>
              <a:defRPr sz="1050">
                <a:solidFill>
                  <a:srgbClr val="334155"/>
                </a:solidFill>
              </a:defRPr>
            </a:pPr>
            <a:r>
              <a:rPr b="1">
                <a:solidFill>
                  <a:srgbClr val="0F172A"/>
                </a:solidFill>
              </a:rPr>
              <a:t>- Smooths the Surge: </a:t>
            </a:r>
            <a:r>
              <a:rPr>
                <a:solidFill>
                  <a:srgbClr val="334155"/>
                </a:solidFill>
              </a:rPr>
              <a:t>Instantly absorbs 94 kW motor kicks with zero breaker trips.</a:t>
            </a:r>
          </a:p>
          <a:p>
            <a:pPr>
              <a:lnSpc>
                <a:spcPct val="115000"/>
              </a:lnSpc>
              <a:defRPr sz="1050">
                <a:solidFill>
                  <a:srgbClr val="334155"/>
                </a:solidFill>
              </a:defRPr>
            </a:pPr>
            <a:r>
              <a:rPr b="1">
                <a:solidFill>
                  <a:srgbClr val="0F172A"/>
                </a:solidFill>
              </a:rPr>
              <a:t>- Zero Diesel Burn: </a:t>
            </a:r>
            <a:r>
              <a:rPr>
                <a:solidFill>
                  <a:srgbClr val="334155"/>
                </a:solidFill>
              </a:rPr>
              <a:t>Clean, steady 415V power all day with zero fuel used.</a:t>
            </a:r>
          </a:p>
        </p:txBody>
      </p:sp>
      <p:sp>
        <p:nvSpPr>
          <p:cNvPr id="12" name="Rounded Rectangle 11"/>
          <p:cNvSpPr/>
          <p:nvPr/>
        </p:nvSpPr>
        <p:spPr>
          <a:xfrm>
            <a:off x="8988552" y="1645920"/>
            <a:ext cx="2468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17152" y="1828800"/>
            <a:ext cx="2011680" cy="4389120"/>
          </a:xfrm>
          <a:prstGeom prst="rect">
            <a:avLst/>
          </a:prstGeom>
          <a:noFill/>
        </p:spPr>
        <p:txBody>
          <a:bodyPr wrap="square" lIns="0" rIns="0" tIns="0" bIns="0">
            <a:spAutoFit/>
          </a:bodyPr>
          <a:lstStyle/>
          <a:p>
            <a:pPr>
              <a:defRPr b="1" sz="1300">
                <a:solidFill>
                  <a:srgbClr val="2563EB"/>
                </a:solidFill>
              </a:defRPr>
            </a:pPr>
            <a:r>
              <a:t>[4. REPORTING]  Step 4: Automatic Reports</a:t>
            </a:r>
          </a:p>
          <a:p>
            <a:pPr>
              <a:defRPr sz="400"/>
            </a:pPr>
          </a:p>
          <a:p>
            <a:pPr>
              <a:lnSpc>
                <a:spcPct val="115000"/>
              </a:lnSpc>
              <a:defRPr sz="1050">
                <a:solidFill>
                  <a:srgbClr val="334155"/>
                </a:solidFill>
              </a:defRPr>
            </a:pPr>
            <a:r>
              <a:rPr b="1">
                <a:solidFill>
                  <a:srgbClr val="0F172A"/>
                </a:solidFill>
              </a:rPr>
              <a:t>- Noise Verified: </a:t>
            </a:r>
            <a:r>
              <a:rPr>
                <a:solidFill>
                  <a:srgbClr val="334155"/>
                </a:solidFill>
              </a:rPr>
              <a:t>Logs that fence noise stayed at 54 dB, safely below government limits.</a:t>
            </a:r>
          </a:p>
          <a:p>
            <a:pPr>
              <a:lnSpc>
                <a:spcPct val="115000"/>
              </a:lnSpc>
              <a:defRPr sz="1050">
                <a:solidFill>
                  <a:srgbClr val="334155"/>
                </a:solidFill>
              </a:defRPr>
            </a:pPr>
            <a:r>
              <a:rPr b="1">
                <a:solidFill>
                  <a:srgbClr val="0F172A"/>
                </a:solidFill>
              </a:rPr>
              <a:t>- 1-Click Audit Export: </a:t>
            </a:r>
            <a:r>
              <a:rPr>
                <a:solidFill>
                  <a:srgbClr val="334155"/>
                </a:solidFill>
              </a:rPr>
              <a:t>Site officers download ready-to-sign DOE environmental reports in seconds.</a:t>
            </a:r>
          </a:p>
          <a:p>
            <a:pPr>
              <a:lnSpc>
                <a:spcPct val="115000"/>
              </a:lnSpc>
              <a:defRPr sz="1050">
                <a:solidFill>
                  <a:srgbClr val="334155"/>
                </a:solidFill>
              </a:defRPr>
            </a:pPr>
            <a:r>
              <a:rPr b="1">
                <a:solidFill>
                  <a:srgbClr val="0F172A"/>
                </a:solidFill>
              </a:rPr>
              <a:t>- Pushes to HQ: </a:t>
            </a:r>
            <a:r>
              <a:rPr>
                <a:solidFill>
                  <a:srgbClr val="334155"/>
                </a:solidFill>
              </a:rPr>
              <a:t>Sends verified carbon reduction figures straight to Sime Darby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PROOF  |  6. IMPACT</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The Real Numbers: Money Saved, Payback, and Cleaner Air</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Based on real Malaysian commercial fuel prices, rental invoices, and government emission numbers</a:t>
            </a:r>
          </a:p>
        </p:txBody>
      </p:sp>
      <p:sp>
        <p:nvSpPr>
          <p:cNvPr id="6" name="Rounded Rectangle 5"/>
          <p:cNvSpPr/>
          <p:nvPr/>
        </p:nvSpPr>
        <p:spPr>
          <a:xfrm>
            <a:off x="731520" y="164592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23790" cy="1874520"/>
          </a:xfrm>
          <a:prstGeom prst="rect">
            <a:avLst/>
          </a:prstGeom>
          <a:noFill/>
        </p:spPr>
        <p:txBody>
          <a:bodyPr wrap="square" lIns="0" rIns="0" tIns="0" bIns="0">
            <a:spAutoFit/>
          </a:bodyPr>
          <a:lstStyle/>
          <a:p>
            <a:pPr>
              <a:defRPr b="1" sz="1300">
                <a:solidFill>
                  <a:srgbClr val="059669"/>
                </a:solidFill>
              </a:defRPr>
            </a:pPr>
            <a:r>
              <a:t>[CASH SAVINGS]  Save RM 125,000 Every Month per Site</a:t>
            </a:r>
          </a:p>
          <a:p>
            <a:pPr>
              <a:defRPr sz="400"/>
            </a:pPr>
          </a:p>
          <a:p>
            <a:pPr>
              <a:lnSpc>
                <a:spcPct val="115000"/>
              </a:lnSpc>
              <a:defRPr sz="1050">
                <a:solidFill>
                  <a:srgbClr val="334155"/>
                </a:solidFill>
              </a:defRPr>
            </a:pPr>
            <a:r>
              <a:rPr b="1">
                <a:solidFill>
                  <a:srgbClr val="0F172A"/>
                </a:solidFill>
              </a:rPr>
              <a:t>- Avoided Diesel Bill: </a:t>
            </a:r>
            <a:r>
              <a:rPr>
                <a:solidFill>
                  <a:srgbClr val="334155"/>
                </a:solidFill>
              </a:rPr>
              <a:t>Displaces 14,000 liters of commercial diesel @ RM 5.17 / L = RM 72,380 in saved fuel.</a:t>
            </a:r>
          </a:p>
          <a:p>
            <a:pPr>
              <a:lnSpc>
                <a:spcPct val="115000"/>
              </a:lnSpc>
              <a:defRPr sz="1050">
                <a:solidFill>
                  <a:srgbClr val="334155"/>
                </a:solidFill>
              </a:defRPr>
            </a:pPr>
            <a:r>
              <a:rPr b="1">
                <a:solidFill>
                  <a:srgbClr val="0F172A"/>
                </a:solidFill>
              </a:rPr>
              <a:t>- Cancelled Rental: </a:t>
            </a:r>
            <a:r>
              <a:rPr>
                <a:solidFill>
                  <a:srgbClr val="334155"/>
                </a:solidFill>
              </a:rPr>
              <a:t>Stops renting 500 kVA generators &amp; maintenance = RM 30,000 to RM 52,000 saved.</a:t>
            </a:r>
          </a:p>
          <a:p>
            <a:pPr>
              <a:lnSpc>
                <a:spcPct val="115000"/>
              </a:lnSpc>
              <a:defRPr sz="1050">
                <a:solidFill>
                  <a:srgbClr val="334155"/>
                </a:solidFill>
              </a:defRPr>
            </a:pPr>
            <a:r>
              <a:rPr b="1">
                <a:solidFill>
                  <a:srgbClr val="0F172A"/>
                </a:solidFill>
              </a:rPr>
              <a:t>- Total Monthly Savings: </a:t>
            </a:r>
            <a:r>
              <a:rPr>
                <a:solidFill>
                  <a:srgbClr val="334155"/>
                </a:solidFill>
              </a:rPr>
              <a:t>RM 125,000 cash saved on every active site, every month.</a:t>
            </a:r>
          </a:p>
        </p:txBody>
      </p:sp>
      <p:sp>
        <p:nvSpPr>
          <p:cNvPr id="8" name="Rounded Rectangle 7"/>
          <p:cNvSpPr/>
          <p:nvPr/>
        </p:nvSpPr>
        <p:spPr>
          <a:xfrm>
            <a:off x="6278270" y="164592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6870" y="1828800"/>
            <a:ext cx="4723790" cy="1874520"/>
          </a:xfrm>
          <a:prstGeom prst="rect">
            <a:avLst/>
          </a:prstGeom>
          <a:noFill/>
        </p:spPr>
        <p:txBody>
          <a:bodyPr wrap="square" lIns="0" rIns="0" tIns="0" bIns="0">
            <a:spAutoFit/>
          </a:bodyPr>
          <a:lstStyle/>
          <a:p>
            <a:pPr>
              <a:defRPr b="1" sz="1300">
                <a:solidFill>
                  <a:srgbClr val="D97706"/>
                </a:solidFill>
              </a:defRPr>
            </a:pPr>
            <a:r>
              <a:t>[FAST PAYBACK]  Full Payback in Just 14 Months</a:t>
            </a:r>
          </a:p>
          <a:p>
            <a:pPr>
              <a:defRPr sz="400"/>
            </a:pPr>
          </a:p>
          <a:p>
            <a:pPr>
              <a:lnSpc>
                <a:spcPct val="115000"/>
              </a:lnSpc>
              <a:defRPr sz="1050">
                <a:solidFill>
                  <a:srgbClr val="334155"/>
                </a:solidFill>
              </a:defRPr>
            </a:pPr>
            <a:r>
              <a:rPr b="1">
                <a:solidFill>
                  <a:srgbClr val="0F172A"/>
                </a:solidFill>
              </a:rPr>
              <a:t>- Net Cash After Payments: </a:t>
            </a:r>
            <a:r>
              <a:rPr>
                <a:solidFill>
                  <a:srgbClr val="334155"/>
                </a:solidFill>
              </a:rPr>
              <a:t>After paying monthly battery equipment financing (RM 18,500/mo), net savings are RM 106,000/mo.</a:t>
            </a:r>
          </a:p>
          <a:p>
            <a:pPr>
              <a:lnSpc>
                <a:spcPct val="115000"/>
              </a:lnSpc>
              <a:defRPr sz="1050">
                <a:solidFill>
                  <a:srgbClr val="334155"/>
                </a:solidFill>
              </a:defRPr>
            </a:pPr>
            <a:r>
              <a:rPr b="1">
                <a:solidFill>
                  <a:srgbClr val="0F172A"/>
                </a:solidFill>
              </a:rPr>
              <a:t>- 14-Month Breakeven: </a:t>
            </a:r>
            <a:r>
              <a:rPr>
                <a:solidFill>
                  <a:srgbClr val="334155"/>
                </a:solidFill>
              </a:rPr>
              <a:t>The entire battery setup pays for itself in 14.2 months.</a:t>
            </a:r>
          </a:p>
          <a:p>
            <a:pPr>
              <a:lnSpc>
                <a:spcPct val="115000"/>
              </a:lnSpc>
              <a:defRPr sz="1050">
                <a:solidFill>
                  <a:srgbClr val="334155"/>
                </a:solidFill>
              </a:defRPr>
            </a:pPr>
            <a:r>
              <a:rPr b="1">
                <a:solidFill>
                  <a:srgbClr val="0F172A"/>
                </a:solidFill>
              </a:rPr>
              <a:t>- Within 1 Project: </a:t>
            </a:r>
            <a:r>
              <a:rPr>
                <a:solidFill>
                  <a:srgbClr val="334155"/>
                </a:solidFill>
              </a:rPr>
              <a:t>Fully paid off well before a standard 24-month building contract finishes.</a:t>
            </a:r>
          </a:p>
        </p:txBody>
      </p:sp>
      <p:sp>
        <p:nvSpPr>
          <p:cNvPr id="10" name="Rounded Rectangle 9"/>
          <p:cNvSpPr/>
          <p:nvPr/>
        </p:nvSpPr>
        <p:spPr>
          <a:xfrm>
            <a:off x="731520" y="411480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97680"/>
            <a:ext cx="4723790" cy="1874520"/>
          </a:xfrm>
          <a:prstGeom prst="rect">
            <a:avLst/>
          </a:prstGeom>
          <a:noFill/>
        </p:spPr>
        <p:txBody>
          <a:bodyPr wrap="square" lIns="0" rIns="0" tIns="0" bIns="0">
            <a:spAutoFit/>
          </a:bodyPr>
          <a:lstStyle/>
          <a:p>
            <a:pPr>
              <a:defRPr b="1" sz="1300">
                <a:solidFill>
                  <a:srgbClr val="D71920"/>
                </a:solidFill>
              </a:defRPr>
            </a:pPr>
            <a:r>
              <a:t>[CARBON CUT]  Cut Construction Carbon by 77%</a:t>
            </a:r>
          </a:p>
          <a:p>
            <a:pPr>
              <a:defRPr sz="400"/>
            </a:pPr>
          </a:p>
          <a:p>
            <a:pPr>
              <a:lnSpc>
                <a:spcPct val="115000"/>
              </a:lnSpc>
              <a:defRPr sz="1050">
                <a:solidFill>
                  <a:srgbClr val="334155"/>
                </a:solidFill>
              </a:defRPr>
            </a:pPr>
            <a:r>
              <a:rPr b="1">
                <a:solidFill>
                  <a:srgbClr val="0F172A"/>
                </a:solidFill>
              </a:rPr>
              <a:t>- 49 Tonnes CO2 Avoided: </a:t>
            </a:r>
            <a:r>
              <a:rPr>
                <a:solidFill>
                  <a:srgbClr val="334155"/>
                </a:solidFill>
              </a:rPr>
              <a:t>Cuts 49.3 tonnes of carbon emissions every month on every site.</a:t>
            </a:r>
          </a:p>
          <a:p>
            <a:pPr>
              <a:lnSpc>
                <a:spcPct val="115000"/>
              </a:lnSpc>
              <a:defRPr sz="1050">
                <a:solidFill>
                  <a:srgbClr val="334155"/>
                </a:solidFill>
              </a:defRPr>
            </a:pPr>
            <a:r>
              <a:rPr b="1">
                <a:solidFill>
                  <a:srgbClr val="0F172A"/>
                </a:solidFill>
              </a:rPr>
              <a:t>- Clean Air Compliance: </a:t>
            </a:r>
            <a:r>
              <a:rPr>
                <a:solidFill>
                  <a:srgbClr val="334155"/>
                </a:solidFill>
              </a:rPr>
              <a:t>Zero particulate matter, zero diesel fumes, and zero black smoke on site.</a:t>
            </a:r>
          </a:p>
          <a:p>
            <a:pPr>
              <a:lnSpc>
                <a:spcPct val="115000"/>
              </a:lnSpc>
              <a:defRPr sz="1050">
                <a:solidFill>
                  <a:srgbClr val="334155"/>
                </a:solidFill>
              </a:defRPr>
            </a:pPr>
            <a:r>
              <a:rPr b="1">
                <a:solidFill>
                  <a:srgbClr val="0F172A"/>
                </a:solidFill>
              </a:rPr>
              <a:t>- Helps Sime Darby Hit Targets: </a:t>
            </a:r>
            <a:r>
              <a:rPr>
                <a:solidFill>
                  <a:srgbClr val="334155"/>
                </a:solidFill>
              </a:rPr>
              <a:t>Directly supports Sime Darby's goal to cut operational carbon 40% by 2030.</a:t>
            </a:r>
          </a:p>
        </p:txBody>
      </p:sp>
      <p:sp>
        <p:nvSpPr>
          <p:cNvPr id="12" name="Rounded Rectangle 11"/>
          <p:cNvSpPr/>
          <p:nvPr/>
        </p:nvSpPr>
        <p:spPr>
          <a:xfrm>
            <a:off x="6278270" y="4114800"/>
            <a:ext cx="518099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6870" y="4297680"/>
            <a:ext cx="4723790" cy="1874520"/>
          </a:xfrm>
          <a:prstGeom prst="rect">
            <a:avLst/>
          </a:prstGeom>
          <a:noFill/>
        </p:spPr>
        <p:txBody>
          <a:bodyPr wrap="square" lIns="0" rIns="0" tIns="0" bIns="0">
            <a:spAutoFit/>
          </a:bodyPr>
          <a:lstStyle/>
          <a:p>
            <a:pPr>
              <a:defRPr b="1" sz="1300">
                <a:solidFill>
                  <a:srgbClr val="2563EB"/>
                </a:solidFill>
              </a:defRPr>
            </a:pPr>
            <a:r>
              <a:t>[QUIET &amp; PEACEFUL]  88% Quieter (Zero Noise Complaints)</a:t>
            </a:r>
          </a:p>
          <a:p>
            <a:pPr>
              <a:defRPr sz="400"/>
            </a:pPr>
          </a:p>
          <a:p>
            <a:pPr>
              <a:lnSpc>
                <a:spcPct val="115000"/>
              </a:lnSpc>
              <a:defRPr sz="1050">
                <a:solidFill>
                  <a:srgbClr val="334155"/>
                </a:solidFill>
              </a:defRPr>
            </a:pPr>
            <a:r>
              <a:rPr b="1">
                <a:solidFill>
                  <a:srgbClr val="0F172A"/>
                </a:solidFill>
              </a:rPr>
              <a:t>- Down to 54 Decibels: </a:t>
            </a:r>
            <a:r>
              <a:rPr>
                <a:solidFill>
                  <a:srgbClr val="334155"/>
                </a:solidFill>
              </a:rPr>
              <a:t>Replaces an 82 dB continuous generator drone with a quiet 54 dB battery.</a:t>
            </a:r>
          </a:p>
          <a:p>
            <a:pPr>
              <a:lnSpc>
                <a:spcPct val="115000"/>
              </a:lnSpc>
              <a:defRPr sz="1050">
                <a:solidFill>
                  <a:srgbClr val="334155"/>
                </a:solidFill>
              </a:defRPr>
            </a:pPr>
            <a:r>
              <a:rPr b="1">
                <a:solidFill>
                  <a:srgbClr val="0F172A"/>
                </a:solidFill>
              </a:rPr>
              <a:t>- Safely Below Legal Limits: </a:t>
            </a:r>
            <a:r>
              <a:rPr>
                <a:solidFill>
                  <a:srgbClr val="334155"/>
                </a:solidFill>
              </a:rPr>
              <a:t>Well below the government 60 dB daytime residential noise limit.</a:t>
            </a:r>
          </a:p>
          <a:p>
            <a:pPr>
              <a:lnSpc>
                <a:spcPct val="115000"/>
              </a:lnSpc>
              <a:defRPr sz="1050">
                <a:solidFill>
                  <a:srgbClr val="334155"/>
                </a:solidFill>
              </a:defRPr>
            </a:pPr>
            <a:r>
              <a:rPr b="1">
                <a:solidFill>
                  <a:srgbClr val="0F172A"/>
                </a:solidFill>
              </a:rPr>
              <a:t>- No Stop-Work Orders: </a:t>
            </a:r>
            <a:r>
              <a:rPr>
                <a:solidFill>
                  <a:srgbClr val="334155"/>
                </a:solidFill>
              </a:rPr>
              <a:t>Keeps neighbors happy and prevents costly government shutdown penalties.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PROOF  |  7. FEASIBILITY</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This Uses Proven Equipment That Is on Sites Today</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Zero unproven technology—GreenPulse works with commercial batteries already used in Malaysia</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059669"/>
                </a:solidFill>
              </a:defRPr>
            </a:pPr>
            <a:r>
              <a:t>[HARDWARE READY]  1. Proven Commercial Batteries</a:t>
            </a:r>
          </a:p>
          <a:p>
            <a:pPr>
              <a:defRPr sz="400"/>
            </a:pPr>
          </a:p>
          <a:p>
            <a:pPr>
              <a:lnSpc>
                <a:spcPct val="115000"/>
              </a:lnSpc>
              <a:defRPr sz="1050">
                <a:solidFill>
                  <a:srgbClr val="334155"/>
                </a:solidFill>
              </a:defRPr>
            </a:pPr>
            <a:r>
              <a:rPr b="1">
                <a:solidFill>
                  <a:srgbClr val="0F172A"/>
                </a:solidFill>
              </a:rPr>
              <a:t>- Existing Hardware: </a:t>
            </a:r>
            <a:r>
              <a:rPr>
                <a:solidFill>
                  <a:srgbClr val="334155"/>
                </a:solidFill>
              </a:rPr>
              <a:t>Built to run standard container batteries: MegaBatt 130 kW / 261 kWh and 522 kWh units.</a:t>
            </a:r>
          </a:p>
          <a:p>
            <a:pPr>
              <a:lnSpc>
                <a:spcPct val="115000"/>
              </a:lnSpc>
              <a:defRPr sz="1050">
                <a:solidFill>
                  <a:srgbClr val="334155"/>
                </a:solidFill>
              </a:defRPr>
            </a:pPr>
            <a:r>
              <a:rPr b="1">
                <a:solidFill>
                  <a:srgbClr val="0F172A"/>
                </a:solidFill>
              </a:rPr>
              <a:t>- Already Used in Malaysia: </a:t>
            </a:r>
            <a:r>
              <a:rPr>
                <a:solidFill>
                  <a:srgbClr val="334155"/>
                </a:solidFill>
              </a:rPr>
              <a:t>Inta Bina already uses these exact MegaBatt containers at sites like P196 and Johan Setia.</a:t>
            </a:r>
          </a:p>
          <a:p>
            <a:pPr>
              <a:lnSpc>
                <a:spcPct val="115000"/>
              </a:lnSpc>
              <a:defRPr sz="1050">
                <a:solidFill>
                  <a:srgbClr val="334155"/>
                </a:solidFill>
              </a:defRPr>
            </a:pPr>
            <a:r>
              <a:rPr b="1">
                <a:solidFill>
                  <a:srgbClr val="0F172A"/>
                </a:solidFill>
              </a:rPr>
              <a:t>- Safe LFP Chemistry: </a:t>
            </a:r>
            <a:r>
              <a:rPr>
                <a:solidFill>
                  <a:srgbClr val="334155"/>
                </a:solidFill>
              </a:rPr>
              <a:t>Uses Tier-1 lithium iron phosphate (LFP) cells rated for 6,000+ cycles with built-in aerosol fire suppression.</a:t>
            </a:r>
          </a:p>
          <a:p>
            <a:pPr>
              <a:lnSpc>
                <a:spcPct val="115000"/>
              </a:lnSpc>
              <a:defRPr sz="1050">
                <a:solidFill>
                  <a:srgbClr val="334155"/>
                </a:solidFill>
              </a:defRPr>
            </a:pPr>
            <a:r>
              <a:rPr b="1">
                <a:solidFill>
                  <a:srgbClr val="0F172A"/>
                </a:solidFill>
              </a:rPr>
              <a:t>- No Hardware Delay: </a:t>
            </a:r>
            <a:r>
              <a:rPr>
                <a:solidFill>
                  <a:srgbClr val="334155"/>
                </a:solidFill>
              </a:rPr>
              <a:t>Ready to deploy immediately without waiting for custom manufacturing.</a:t>
            </a:r>
          </a:p>
        </p:txBody>
      </p:sp>
      <p:sp>
        <p:nvSpPr>
          <p:cNvPr id="8" name="Rounded Rectangle 7"/>
          <p:cNvSpPr/>
          <p:nvPr/>
        </p:nvSpPr>
        <p:spPr>
          <a:xfrm>
            <a:off x="4425696"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4389120"/>
          </a:xfrm>
          <a:prstGeom prst="rect">
            <a:avLst/>
          </a:prstGeom>
          <a:noFill/>
        </p:spPr>
        <p:txBody>
          <a:bodyPr wrap="square" lIns="0" rIns="0" tIns="0" bIns="0">
            <a:spAutoFit/>
          </a:bodyPr>
          <a:lstStyle/>
          <a:p>
            <a:pPr>
              <a:defRPr b="1" sz="1300">
                <a:solidFill>
                  <a:srgbClr val="0F172A"/>
                </a:solidFill>
              </a:defRPr>
            </a:pPr>
            <a:r>
              <a:t>[EASY INTEGRATION]  2. Standard Plug-and-Play Setup</a:t>
            </a:r>
          </a:p>
          <a:p>
            <a:pPr>
              <a:defRPr sz="400"/>
            </a:pPr>
          </a:p>
          <a:p>
            <a:pPr>
              <a:lnSpc>
                <a:spcPct val="115000"/>
              </a:lnSpc>
              <a:defRPr sz="1050">
                <a:solidFill>
                  <a:srgbClr val="334155"/>
                </a:solidFill>
              </a:defRPr>
            </a:pPr>
            <a:r>
              <a:rPr b="1">
                <a:solidFill>
                  <a:srgbClr val="0F172A"/>
                </a:solidFill>
              </a:rPr>
              <a:t>- Standard Cables: </a:t>
            </a:r>
            <a:r>
              <a:rPr>
                <a:solidFill>
                  <a:srgbClr val="334155"/>
                </a:solidFill>
              </a:rPr>
              <a:t>Connects to standard inverters and battery boxes using regular industrial cables (Modbus &amp; RS485).</a:t>
            </a:r>
          </a:p>
          <a:p>
            <a:pPr>
              <a:lnSpc>
                <a:spcPct val="115000"/>
              </a:lnSpc>
              <a:defRPr sz="1050">
                <a:solidFill>
                  <a:srgbClr val="334155"/>
                </a:solidFill>
              </a:defRPr>
            </a:pPr>
            <a:r>
              <a:rPr b="1">
                <a:solidFill>
                  <a:srgbClr val="0F172A"/>
                </a:solidFill>
              </a:rPr>
              <a:t>- Standard Sound Meters: </a:t>
            </a:r>
            <a:r>
              <a:rPr>
                <a:solidFill>
                  <a:srgbClr val="334155"/>
                </a:solidFill>
              </a:rPr>
              <a:t>Plugs into standard digital sound meters placed at the site fence.</a:t>
            </a:r>
          </a:p>
          <a:p>
            <a:pPr>
              <a:lnSpc>
                <a:spcPct val="115000"/>
              </a:lnSpc>
              <a:defRPr sz="1050">
                <a:solidFill>
                  <a:srgbClr val="334155"/>
                </a:solidFill>
              </a:defRPr>
            </a:pPr>
            <a:r>
              <a:rPr b="1">
                <a:solidFill>
                  <a:srgbClr val="0F172A"/>
                </a:solidFill>
              </a:rPr>
              <a:t>- Runs Safely Offline: </a:t>
            </a:r>
            <a:r>
              <a:rPr>
                <a:solidFill>
                  <a:srgbClr val="334155"/>
                </a:solidFill>
              </a:rPr>
              <a:t>Stores 30 days of data locally on the gateway box. If mobile internet drops, power dispatch never stops.</a:t>
            </a:r>
          </a:p>
          <a:p>
            <a:pPr>
              <a:lnSpc>
                <a:spcPct val="115000"/>
              </a:lnSpc>
              <a:defRPr sz="1050">
                <a:solidFill>
                  <a:srgbClr val="334155"/>
                </a:solidFill>
              </a:defRPr>
            </a:pPr>
            <a:r>
              <a:rPr b="1">
                <a:solidFill>
                  <a:srgbClr val="0F172A"/>
                </a:solidFill>
              </a:rPr>
              <a:t>- Non-Invasive: </a:t>
            </a:r>
            <a:r>
              <a:rPr>
                <a:solidFill>
                  <a:srgbClr val="334155"/>
                </a:solidFill>
              </a:rPr>
              <a:t>Requires zero changes to the site's electrical design or crane setup.</a:t>
            </a:r>
          </a:p>
        </p:txBody>
      </p:sp>
      <p:sp>
        <p:nvSpPr>
          <p:cNvPr id="10" name="Rounded Rectangle 9"/>
          <p:cNvSpPr/>
          <p:nvPr/>
        </p:nvSpPr>
        <p:spPr>
          <a:xfrm>
            <a:off x="8119872"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4389120"/>
          </a:xfrm>
          <a:prstGeom prst="rect">
            <a:avLst/>
          </a:prstGeom>
          <a:noFill/>
        </p:spPr>
        <p:txBody>
          <a:bodyPr wrap="square" lIns="0" rIns="0" tIns="0" bIns="0">
            <a:spAutoFit/>
          </a:bodyPr>
          <a:lstStyle/>
          <a:p>
            <a:pPr>
              <a:defRPr b="1" sz="1300">
                <a:solidFill>
                  <a:srgbClr val="2563EB"/>
                </a:solidFill>
              </a:defRPr>
            </a:pPr>
            <a:r>
              <a:t>[WORKING SOFTWARE]  3. Working Prototype Built Today</a:t>
            </a:r>
          </a:p>
          <a:p>
            <a:pPr>
              <a:defRPr sz="400"/>
            </a:pPr>
          </a:p>
          <a:p>
            <a:pPr>
              <a:lnSpc>
                <a:spcPct val="115000"/>
              </a:lnSpc>
              <a:defRPr sz="1050">
                <a:solidFill>
                  <a:srgbClr val="334155"/>
                </a:solidFill>
              </a:defRPr>
            </a:pPr>
            <a:r>
              <a:rPr b="1">
                <a:solidFill>
                  <a:srgbClr val="0F172A"/>
                </a:solidFill>
              </a:rPr>
              <a:t>- Live Web Platform: </a:t>
            </a:r>
            <a:r>
              <a:rPr>
                <a:solidFill>
                  <a:srgbClr val="334155"/>
                </a:solidFill>
              </a:rPr>
              <a:t>We have a fully working prototype with all three role-based screens built and running.</a:t>
            </a:r>
          </a:p>
          <a:p>
            <a:pPr>
              <a:lnSpc>
                <a:spcPct val="115000"/>
              </a:lnSpc>
              <a:defRPr sz="1050">
                <a:solidFill>
                  <a:srgbClr val="334155"/>
                </a:solidFill>
              </a:defRPr>
            </a:pPr>
            <a:r>
              <a:rPr b="1">
                <a:solidFill>
                  <a:srgbClr val="0F172A"/>
                </a:solidFill>
              </a:rPr>
              <a:t>- Real Math &amp; Models: </a:t>
            </a:r>
            <a:r>
              <a:rPr>
                <a:solidFill>
                  <a:srgbClr val="334155"/>
                </a:solidFill>
              </a:rPr>
              <a:t>Runs live simulations for crane motor surges, rainstorm radar drops, and monthly cost savings.</a:t>
            </a:r>
          </a:p>
          <a:p>
            <a:pPr>
              <a:lnSpc>
                <a:spcPct val="115000"/>
              </a:lnSpc>
              <a:defRPr sz="1050">
                <a:solidFill>
                  <a:srgbClr val="334155"/>
                </a:solidFill>
              </a:defRPr>
            </a:pPr>
            <a:r>
              <a:rPr b="1">
                <a:solidFill>
                  <a:srgbClr val="0F172A"/>
                </a:solidFill>
              </a:rPr>
              <a:t>- Ready for Tender Docs: </a:t>
            </a:r>
            <a:r>
              <a:rPr>
                <a:solidFill>
                  <a:srgbClr val="334155"/>
                </a:solidFill>
              </a:rPr>
              <a:t>We have prepared sample tender clauses ready to insert into Sime Darby contractor documents.</a:t>
            </a:r>
          </a:p>
          <a:p>
            <a:pPr>
              <a:lnSpc>
                <a:spcPct val="115000"/>
              </a:lnSpc>
              <a:defRPr sz="1050">
                <a:solidFill>
                  <a:srgbClr val="334155"/>
                </a:solidFill>
              </a:defRPr>
            </a:pPr>
            <a:r>
              <a:rPr b="1">
                <a:solidFill>
                  <a:srgbClr val="0F172A"/>
                </a:solidFill>
              </a:rPr>
              <a:t>- High Reliability: </a:t>
            </a:r>
            <a:r>
              <a:rPr>
                <a:solidFill>
                  <a:srgbClr val="334155"/>
                </a:solidFill>
              </a:rPr>
              <a:t>Software SLA guarantees 99.9% power availability for construction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D71920"/>
                </a:solidFill>
              </a:defRPr>
            </a:pPr>
            <a:r>
              <a:t>THE PROOF  |  8. IMPLEMENTATION</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12-Week Pilot Plan &amp; 10-Year Value for Sime Darby</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Start with a quick site test, then scale across township developments for a decade of savings</a:t>
            </a:r>
          </a:p>
        </p:txBody>
      </p:sp>
      <p:sp>
        <p:nvSpPr>
          <p:cNvPr id="6" name="Rounded Rectangle 5"/>
          <p:cNvSpPr/>
          <p:nvPr/>
        </p:nvSpPr>
        <p:spPr>
          <a:xfrm>
            <a:off x="731520" y="1645920"/>
            <a:ext cx="518099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723790" cy="4389120"/>
          </a:xfrm>
          <a:prstGeom prst="rect">
            <a:avLst/>
          </a:prstGeom>
          <a:noFill/>
        </p:spPr>
        <p:txBody>
          <a:bodyPr wrap="square" lIns="0" rIns="0" tIns="0" bIns="0">
            <a:spAutoFit/>
          </a:bodyPr>
          <a:lstStyle/>
          <a:p>
            <a:pPr>
              <a:defRPr b="1" sz="1300">
                <a:solidFill>
                  <a:srgbClr val="D71920"/>
                </a:solidFill>
              </a:defRPr>
            </a:pPr>
            <a:r>
              <a:t>[12-WEEK PILOT]  12-Week Pilot Execution Plan</a:t>
            </a:r>
          </a:p>
          <a:p>
            <a:pPr>
              <a:defRPr sz="400"/>
            </a:pPr>
          </a:p>
          <a:p>
            <a:pPr>
              <a:lnSpc>
                <a:spcPct val="115000"/>
              </a:lnSpc>
              <a:defRPr sz="1050">
                <a:solidFill>
                  <a:srgbClr val="334155"/>
                </a:solidFill>
              </a:defRPr>
            </a:pPr>
            <a:r>
              <a:rPr b="1">
                <a:solidFill>
                  <a:srgbClr val="0F172A"/>
                </a:solidFill>
              </a:rPr>
              <a:t>- Weeks 1 - 4: Green Tender Clause: </a:t>
            </a:r>
            <a:r>
              <a:rPr>
                <a:solidFill>
                  <a:srgbClr val="334155"/>
                </a:solidFill>
              </a:rPr>
              <a:t>Add GreenPulse requirements into standard Sime Darby contractor tenders. Give bonus tender points to contractors who use clean battery power.</a:t>
            </a:r>
          </a:p>
          <a:p>
            <a:pPr>
              <a:lnSpc>
                <a:spcPct val="115000"/>
              </a:lnSpc>
              <a:defRPr sz="1050">
                <a:solidFill>
                  <a:srgbClr val="334155"/>
                </a:solidFill>
              </a:defRPr>
            </a:pPr>
            <a:r>
              <a:rPr b="1">
                <a:solidFill>
                  <a:srgbClr val="0F172A"/>
                </a:solidFill>
              </a:rPr>
              <a:t>- Weeks 5 - 8: Plug in the Hardware: </a:t>
            </a:r>
            <a:r>
              <a:rPr>
                <a:solidFill>
                  <a:srgbClr val="334155"/>
                </a:solidFill>
              </a:rPr>
              <a:t>Install our 4G gateway on a battery container at an active site (like Putra Heights or Rimbayu) and place sound meters at the fence line.</a:t>
            </a:r>
          </a:p>
          <a:p>
            <a:pPr>
              <a:lnSpc>
                <a:spcPct val="115000"/>
              </a:lnSpc>
              <a:defRPr sz="1050">
                <a:solidFill>
                  <a:srgbClr val="334155"/>
                </a:solidFill>
              </a:defRPr>
            </a:pPr>
            <a:r>
              <a:rPr b="1">
                <a:solidFill>
                  <a:srgbClr val="0F172A"/>
                </a:solidFill>
              </a:rPr>
              <a:t>- Weeks 9 - 12: Train Site Teams &amp; Audit: </a:t>
            </a:r>
            <a:r>
              <a:rPr>
                <a:solidFill>
                  <a:srgbClr val="334155"/>
                </a:solidFill>
              </a:rPr>
              <a:t>Hand over screens to site engineers and safety officers. Start tracking real monthly cash savings and automatic carbon reports.</a:t>
            </a:r>
          </a:p>
          <a:p>
            <a:pPr>
              <a:lnSpc>
                <a:spcPct val="115000"/>
              </a:lnSpc>
              <a:defRPr sz="1050">
                <a:solidFill>
                  <a:srgbClr val="334155"/>
                </a:solidFill>
              </a:defRPr>
            </a:pPr>
            <a:r>
              <a:rPr b="1">
                <a:solidFill>
                  <a:srgbClr val="0F172A"/>
                </a:solidFill>
              </a:rPr>
              <a:t>- Scale Across Townships (2027 - 2030): </a:t>
            </a:r>
            <a:r>
              <a:rPr>
                <a:solidFill>
                  <a:srgbClr val="334155"/>
                </a:solidFill>
              </a:rPr>
              <a:t>Standardise across all major developments: City of Elmina, Bandar Bukit Raja, Nilai Impian, and Serenia City.</a:t>
            </a:r>
          </a:p>
        </p:txBody>
      </p:sp>
      <p:sp>
        <p:nvSpPr>
          <p:cNvPr id="8" name="Rounded Rectangle 7"/>
          <p:cNvSpPr/>
          <p:nvPr/>
        </p:nvSpPr>
        <p:spPr>
          <a:xfrm>
            <a:off x="6278270" y="1645920"/>
            <a:ext cx="5180990" cy="47548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6870" y="1828800"/>
            <a:ext cx="4723790" cy="4389120"/>
          </a:xfrm>
          <a:prstGeom prst="rect">
            <a:avLst/>
          </a:prstGeom>
          <a:noFill/>
        </p:spPr>
        <p:txBody>
          <a:bodyPr wrap="square" lIns="0" rIns="0" tIns="0" bIns="0">
            <a:spAutoFit/>
          </a:bodyPr>
          <a:lstStyle/>
          <a:p>
            <a:pPr>
              <a:defRPr b="1" sz="1300">
                <a:solidFill>
                  <a:srgbClr val="059669"/>
                </a:solidFill>
              </a:defRPr>
            </a:pPr>
            <a:r>
              <a:t>[10-YEAR TOWNSHIP MOAT]  The 10-Year Township Advantage</a:t>
            </a:r>
          </a:p>
          <a:p>
            <a:pPr>
              <a:defRPr sz="400"/>
            </a:pPr>
          </a:p>
          <a:p>
            <a:pPr>
              <a:lnSpc>
                <a:spcPct val="115000"/>
              </a:lnSpc>
              <a:defRPr sz="1050">
                <a:solidFill>
                  <a:srgbClr val="334155"/>
                </a:solidFill>
              </a:defRPr>
            </a:pPr>
            <a:r>
              <a:rPr b="1">
                <a:solidFill>
                  <a:srgbClr val="0F172A"/>
                </a:solidFill>
              </a:rPr>
              <a:t>- The Contractor Limit: </a:t>
            </a:r>
            <a:r>
              <a:rPr>
                <a:solidFill>
                  <a:srgbClr val="334155"/>
                </a:solidFill>
              </a:rPr>
              <a:t>A contractor only cares about their single 2-year job. They cannot justify buying a big battery.</a:t>
            </a:r>
          </a:p>
          <a:p>
            <a:pPr>
              <a:lnSpc>
                <a:spcPct val="115000"/>
              </a:lnSpc>
              <a:defRPr sz="1050">
                <a:solidFill>
                  <a:srgbClr val="334155"/>
                </a:solidFill>
              </a:defRPr>
            </a:pPr>
            <a:r>
              <a:rPr b="1">
                <a:solidFill>
                  <a:srgbClr val="0F172A"/>
                </a:solidFill>
              </a:rPr>
              <a:t>- The Sime Darby Advantage: </a:t>
            </a:r>
            <a:r>
              <a:rPr>
                <a:solidFill>
                  <a:srgbClr val="334155"/>
                </a:solidFill>
              </a:rPr>
              <a:t>Sime Darby develops entire townships over 10 to 15 years.</a:t>
            </a:r>
          </a:p>
          <a:p>
            <a:pPr>
              <a:lnSpc>
                <a:spcPct val="115000"/>
              </a:lnSpc>
              <a:defRPr sz="1050">
                <a:solidFill>
                  <a:srgbClr val="334155"/>
                </a:solidFill>
              </a:defRPr>
            </a:pPr>
            <a:r>
              <a:rPr b="1">
                <a:solidFill>
                  <a:srgbClr val="0F172A"/>
                </a:solidFill>
              </a:rPr>
              <a:t>- Sequential Redeployment Path: </a:t>
            </a:r>
            <a:r>
              <a:rPr>
                <a:solidFill>
                  <a:srgbClr val="334155"/>
                </a:solidFill>
              </a:rPr>
              <a:t>Sime Darby can buy modular battery containers once, and move them as projects finish: Putra Heights (Years 1-2) -&gt; Elmina West (Years 3-5) -&gt; Bandar Bukit Raja (Years 6-10).</a:t>
            </a:r>
          </a:p>
          <a:p>
            <a:pPr>
              <a:lnSpc>
                <a:spcPct val="115000"/>
              </a:lnSpc>
              <a:defRPr sz="1050">
                <a:solidFill>
                  <a:srgbClr val="334155"/>
                </a:solidFill>
              </a:defRPr>
            </a:pPr>
            <a:r>
              <a:rPr b="1">
                <a:solidFill>
                  <a:srgbClr val="0F172A"/>
                </a:solidFill>
              </a:rPr>
              <a:t>- RM 9.8 Million Net Savings: </a:t>
            </a:r>
            <a:r>
              <a:rPr>
                <a:solidFill>
                  <a:srgbClr val="334155"/>
                </a:solidFill>
              </a:rPr>
              <a:t>Unlocks RM 9,840,000 in total net cash savings across a 3-phase township from one set of batteries.</a:t>
            </a:r>
          </a:p>
          <a:p>
            <a:pPr>
              <a:lnSpc>
                <a:spcPct val="115000"/>
              </a:lnSpc>
              <a:defRPr sz="1050">
                <a:solidFill>
                  <a:srgbClr val="334155"/>
                </a:solidFill>
              </a:defRPr>
            </a:pPr>
            <a:r>
              <a:rPr b="1">
                <a:solidFill>
                  <a:srgbClr val="0F172A"/>
                </a:solidFill>
              </a:rPr>
              <a:t>- Permanent Value: </a:t>
            </a:r>
            <a:r>
              <a:rPr>
                <a:solidFill>
                  <a:srgbClr val="334155"/>
                </a:solidFill>
              </a:rPr>
              <a:t>Turns disposable generator rent into a reusable township asset.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365760"/>
          </a:xfrm>
          <a:prstGeom prst="rect">
            <a:avLst/>
          </a:prstGeom>
          <a:noFill/>
        </p:spPr>
        <p:txBody>
          <a:bodyPr wrap="none">
            <a:spAutoFit/>
          </a:bodyPr>
          <a:lstStyle/>
          <a:p>
            <a:pPr>
              <a:defRPr sz="1100" b="1">
                <a:solidFill>
                  <a:srgbClr val="D71920"/>
                </a:solidFill>
              </a:defRPr>
            </a:pPr>
            <a:r>
              <a:t>SIME DARBY PROPERTY UNIVERSITY HACKATHON 2026  |  THE ASK</a:t>
            </a:r>
          </a:p>
        </p:txBody>
      </p:sp>
      <p:sp>
        <p:nvSpPr>
          <p:cNvPr id="4" name="TextBox 3"/>
          <p:cNvSpPr txBox="1"/>
          <p:nvPr/>
        </p:nvSpPr>
        <p:spPr>
          <a:xfrm>
            <a:off x="914400" y="868680"/>
            <a:ext cx="10362895" cy="640080"/>
          </a:xfrm>
          <a:prstGeom prst="rect">
            <a:avLst/>
          </a:prstGeom>
          <a:noFill/>
        </p:spPr>
        <p:txBody>
          <a:bodyPr wrap="none">
            <a:spAutoFit/>
          </a:bodyPr>
          <a:lstStyle/>
          <a:p>
            <a:pPr>
              <a:defRPr sz="2600" b="1">
                <a:solidFill>
                  <a:srgbClr val="FFFFFF"/>
                </a:solidFill>
              </a:defRPr>
            </a:pPr>
            <a:r>
              <a:t>Build the Townships of Tomorrow with Clean Power Today</a:t>
            </a:r>
          </a:p>
        </p:txBody>
      </p:sp>
      <p:sp>
        <p:nvSpPr>
          <p:cNvPr id="5" name="Rounded Rectangle 4"/>
          <p:cNvSpPr/>
          <p:nvPr/>
        </p:nvSpPr>
        <p:spPr>
          <a:xfrm>
            <a:off x="914400" y="1645920"/>
            <a:ext cx="3246120"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28800"/>
            <a:ext cx="2788920" cy="2743200"/>
          </a:xfrm>
          <a:prstGeom prst="rect">
            <a:avLst/>
          </a:prstGeom>
          <a:noFill/>
        </p:spPr>
        <p:txBody>
          <a:bodyPr wrap="square" lIns="0" rIns="0" tIns="0" bIns="0">
            <a:spAutoFit/>
          </a:bodyPr>
          <a:lstStyle/>
          <a:p>
            <a:pPr>
              <a:defRPr b="1" sz="1300">
                <a:solidFill>
                  <a:srgbClr val="059669"/>
                </a:solidFill>
              </a:defRPr>
            </a:pPr>
            <a:r>
              <a:t>[MONEY]  1. Unbeatable Financials</a:t>
            </a:r>
          </a:p>
          <a:p>
            <a:pPr>
              <a:defRPr sz="400"/>
            </a:pPr>
          </a:p>
          <a:p>
            <a:pPr>
              <a:lnSpc>
                <a:spcPct val="115000"/>
              </a:lnSpc>
              <a:defRPr sz="1050">
                <a:solidFill>
                  <a:srgbClr val="CBD5E1"/>
                </a:solidFill>
              </a:defRPr>
            </a:pPr>
            <a:r>
              <a:rPr b="1">
                <a:solidFill>
                  <a:srgbClr val="FFFFFF"/>
                </a:solidFill>
              </a:rPr>
              <a:t>- Saves RM 125,000 / Month: </a:t>
            </a:r>
            <a:r>
              <a:rPr>
                <a:solidFill>
                  <a:srgbClr val="CBD5E1"/>
                </a:solidFill>
              </a:rPr>
              <a:t>Cuts fuel and rental bills immediately on every active parcel.</a:t>
            </a:r>
          </a:p>
          <a:p>
            <a:pPr>
              <a:lnSpc>
                <a:spcPct val="115000"/>
              </a:lnSpc>
              <a:defRPr sz="1050">
                <a:solidFill>
                  <a:srgbClr val="CBD5E1"/>
                </a:solidFill>
              </a:defRPr>
            </a:pPr>
            <a:r>
              <a:rPr b="1">
                <a:solidFill>
                  <a:srgbClr val="FFFFFF"/>
                </a:solidFill>
              </a:rPr>
              <a:t>- 14-Month Payback: </a:t>
            </a:r>
            <a:r>
              <a:rPr>
                <a:solidFill>
                  <a:srgbClr val="CBD5E1"/>
                </a:solidFill>
              </a:rPr>
              <a:t>Pays for itself in 14 months, well within a 2-year project cycle.</a:t>
            </a:r>
          </a:p>
          <a:p>
            <a:pPr>
              <a:lnSpc>
                <a:spcPct val="115000"/>
              </a:lnSpc>
              <a:defRPr sz="1050">
                <a:solidFill>
                  <a:srgbClr val="CBD5E1"/>
                </a:solidFill>
              </a:defRPr>
            </a:pPr>
            <a:r>
              <a:rPr b="1">
                <a:solidFill>
                  <a:srgbClr val="FFFFFF"/>
                </a:solidFill>
              </a:rPr>
              <a:t>- RM 9.8M Township Moat: </a:t>
            </a:r>
            <a:r>
              <a:rPr>
                <a:solidFill>
                  <a:srgbClr val="CBD5E1"/>
                </a:solidFill>
              </a:rPr>
              <a:t>Reusing batteries over 10 years unlocks multi-million Ringgit savings.</a:t>
            </a:r>
          </a:p>
        </p:txBody>
      </p:sp>
      <p:sp>
        <p:nvSpPr>
          <p:cNvPr id="7" name="Rounded Rectangle 6"/>
          <p:cNvSpPr/>
          <p:nvPr/>
        </p:nvSpPr>
        <p:spPr>
          <a:xfrm>
            <a:off x="4471416" y="1645920"/>
            <a:ext cx="3246120"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1828800"/>
            <a:ext cx="2788920" cy="2743200"/>
          </a:xfrm>
          <a:prstGeom prst="rect">
            <a:avLst/>
          </a:prstGeom>
          <a:noFill/>
        </p:spPr>
        <p:txBody>
          <a:bodyPr wrap="square" lIns="0" rIns="0" tIns="0" bIns="0">
            <a:spAutoFit/>
          </a:bodyPr>
          <a:lstStyle/>
          <a:p>
            <a:pPr>
              <a:defRPr b="1" sz="1300">
                <a:solidFill>
                  <a:srgbClr val="2563EB"/>
                </a:solidFill>
              </a:defRPr>
            </a:pPr>
            <a:r>
              <a:t>[RELIABILITY]  2. Solves the Real Problem</a:t>
            </a:r>
          </a:p>
          <a:p>
            <a:pPr>
              <a:defRPr sz="400"/>
            </a:pPr>
          </a:p>
          <a:p>
            <a:pPr>
              <a:lnSpc>
                <a:spcPct val="115000"/>
              </a:lnSpc>
              <a:defRPr sz="1050">
                <a:solidFill>
                  <a:srgbClr val="CBD5E1"/>
                </a:solidFill>
              </a:defRPr>
            </a:pPr>
            <a:r>
              <a:rPr b="1">
                <a:solidFill>
                  <a:srgbClr val="FFFFFF"/>
                </a:solidFill>
              </a:rPr>
              <a:t>- Sub-4ms Power Boost: </a:t>
            </a:r>
            <a:r>
              <a:rPr>
                <a:solidFill>
                  <a:srgbClr val="CBD5E1"/>
                </a:solidFill>
              </a:rPr>
              <a:t>Dampens 94 kW crane motor kicks so power never trips.</a:t>
            </a:r>
          </a:p>
          <a:p>
            <a:pPr>
              <a:lnSpc>
                <a:spcPct val="115000"/>
              </a:lnSpc>
              <a:defRPr sz="1050">
                <a:solidFill>
                  <a:srgbClr val="CBD5E1"/>
                </a:solidFill>
              </a:defRPr>
            </a:pPr>
            <a:r>
              <a:rPr b="1">
                <a:solidFill>
                  <a:srgbClr val="FFFFFF"/>
                </a:solidFill>
              </a:rPr>
              <a:t>- Weather Radar Sync: </a:t>
            </a:r>
            <a:r>
              <a:rPr>
                <a:solidFill>
                  <a:srgbClr val="CBD5E1"/>
                </a:solidFill>
              </a:rPr>
              <a:t>Pre-charges batteries before afternoon rainstorms hit.</a:t>
            </a:r>
          </a:p>
          <a:p>
            <a:pPr>
              <a:lnSpc>
                <a:spcPct val="115000"/>
              </a:lnSpc>
              <a:defRPr sz="1050">
                <a:solidFill>
                  <a:srgbClr val="CBD5E1"/>
                </a:solidFill>
              </a:defRPr>
            </a:pPr>
            <a:r>
              <a:rPr b="1">
                <a:solidFill>
                  <a:srgbClr val="FFFFFF"/>
                </a:solidFill>
              </a:rPr>
              <a:t>- 88% Quieter (54 dB): </a:t>
            </a:r>
            <a:r>
              <a:rPr>
                <a:solidFill>
                  <a:srgbClr val="CBD5E1"/>
                </a:solidFill>
              </a:rPr>
              <a:t>Stops neighbor noise complaints and DOE shutdown risks.</a:t>
            </a:r>
          </a:p>
        </p:txBody>
      </p:sp>
      <p:sp>
        <p:nvSpPr>
          <p:cNvPr id="9" name="Rounded Rectangle 8"/>
          <p:cNvSpPr/>
          <p:nvPr/>
        </p:nvSpPr>
        <p:spPr>
          <a:xfrm>
            <a:off x="8028431" y="1645920"/>
            <a:ext cx="3246120" cy="31089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7031" y="1828800"/>
            <a:ext cx="2788920" cy="2743200"/>
          </a:xfrm>
          <a:prstGeom prst="rect">
            <a:avLst/>
          </a:prstGeom>
          <a:noFill/>
        </p:spPr>
        <p:txBody>
          <a:bodyPr wrap="square" lIns="0" rIns="0" tIns="0" bIns="0">
            <a:spAutoFit/>
          </a:bodyPr>
          <a:lstStyle/>
          <a:p>
            <a:pPr>
              <a:defRPr b="1" sz="1300">
                <a:solidFill>
                  <a:srgbClr val="D71920"/>
                </a:solidFill>
              </a:defRPr>
            </a:pPr>
            <a:r>
              <a:t>[READINESS]  3. Ready to Roll Out</a:t>
            </a:r>
          </a:p>
          <a:p>
            <a:pPr>
              <a:defRPr sz="400"/>
            </a:pPr>
          </a:p>
          <a:p>
            <a:pPr>
              <a:lnSpc>
                <a:spcPct val="115000"/>
              </a:lnSpc>
              <a:defRPr sz="1050">
                <a:solidFill>
                  <a:srgbClr val="CBD5E1"/>
                </a:solidFill>
              </a:defRPr>
            </a:pPr>
            <a:r>
              <a:rPr b="1">
                <a:solidFill>
                  <a:srgbClr val="FFFFFF"/>
                </a:solidFill>
              </a:rPr>
              <a:t>- Uses Existing Batteries: </a:t>
            </a:r>
            <a:r>
              <a:rPr>
                <a:solidFill>
                  <a:srgbClr val="CBD5E1"/>
                </a:solidFill>
              </a:rPr>
              <a:t>Works with proven MegaBatt containers already used in Malaysia.</a:t>
            </a:r>
          </a:p>
          <a:p>
            <a:pPr>
              <a:lnSpc>
                <a:spcPct val="115000"/>
              </a:lnSpc>
              <a:defRPr sz="1050">
                <a:solidFill>
                  <a:srgbClr val="CBD5E1"/>
                </a:solidFill>
              </a:defRPr>
            </a:pPr>
            <a:r>
              <a:rPr b="1">
                <a:solidFill>
                  <a:srgbClr val="FFFFFF"/>
                </a:solidFill>
              </a:rPr>
              <a:t>- Working Prototype: </a:t>
            </a:r>
            <a:r>
              <a:rPr>
                <a:solidFill>
                  <a:srgbClr val="CBD5E1"/>
                </a:solidFill>
              </a:rPr>
              <a:t>Web platform and simulation modules are ready to test today.</a:t>
            </a:r>
          </a:p>
          <a:p>
            <a:pPr>
              <a:lnSpc>
                <a:spcPct val="115000"/>
              </a:lnSpc>
              <a:defRPr sz="1050">
                <a:solidFill>
                  <a:srgbClr val="CBD5E1"/>
                </a:solidFill>
              </a:defRPr>
            </a:pPr>
            <a:r>
              <a:rPr b="1">
                <a:solidFill>
                  <a:srgbClr val="FFFFFF"/>
                </a:solidFill>
              </a:rPr>
              <a:t>- First in Malaysia: </a:t>
            </a:r>
            <a:r>
              <a:rPr>
                <a:solidFill>
                  <a:srgbClr val="CBD5E1"/>
                </a:solidFill>
              </a:rPr>
              <a:t>Makes Sime Darby the country's first zero-generator property developer.</a:t>
            </a:r>
          </a:p>
        </p:txBody>
      </p:sp>
      <p:sp>
        <p:nvSpPr>
          <p:cNvPr id="11" name="Rounded Rectangle 10"/>
          <p:cNvSpPr/>
          <p:nvPr/>
        </p:nvSpPr>
        <p:spPr>
          <a:xfrm>
            <a:off x="914400" y="4937760"/>
            <a:ext cx="10362895" cy="1371600"/>
          </a:xfrm>
          <a:prstGeom prst="roundRect">
            <a:avLst/>
          </a:prstGeom>
          <a:solidFill>
            <a:srgbClr val="1E293B"/>
          </a:solidFill>
          <a:ln w="19050">
            <a:solidFill>
              <a:srgbClr val="D71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5029200"/>
            <a:ext cx="9905695" cy="1188720"/>
          </a:xfrm>
          <a:prstGeom prst="rect">
            <a:avLst/>
          </a:prstGeom>
          <a:noFill/>
        </p:spPr>
        <p:txBody>
          <a:bodyPr wrap="square" lIns="0" rIns="0" tIns="0" bIns="0">
            <a:spAutoFit/>
          </a:bodyPr>
          <a:lstStyle/>
          <a:p>
            <a:pPr>
              <a:defRPr b="1" sz="1300">
                <a:solidFill>
                  <a:srgbClr val="D71920"/>
                </a:solidFill>
              </a:defRPr>
            </a:pPr>
            <a:r>
              <a:t>OUR ASK TO SIME DARBY PROPERTY LEADERSHIP:</a:t>
            </a:r>
          </a:p>
          <a:p>
            <a:pPr>
              <a:defRPr sz="1100">
                <a:solidFill>
                  <a:srgbClr val="FFFFFF"/>
                </a:solidFill>
              </a:defRPr>
            </a:pPr>
            <a:r>
              <a:t>1. Approve a 12-week pilot test on an active parcel (Putra Heights or City of Elmina).</a:t>
            </a:r>
            <a:br/>
            <a:r>
              <a:t>2. Partner with us to add clean battery rules into standard contractor tenders.</a:t>
            </a:r>
            <a:br/>
            <a:r>
              <a:t>3. Let's prove that the Township of Tomorrow starts with zero-diesel construction today.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2563EB"/>
                </a:solidFill>
              </a:defRPr>
            </a:pPr>
            <a:r>
              <a:t>APPENDIX A  |  TECHNICAL DETAILS</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How the 4G Gateway Box Talks to Inverters &amp; Sensors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Simple explanation of communication protocols, response times, and offline safety</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2563EB"/>
                </a:solidFill>
              </a:defRPr>
            </a:pPr>
            <a:r>
              <a:t>[INDUSTRIAL PROTOCOLS]  1. Inverter &amp; Battery Reading</a:t>
            </a:r>
          </a:p>
          <a:p>
            <a:pPr>
              <a:defRPr sz="400"/>
            </a:pPr>
          </a:p>
          <a:p>
            <a:pPr>
              <a:lnSpc>
                <a:spcPct val="115000"/>
              </a:lnSpc>
              <a:defRPr sz="1050">
                <a:solidFill>
                  <a:srgbClr val="334155"/>
                </a:solidFill>
              </a:defRPr>
            </a:pPr>
            <a:r>
              <a:rPr b="1">
                <a:solidFill>
                  <a:srgbClr val="0F172A"/>
                </a:solidFill>
              </a:rPr>
              <a:t>- Reads Power Every Second: </a:t>
            </a:r>
            <a:r>
              <a:rPr>
                <a:solidFill>
                  <a:srgbClr val="334155"/>
                </a:solidFill>
              </a:rPr>
              <a:t>The 4G box connects to the inverter over a standard industrial cable (Modbus TCP) and reads power (kW), voltage, and frequency every 1 second.</a:t>
            </a:r>
          </a:p>
          <a:p>
            <a:pPr>
              <a:lnSpc>
                <a:spcPct val="115000"/>
              </a:lnSpc>
              <a:defRPr sz="1050">
                <a:solidFill>
                  <a:srgbClr val="334155"/>
                </a:solidFill>
              </a:defRPr>
            </a:pPr>
            <a:r>
              <a:rPr b="1">
                <a:solidFill>
                  <a:srgbClr val="0F172A"/>
                </a:solidFill>
              </a:rPr>
              <a:t>- Monitors Battery Health: </a:t>
            </a:r>
            <a:r>
              <a:rPr>
                <a:solidFill>
                  <a:srgbClr val="334155"/>
                </a:solidFill>
              </a:rPr>
              <a:t>Tracks battery percentage (SOC %), temperature, and health so the battery is never overloaded.</a:t>
            </a:r>
          </a:p>
          <a:p>
            <a:pPr>
              <a:lnSpc>
                <a:spcPct val="115000"/>
              </a:lnSpc>
              <a:defRPr sz="1050">
                <a:solidFill>
                  <a:srgbClr val="334155"/>
                </a:solidFill>
              </a:defRPr>
            </a:pPr>
            <a:r>
              <a:rPr b="1">
                <a:solidFill>
                  <a:srgbClr val="0F172A"/>
                </a:solidFill>
              </a:rPr>
              <a:t>- Fast 4ms Boost: </a:t>
            </a:r>
            <a:r>
              <a:rPr>
                <a:solidFill>
                  <a:srgbClr val="334155"/>
                </a:solidFill>
              </a:rPr>
              <a:t>When the crane motor starts, the box sends an instant command to deliver power in under 4 milliseconds.</a:t>
            </a:r>
          </a:p>
        </p:txBody>
      </p:sp>
      <p:sp>
        <p:nvSpPr>
          <p:cNvPr id="8" name="Rounded Rectangle 7"/>
          <p:cNvSpPr/>
          <p:nvPr/>
        </p:nvSpPr>
        <p:spPr>
          <a:xfrm>
            <a:off x="4425696"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4389120"/>
          </a:xfrm>
          <a:prstGeom prst="rect">
            <a:avLst/>
          </a:prstGeom>
          <a:noFill/>
        </p:spPr>
        <p:txBody>
          <a:bodyPr wrap="square" lIns="0" rIns="0" tIns="0" bIns="0">
            <a:spAutoFit/>
          </a:bodyPr>
          <a:lstStyle/>
          <a:p>
            <a:pPr>
              <a:defRPr b="1" sz="1300">
                <a:solidFill>
                  <a:srgbClr val="D71920"/>
                </a:solidFill>
              </a:defRPr>
            </a:pPr>
            <a:r>
              <a:t>[SOUND PROCESSING]  2. Fence Sound Meter Processing</a:t>
            </a:r>
          </a:p>
          <a:p>
            <a:pPr>
              <a:defRPr sz="400"/>
            </a:pPr>
          </a:p>
          <a:p>
            <a:pPr>
              <a:lnSpc>
                <a:spcPct val="115000"/>
              </a:lnSpc>
              <a:defRPr sz="1050">
                <a:solidFill>
                  <a:srgbClr val="334155"/>
                </a:solidFill>
              </a:defRPr>
            </a:pPr>
            <a:r>
              <a:rPr b="1">
                <a:solidFill>
                  <a:srgbClr val="0F172A"/>
                </a:solidFill>
              </a:rPr>
              <a:t>- Continuous Audio: </a:t>
            </a:r>
            <a:r>
              <a:rPr>
                <a:solidFill>
                  <a:srgbClr val="334155"/>
                </a:solidFill>
              </a:rPr>
              <a:t>A digital sound meter on the fence line tracks noise levels every second.</a:t>
            </a:r>
          </a:p>
          <a:p>
            <a:pPr>
              <a:lnSpc>
                <a:spcPct val="115000"/>
              </a:lnSpc>
              <a:defRPr sz="1050">
                <a:solidFill>
                  <a:srgbClr val="334155"/>
                </a:solidFill>
              </a:defRPr>
            </a:pPr>
            <a:r>
              <a:rPr b="1">
                <a:solidFill>
                  <a:srgbClr val="0F172A"/>
                </a:solidFill>
              </a:rPr>
              <a:t>- Smart Noise Classifier: </a:t>
            </a:r>
            <a:r>
              <a:rPr>
                <a:solidFill>
                  <a:srgbClr val="334155"/>
                </a:solidFill>
              </a:rPr>
              <a:t>Identifies the difference between site machines (cranes, hoists) and noisy highway dump trucks passing by.</a:t>
            </a:r>
          </a:p>
          <a:p>
            <a:pPr>
              <a:lnSpc>
                <a:spcPct val="115000"/>
              </a:lnSpc>
              <a:defRPr sz="1050">
                <a:solidFill>
                  <a:srgbClr val="334155"/>
                </a:solidFill>
              </a:defRPr>
            </a:pPr>
            <a:r>
              <a:rPr b="1">
                <a:solidFill>
                  <a:srgbClr val="0F172A"/>
                </a:solidFill>
              </a:rPr>
              <a:t>- Official Decibel Log: </a:t>
            </a:r>
            <a:r>
              <a:rPr>
                <a:solidFill>
                  <a:srgbClr val="334155"/>
                </a:solidFill>
              </a:rPr>
              <a:t>Calculates official A-weighted decibels (dBA) for certified government compliance records.</a:t>
            </a:r>
          </a:p>
        </p:txBody>
      </p:sp>
      <p:sp>
        <p:nvSpPr>
          <p:cNvPr id="10" name="Rounded Rectangle 9"/>
          <p:cNvSpPr/>
          <p:nvPr/>
        </p:nvSpPr>
        <p:spPr>
          <a:xfrm>
            <a:off x="8119872"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4389120"/>
          </a:xfrm>
          <a:prstGeom prst="rect">
            <a:avLst/>
          </a:prstGeom>
          <a:noFill/>
        </p:spPr>
        <p:txBody>
          <a:bodyPr wrap="square" lIns="0" rIns="0" tIns="0" bIns="0">
            <a:spAutoFit/>
          </a:bodyPr>
          <a:lstStyle/>
          <a:p>
            <a:pPr>
              <a:defRPr b="1" sz="1300">
                <a:solidFill>
                  <a:srgbClr val="059669"/>
                </a:solidFill>
              </a:defRPr>
            </a:pPr>
            <a:r>
              <a:t>[OFFLINE RELIABILITY]  3. Safe Offline Backup</a:t>
            </a:r>
          </a:p>
          <a:p>
            <a:pPr>
              <a:defRPr sz="400"/>
            </a:pPr>
          </a:p>
          <a:p>
            <a:pPr>
              <a:lnSpc>
                <a:spcPct val="115000"/>
              </a:lnSpc>
              <a:defRPr sz="1050">
                <a:solidFill>
                  <a:srgbClr val="334155"/>
                </a:solidFill>
              </a:defRPr>
            </a:pPr>
            <a:r>
              <a:rPr b="1">
                <a:solidFill>
                  <a:srgbClr val="0F172A"/>
                </a:solidFill>
              </a:rPr>
              <a:t>- Stores 30 Days Locally: </a:t>
            </a:r>
            <a:r>
              <a:rPr>
                <a:solidFill>
                  <a:srgbClr val="334155"/>
                </a:solidFill>
              </a:rPr>
              <a:t>If cellular internet drops, the box keeps 30 days of data in local storage.</a:t>
            </a:r>
          </a:p>
          <a:p>
            <a:pPr>
              <a:lnSpc>
                <a:spcPct val="115000"/>
              </a:lnSpc>
              <a:defRPr sz="1050">
                <a:solidFill>
                  <a:srgbClr val="334155"/>
                </a:solidFill>
              </a:defRPr>
            </a:pPr>
            <a:r>
              <a:rPr b="1">
                <a:solidFill>
                  <a:srgbClr val="0F172A"/>
                </a:solidFill>
              </a:rPr>
              <a:t>- Keeps Running Uninterrupted: </a:t>
            </a:r>
            <a:r>
              <a:rPr>
                <a:solidFill>
                  <a:srgbClr val="334155"/>
                </a:solidFill>
              </a:rPr>
              <a:t>Local power control keeps running even during internet blackouts. The site never loses power.</a:t>
            </a:r>
          </a:p>
          <a:p>
            <a:pPr>
              <a:lnSpc>
                <a:spcPct val="115000"/>
              </a:lnSpc>
              <a:defRPr sz="1050">
                <a:solidFill>
                  <a:srgbClr val="334155"/>
                </a:solidFill>
              </a:defRPr>
            </a:pPr>
            <a:r>
              <a:rPr b="1">
                <a:solidFill>
                  <a:srgbClr val="0F172A"/>
                </a:solidFill>
              </a:rPr>
              <a:t>- Auto-Upload When Reconnected: </a:t>
            </a:r>
            <a:r>
              <a:rPr>
                <a:solidFill>
                  <a:srgbClr val="334155"/>
                </a:solidFill>
              </a:rPr>
              <a:t>Once internet comes back, it automatically uploads all saved data to the cloud.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2563EB"/>
                </a:solidFill>
              </a:defRPr>
            </a:pPr>
            <a:r>
              <a:t>APPENDIX B  |  COST BREAKDOWN</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Itemized Monthly Cash Flow: Diesel vs Clean Battery</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Full side-by-side comparison of conventional generator costs vs GreenPulse battery setup</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D71920"/>
                </a:solidFill>
              </a:defRPr>
            </a:pPr>
            <a:r>
              <a:t>[CURRENT COST DRAIN]  1. What Sites Spend Today</a:t>
            </a:r>
          </a:p>
          <a:p>
            <a:pPr>
              <a:defRPr sz="400"/>
            </a:pPr>
          </a:p>
          <a:p>
            <a:pPr>
              <a:lnSpc>
                <a:spcPct val="115000"/>
              </a:lnSpc>
              <a:defRPr sz="1050">
                <a:solidFill>
                  <a:srgbClr val="334155"/>
                </a:solidFill>
              </a:defRPr>
            </a:pPr>
            <a:r>
              <a:rPr b="1">
                <a:solidFill>
                  <a:srgbClr val="0F172A"/>
                </a:solidFill>
              </a:rPr>
              <a:t>- 14,000L Diesel Burn: </a:t>
            </a:r>
            <a:r>
              <a:rPr>
                <a:solidFill>
                  <a:srgbClr val="334155"/>
                </a:solidFill>
              </a:rPr>
              <a:t>14,000 Litres / month @ RM 5.17 / L = RM 72,380 in fuel invoices.</a:t>
            </a:r>
          </a:p>
          <a:p>
            <a:pPr>
              <a:lnSpc>
                <a:spcPct val="115000"/>
              </a:lnSpc>
              <a:defRPr sz="1050">
                <a:solidFill>
                  <a:srgbClr val="334155"/>
                </a:solidFill>
              </a:defRPr>
            </a:pPr>
            <a:r>
              <a:rPr b="1">
                <a:solidFill>
                  <a:srgbClr val="0F172A"/>
                </a:solidFill>
              </a:rPr>
              <a:t>- 500 kVA Generator Rental: </a:t>
            </a:r>
            <a:r>
              <a:rPr>
                <a:solidFill>
                  <a:srgbClr val="334155"/>
                </a:solidFill>
              </a:rPr>
              <a:t>RM 25,000 / month equipment rental fee to plant hire company.</a:t>
            </a:r>
          </a:p>
          <a:p>
            <a:pPr>
              <a:lnSpc>
                <a:spcPct val="115000"/>
              </a:lnSpc>
              <a:defRPr sz="1050">
                <a:solidFill>
                  <a:srgbClr val="334155"/>
                </a:solidFill>
              </a:defRPr>
            </a:pPr>
            <a:r>
              <a:rPr b="1">
                <a:solidFill>
                  <a:srgbClr val="0F172A"/>
                </a:solidFill>
              </a:rPr>
              <a:t>- Maintenance &amp; Servicing: </a:t>
            </a:r>
            <a:r>
              <a:rPr>
                <a:solidFill>
                  <a:srgbClr val="334155"/>
                </a:solidFill>
              </a:rPr>
              <a:t>RM 5,000 / month for oil changes, filters, and mechanic callouts.</a:t>
            </a:r>
          </a:p>
          <a:p>
            <a:pPr>
              <a:lnSpc>
                <a:spcPct val="115000"/>
              </a:lnSpc>
              <a:defRPr sz="1050">
                <a:solidFill>
                  <a:srgbClr val="334155"/>
                </a:solidFill>
              </a:defRPr>
            </a:pPr>
            <a:r>
              <a:rPr b="1">
                <a:solidFill>
                  <a:srgbClr val="0F172A"/>
                </a:solidFill>
              </a:rPr>
              <a:t>- Total Monthly Spend: </a:t>
            </a:r>
            <a:r>
              <a:rPr>
                <a:solidFill>
                  <a:srgbClr val="334155"/>
                </a:solidFill>
              </a:rPr>
              <a:t>RM 102,380 to RM 125,000+ burned every month per site.</a:t>
            </a:r>
          </a:p>
        </p:txBody>
      </p:sp>
      <p:sp>
        <p:nvSpPr>
          <p:cNvPr id="8" name="Rounded Rectangle 7"/>
          <p:cNvSpPr/>
          <p:nvPr/>
        </p:nvSpPr>
        <p:spPr>
          <a:xfrm>
            <a:off x="4425696"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4389120"/>
          </a:xfrm>
          <a:prstGeom prst="rect">
            <a:avLst/>
          </a:prstGeom>
          <a:noFill/>
        </p:spPr>
        <p:txBody>
          <a:bodyPr wrap="square" lIns="0" rIns="0" tIns="0" bIns="0">
            <a:spAutoFit/>
          </a:bodyPr>
          <a:lstStyle/>
          <a:p>
            <a:pPr>
              <a:defRPr b="1" sz="1300">
                <a:solidFill>
                  <a:srgbClr val="059669"/>
                </a:solidFill>
              </a:defRPr>
            </a:pPr>
            <a:r>
              <a:t>[GREENPULSE MODEL]  2. GreenPulse Clean Model</a:t>
            </a:r>
          </a:p>
          <a:p>
            <a:pPr>
              <a:defRPr sz="400"/>
            </a:pPr>
          </a:p>
          <a:p>
            <a:pPr>
              <a:lnSpc>
                <a:spcPct val="115000"/>
              </a:lnSpc>
              <a:defRPr sz="1050">
                <a:solidFill>
                  <a:srgbClr val="334155"/>
                </a:solidFill>
              </a:defRPr>
            </a:pPr>
            <a:r>
              <a:rPr b="1">
                <a:solidFill>
                  <a:srgbClr val="0F172A"/>
                </a:solidFill>
              </a:rPr>
              <a:t>- Solar + Battery Setup: </a:t>
            </a:r>
            <a:r>
              <a:rPr>
                <a:solidFill>
                  <a:srgbClr val="334155"/>
                </a:solidFill>
              </a:rPr>
              <a:t>RM 750,000 total capital cost for 169 kWp solar + 261 kWh MegaBatt container.</a:t>
            </a:r>
          </a:p>
          <a:p>
            <a:pPr>
              <a:lnSpc>
                <a:spcPct val="115000"/>
              </a:lnSpc>
              <a:defRPr sz="1050">
                <a:solidFill>
                  <a:srgbClr val="334155"/>
                </a:solidFill>
              </a:defRPr>
            </a:pPr>
            <a:r>
              <a:rPr b="1">
                <a:solidFill>
                  <a:srgbClr val="0F172A"/>
                </a:solidFill>
              </a:rPr>
              <a:t>- Equipment Financing: </a:t>
            </a:r>
            <a:r>
              <a:rPr>
                <a:solidFill>
                  <a:srgbClr val="334155"/>
                </a:solidFill>
              </a:rPr>
              <a:t>RM 15,625 / month (spread over 48 months).</a:t>
            </a:r>
          </a:p>
          <a:p>
            <a:pPr>
              <a:lnSpc>
                <a:spcPct val="115000"/>
              </a:lnSpc>
              <a:defRPr sz="1050">
                <a:solidFill>
                  <a:srgbClr val="334155"/>
                </a:solidFill>
              </a:defRPr>
            </a:pPr>
            <a:r>
              <a:rPr b="1">
                <a:solidFill>
                  <a:srgbClr val="0F172A"/>
                </a:solidFill>
              </a:rPr>
              <a:t>- Software &amp; Maintenance: </a:t>
            </a:r>
            <a:r>
              <a:rPr>
                <a:solidFill>
                  <a:srgbClr val="334155"/>
                </a:solidFill>
              </a:rPr>
              <a:t>RM 4,375 / month for software licence, cloud sync, and electrical checks.</a:t>
            </a:r>
          </a:p>
          <a:p>
            <a:pPr>
              <a:lnSpc>
                <a:spcPct val="115000"/>
              </a:lnSpc>
              <a:defRPr sz="1050">
                <a:solidFill>
                  <a:srgbClr val="334155"/>
                </a:solidFill>
              </a:defRPr>
            </a:pPr>
            <a:r>
              <a:rPr b="1">
                <a:solidFill>
                  <a:srgbClr val="0F172A"/>
                </a:solidFill>
              </a:rPr>
              <a:t>- Total Monthly Cost: </a:t>
            </a:r>
            <a:r>
              <a:rPr>
                <a:solidFill>
                  <a:srgbClr val="334155"/>
                </a:solidFill>
              </a:rPr>
              <a:t>RM 20,000 / month total clean energy cost.</a:t>
            </a:r>
          </a:p>
          <a:p>
            <a:pPr>
              <a:lnSpc>
                <a:spcPct val="115000"/>
              </a:lnSpc>
              <a:defRPr sz="1050">
                <a:solidFill>
                  <a:srgbClr val="334155"/>
                </a:solidFill>
              </a:defRPr>
            </a:pPr>
            <a:r>
              <a:rPr b="1">
                <a:solidFill>
                  <a:srgbClr val="0F172A"/>
                </a:solidFill>
              </a:rPr>
              <a:t>- Net Cash Saved: </a:t>
            </a:r>
            <a:r>
              <a:rPr>
                <a:solidFill>
                  <a:srgbClr val="334155"/>
                </a:solidFill>
              </a:rPr>
              <a:t>Over RM 100,000 / month in net cash savings.</a:t>
            </a:r>
          </a:p>
        </p:txBody>
      </p:sp>
      <p:sp>
        <p:nvSpPr>
          <p:cNvPr id="10" name="Rounded Rectangle 9"/>
          <p:cNvSpPr/>
          <p:nvPr/>
        </p:nvSpPr>
        <p:spPr>
          <a:xfrm>
            <a:off x="8119872"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4389120"/>
          </a:xfrm>
          <a:prstGeom prst="rect">
            <a:avLst/>
          </a:prstGeom>
          <a:noFill/>
        </p:spPr>
        <p:txBody>
          <a:bodyPr wrap="square" lIns="0" rIns="0" tIns="0" bIns="0">
            <a:spAutoFit/>
          </a:bodyPr>
          <a:lstStyle/>
          <a:p>
            <a:pPr>
              <a:defRPr b="1" sz="1300">
                <a:solidFill>
                  <a:srgbClr val="D97706"/>
                </a:solidFill>
              </a:defRPr>
            </a:pPr>
            <a:r>
              <a:t>[LONG-TERM RETURNS]  3. Payback &amp; 10-Year Returns</a:t>
            </a:r>
          </a:p>
          <a:p>
            <a:pPr>
              <a:defRPr sz="400"/>
            </a:pPr>
          </a:p>
          <a:p>
            <a:pPr>
              <a:lnSpc>
                <a:spcPct val="115000"/>
              </a:lnSpc>
              <a:defRPr sz="1050">
                <a:solidFill>
                  <a:srgbClr val="334155"/>
                </a:solidFill>
              </a:defRPr>
            </a:pPr>
            <a:r>
              <a:rPr b="1">
                <a:solidFill>
                  <a:srgbClr val="0F172A"/>
                </a:solidFill>
              </a:rPr>
              <a:t>- 14.2-Month Payback: </a:t>
            </a:r>
            <a:r>
              <a:rPr>
                <a:solidFill>
                  <a:srgbClr val="334155"/>
                </a:solidFill>
              </a:rPr>
              <a:t>System pays for itself in 14.2 months based on net monthly savings.</a:t>
            </a:r>
          </a:p>
          <a:p>
            <a:pPr>
              <a:lnSpc>
                <a:spcPct val="115000"/>
              </a:lnSpc>
              <a:defRPr sz="1050">
                <a:solidFill>
                  <a:srgbClr val="334155"/>
                </a:solidFill>
              </a:defRPr>
            </a:pPr>
            <a:r>
              <a:rPr b="1">
                <a:solidFill>
                  <a:srgbClr val="0F172A"/>
                </a:solidFill>
              </a:rPr>
              <a:t>- Single Project Net Gain: </a:t>
            </a:r>
            <a:r>
              <a:rPr>
                <a:solidFill>
                  <a:srgbClr val="334155"/>
                </a:solidFill>
              </a:rPr>
              <a:t>RM 1.77 million in net cash saved over a single 2-year construction contract.</a:t>
            </a:r>
          </a:p>
          <a:p>
            <a:pPr>
              <a:lnSpc>
                <a:spcPct val="115000"/>
              </a:lnSpc>
              <a:defRPr sz="1050">
                <a:solidFill>
                  <a:srgbClr val="334155"/>
                </a:solidFill>
              </a:defRPr>
            </a:pPr>
            <a:r>
              <a:rPr b="1">
                <a:solidFill>
                  <a:srgbClr val="0F172A"/>
                </a:solidFill>
              </a:rPr>
              <a:t>- 10-Year Township Moat: </a:t>
            </a:r>
            <a:r>
              <a:rPr>
                <a:solidFill>
                  <a:srgbClr val="334155"/>
                </a:solidFill>
              </a:rPr>
              <a:t>Moving containers across 3 township phases over 10 years yields RM 9.84 million in net savings.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2563EB"/>
                </a:solidFill>
              </a:defRPr>
            </a:pPr>
            <a:r>
              <a:t>APPENDIX C  |  REAL SITE PROOF</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Evidence from Inta Bina Site P196 &amp; Rimbayu CLQ</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Real data from Malaysian construction projects and battery storage tests</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0F172A"/>
                </a:solidFill>
              </a:defRPr>
            </a:pPr>
            <a:r>
              <a:t>[SITE P196 EVIDENCE]  1. Inta Bina Site P196 Proof</a:t>
            </a:r>
          </a:p>
          <a:p>
            <a:pPr>
              <a:defRPr sz="400"/>
            </a:pPr>
          </a:p>
          <a:p>
            <a:pPr>
              <a:lnSpc>
                <a:spcPct val="115000"/>
              </a:lnSpc>
              <a:defRPr sz="1050">
                <a:solidFill>
                  <a:srgbClr val="334155"/>
                </a:solidFill>
              </a:defRPr>
            </a:pPr>
            <a:r>
              <a:rPr b="1">
                <a:solidFill>
                  <a:srgbClr val="0F172A"/>
                </a:solidFill>
              </a:rPr>
              <a:t>- Real Battery on Site: </a:t>
            </a:r>
            <a:r>
              <a:rPr>
                <a:solidFill>
                  <a:srgbClr val="334155"/>
                </a:solidFill>
              </a:rPr>
              <a:t>A MegaBatt container is already deployed at Inta Bina project site P196.</a:t>
            </a:r>
          </a:p>
          <a:p>
            <a:pPr>
              <a:lnSpc>
                <a:spcPct val="115000"/>
              </a:lnSpc>
              <a:defRPr sz="1050">
                <a:solidFill>
                  <a:srgbClr val="334155"/>
                </a:solidFill>
              </a:defRPr>
            </a:pPr>
            <a:r>
              <a:rPr b="1">
                <a:solidFill>
                  <a:srgbClr val="0F172A"/>
                </a:solidFill>
              </a:rPr>
              <a:t>- Connected Machinery: </a:t>
            </a:r>
            <a:r>
              <a:rPr>
                <a:solidFill>
                  <a:srgbClr val="334155"/>
                </a:solidFill>
              </a:rPr>
              <a:t>Powers a 50t Tower Crane, Passenger Hoist, Placing Boom, and Site Office.</a:t>
            </a:r>
          </a:p>
          <a:p>
            <a:pPr>
              <a:lnSpc>
                <a:spcPct val="115000"/>
              </a:lnSpc>
              <a:defRPr sz="1050">
                <a:solidFill>
                  <a:srgbClr val="334155"/>
                </a:solidFill>
              </a:defRPr>
            </a:pPr>
            <a:r>
              <a:rPr b="1">
                <a:solidFill>
                  <a:srgbClr val="0F172A"/>
                </a:solidFill>
              </a:rPr>
              <a:t>- Measured Crane Kick: </a:t>
            </a:r>
            <a:r>
              <a:rPr>
                <a:solidFill>
                  <a:srgbClr val="334155"/>
                </a:solidFill>
              </a:rPr>
              <a:t>Site data confirms that when the crane lifts, it draws a sudden 94 kW motor surge.</a:t>
            </a:r>
          </a:p>
          <a:p>
            <a:pPr>
              <a:lnSpc>
                <a:spcPct val="115000"/>
              </a:lnSpc>
              <a:defRPr sz="1050">
                <a:solidFill>
                  <a:srgbClr val="334155"/>
                </a:solidFill>
              </a:defRPr>
            </a:pPr>
            <a:r>
              <a:rPr b="1">
                <a:solidFill>
                  <a:srgbClr val="0F172A"/>
                </a:solidFill>
              </a:rPr>
              <a:t>- The Lesson: </a:t>
            </a:r>
            <a:r>
              <a:rPr>
                <a:solidFill>
                  <a:srgbClr val="334155"/>
                </a:solidFill>
              </a:rPr>
              <a:t>Proves heavy cranes can run on batteries, but need smart high-speed buffering so power does not trip.</a:t>
            </a:r>
          </a:p>
        </p:txBody>
      </p:sp>
      <p:sp>
        <p:nvSpPr>
          <p:cNvPr id="8" name="Rounded Rectangle 7"/>
          <p:cNvSpPr/>
          <p:nvPr/>
        </p:nvSpPr>
        <p:spPr>
          <a:xfrm>
            <a:off x="4425696"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2871216" cy="4389120"/>
          </a:xfrm>
          <a:prstGeom prst="rect">
            <a:avLst/>
          </a:prstGeom>
          <a:noFill/>
        </p:spPr>
        <p:txBody>
          <a:bodyPr wrap="square" lIns="0" rIns="0" tIns="0" bIns="0">
            <a:spAutoFit/>
          </a:bodyPr>
          <a:lstStyle/>
          <a:p>
            <a:pPr>
              <a:defRPr b="1" sz="1300">
                <a:solidFill>
                  <a:srgbClr val="059669"/>
                </a:solidFill>
              </a:defRPr>
            </a:pPr>
            <a:r>
              <a:t>[RIMBAYU CLQ CASE]  2. Rimbayu CLQ Hostel Baseline</a:t>
            </a:r>
          </a:p>
          <a:p>
            <a:pPr>
              <a:defRPr sz="400"/>
            </a:pPr>
          </a:p>
          <a:p>
            <a:pPr>
              <a:lnSpc>
                <a:spcPct val="115000"/>
              </a:lnSpc>
              <a:defRPr sz="1050">
                <a:solidFill>
                  <a:srgbClr val="334155"/>
                </a:solidFill>
              </a:defRPr>
            </a:pPr>
            <a:r>
              <a:rPr b="1">
                <a:solidFill>
                  <a:srgbClr val="0F172A"/>
                </a:solidFill>
              </a:rPr>
              <a:t>- No Grid Power: </a:t>
            </a:r>
            <a:r>
              <a:rPr>
                <a:solidFill>
                  <a:srgbClr val="334155"/>
                </a:solidFill>
              </a:rPr>
              <a:t>The Rimbayu worker quarters has no TNB power connection.</a:t>
            </a:r>
          </a:p>
          <a:p>
            <a:pPr>
              <a:lnSpc>
                <a:spcPct val="115000"/>
              </a:lnSpc>
              <a:defRPr sz="1050">
                <a:solidFill>
                  <a:srgbClr val="334155"/>
                </a:solidFill>
              </a:defRPr>
            </a:pPr>
            <a:r>
              <a:rPr b="1">
                <a:solidFill>
                  <a:srgbClr val="0F172A"/>
                </a:solidFill>
              </a:rPr>
              <a:t>- The Old Diesel Setup: </a:t>
            </a:r>
            <a:r>
              <a:rPr>
                <a:solidFill>
                  <a:srgbClr val="334155"/>
                </a:solidFill>
              </a:rPr>
              <a:t>Ran two diesel generators (25 kVA and 50 kVA) burning 4,500 liters of diesel monthly.</a:t>
            </a:r>
          </a:p>
          <a:p>
            <a:pPr>
              <a:lnSpc>
                <a:spcPct val="115000"/>
              </a:lnSpc>
              <a:defRPr sz="1050">
                <a:solidFill>
                  <a:srgbClr val="334155"/>
                </a:solidFill>
              </a:defRPr>
            </a:pPr>
            <a:r>
              <a:rPr b="1">
                <a:solidFill>
                  <a:srgbClr val="0F172A"/>
                </a:solidFill>
              </a:rPr>
              <a:t>- Solar &amp; Battery Upgrade: </a:t>
            </a:r>
            <a:r>
              <a:rPr>
                <a:solidFill>
                  <a:srgbClr val="334155"/>
                </a:solidFill>
              </a:rPr>
              <a:t>Proposed 169.88 kWp rooftop solar + 2 x 261 kWh MegaBatt containers.</a:t>
            </a:r>
          </a:p>
          <a:p>
            <a:pPr>
              <a:lnSpc>
                <a:spcPct val="115000"/>
              </a:lnSpc>
              <a:defRPr sz="1050">
                <a:solidFill>
                  <a:srgbClr val="334155"/>
                </a:solidFill>
              </a:defRPr>
            </a:pPr>
            <a:r>
              <a:rPr b="1">
                <a:solidFill>
                  <a:srgbClr val="0F172A"/>
                </a:solidFill>
              </a:rPr>
              <a:t>- The Missing Piece: </a:t>
            </a:r>
            <a:r>
              <a:rPr>
                <a:solidFill>
                  <a:srgbClr val="334155"/>
                </a:solidFill>
              </a:rPr>
              <a:t>Lacks smart weather forecasting, so batteries can deplete prematurely during consecutive rainy days.</a:t>
            </a:r>
          </a:p>
        </p:txBody>
      </p:sp>
      <p:sp>
        <p:nvSpPr>
          <p:cNvPr id="10" name="Rounded Rectangle 9"/>
          <p:cNvSpPr/>
          <p:nvPr/>
        </p:nvSpPr>
        <p:spPr>
          <a:xfrm>
            <a:off x="8119872"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828800"/>
            <a:ext cx="2871216" cy="4389120"/>
          </a:xfrm>
          <a:prstGeom prst="rect">
            <a:avLst/>
          </a:prstGeom>
          <a:noFill/>
        </p:spPr>
        <p:txBody>
          <a:bodyPr wrap="square" lIns="0" rIns="0" tIns="0" bIns="0">
            <a:spAutoFit/>
          </a:bodyPr>
          <a:lstStyle/>
          <a:p>
            <a:pPr>
              <a:defRPr b="1" sz="1300">
                <a:solidFill>
                  <a:srgbClr val="2563EB"/>
                </a:solidFill>
              </a:defRPr>
            </a:pPr>
            <a:r>
              <a:t>[SOFTWARE VALUE]  3. What GreenPulse Adds</a:t>
            </a:r>
          </a:p>
          <a:p>
            <a:pPr>
              <a:defRPr sz="400"/>
            </a:pPr>
          </a:p>
          <a:p>
            <a:pPr>
              <a:lnSpc>
                <a:spcPct val="115000"/>
              </a:lnSpc>
              <a:defRPr sz="1050">
                <a:solidFill>
                  <a:srgbClr val="334155"/>
                </a:solidFill>
              </a:defRPr>
            </a:pPr>
            <a:r>
              <a:rPr b="1">
                <a:solidFill>
                  <a:srgbClr val="0F172A"/>
                </a:solidFill>
              </a:rPr>
              <a:t>- Adds the Smart Brain: </a:t>
            </a:r>
            <a:r>
              <a:rPr>
                <a:solidFill>
                  <a:srgbClr val="334155"/>
                </a:solidFill>
              </a:rPr>
              <a:t>GreenPulse connects to the batteries and optimizes power automatically.</a:t>
            </a:r>
          </a:p>
          <a:p>
            <a:pPr>
              <a:lnSpc>
                <a:spcPct val="115000"/>
              </a:lnSpc>
              <a:defRPr sz="1050">
                <a:solidFill>
                  <a:srgbClr val="334155"/>
                </a:solidFill>
              </a:defRPr>
            </a:pPr>
            <a:r>
              <a:rPr b="1">
                <a:solidFill>
                  <a:srgbClr val="0F172A"/>
                </a:solidFill>
              </a:rPr>
              <a:t>- Stops Rain Blackouts: </a:t>
            </a:r>
            <a:r>
              <a:rPr>
                <a:solidFill>
                  <a:srgbClr val="334155"/>
                </a:solidFill>
              </a:rPr>
              <a:t>Uses weather radar to pre-charge batteries before rainy days so power never dies.</a:t>
            </a:r>
          </a:p>
          <a:p>
            <a:pPr>
              <a:lnSpc>
                <a:spcPct val="115000"/>
              </a:lnSpc>
              <a:defRPr sz="1050">
                <a:solidFill>
                  <a:srgbClr val="334155"/>
                </a:solidFill>
              </a:defRPr>
            </a:pPr>
            <a:r>
              <a:rPr b="1">
                <a:solidFill>
                  <a:srgbClr val="0F172A"/>
                </a:solidFill>
              </a:rPr>
              <a:t>- Automatic Compliance: </a:t>
            </a:r>
            <a:r>
              <a:rPr>
                <a:solidFill>
                  <a:srgbClr val="334155"/>
                </a:solidFill>
              </a:rPr>
              <a:t>Removes manual clipboard logs by generating instant digital compliance reports.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2563EB"/>
                </a:solidFill>
              </a:defRPr>
            </a:pPr>
            <a:r>
              <a:t>APPENDIX D  |  RULES &amp; TEAM</a:t>
            </a:r>
          </a:p>
        </p:txBody>
      </p:sp>
      <p:sp>
        <p:nvSpPr>
          <p:cNvPr id="4" name="TextBox 3"/>
          <p:cNvSpPr txBox="1"/>
          <p:nvPr/>
        </p:nvSpPr>
        <p:spPr>
          <a:xfrm>
            <a:off x="731520" y="658368"/>
            <a:ext cx="10728655" cy="502920"/>
          </a:xfrm>
          <a:prstGeom prst="rect">
            <a:avLst/>
          </a:prstGeom>
          <a:noFill/>
        </p:spPr>
        <p:txBody>
          <a:bodyPr wrap="square" lIns="0" rIns="0" tIns="0" bIns="0">
            <a:spAutoFit/>
          </a:bodyPr>
          <a:lstStyle/>
          <a:p>
            <a:pPr>
              <a:defRPr sz="2400" b="1">
                <a:solidFill>
                  <a:srgbClr val="0F172A"/>
                </a:solidFill>
              </a:defRPr>
            </a:pPr>
            <a:r>
              <a:t>Malaysian Environmental Laws &amp; Team Build with Geeks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200" i="1">
                <a:solidFill>
                  <a:srgbClr val="64748B"/>
                </a:solidFill>
              </a:defRPr>
            </a:pPr>
            <a:r>
              <a:t>Regulatory compliance standards and our university team background</a:t>
            </a:r>
          </a:p>
        </p:txBody>
      </p:sp>
      <p:sp>
        <p:nvSpPr>
          <p:cNvPr id="6" name="Rounded Rectangle 5"/>
          <p:cNvSpPr/>
          <p:nvPr/>
        </p:nvSpPr>
        <p:spPr>
          <a:xfrm>
            <a:off x="731520" y="1645920"/>
            <a:ext cx="3328416"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71216" cy="4389120"/>
          </a:xfrm>
          <a:prstGeom prst="rect">
            <a:avLst/>
          </a:prstGeom>
          <a:noFill/>
        </p:spPr>
        <p:txBody>
          <a:bodyPr wrap="square" lIns="0" rIns="0" tIns="0" bIns="0">
            <a:spAutoFit/>
          </a:bodyPr>
          <a:lstStyle/>
          <a:p>
            <a:pPr>
              <a:defRPr b="1" sz="1300">
                <a:solidFill>
                  <a:srgbClr val="D71920"/>
                </a:solidFill>
              </a:defRPr>
            </a:pPr>
            <a:r>
              <a:t>[LEGAL RULES]  1. Malaysian Legal Rules</a:t>
            </a:r>
          </a:p>
          <a:p>
            <a:pPr>
              <a:defRPr sz="400"/>
            </a:pPr>
          </a:p>
          <a:p>
            <a:pPr>
              <a:lnSpc>
                <a:spcPct val="115000"/>
              </a:lnSpc>
              <a:defRPr sz="1050">
                <a:solidFill>
                  <a:srgbClr val="334155"/>
                </a:solidFill>
              </a:defRPr>
            </a:pPr>
            <a:r>
              <a:rPr b="1">
                <a:solidFill>
                  <a:srgbClr val="0F172A"/>
                </a:solidFill>
              </a:rPr>
              <a:t>- DOE Noise Guidelines 2019: </a:t>
            </a:r>
            <a:r>
              <a:rPr>
                <a:solidFill>
                  <a:srgbClr val="334155"/>
                </a:solidFill>
              </a:rPr>
              <a:t>Complies with Schedule 6 limits: 60 dB daytime and 45 dB nighttime at residential boundaries.</a:t>
            </a:r>
          </a:p>
          <a:p>
            <a:pPr>
              <a:lnSpc>
                <a:spcPct val="115000"/>
              </a:lnSpc>
              <a:defRPr sz="1050">
                <a:solidFill>
                  <a:srgbClr val="334155"/>
                </a:solidFill>
              </a:defRPr>
            </a:pPr>
            <a:r>
              <a:rPr b="1">
                <a:solidFill>
                  <a:srgbClr val="0F172A"/>
                </a:solidFill>
              </a:rPr>
              <a:t>- Clean Air Regulations 2014: </a:t>
            </a:r>
            <a:r>
              <a:rPr>
                <a:solidFill>
                  <a:srgbClr val="334155"/>
                </a:solidFill>
              </a:rPr>
              <a:t>Guarantees zero dark smoke and zero particulate fumes under the Environmental Quality Act.</a:t>
            </a:r>
          </a:p>
          <a:p>
            <a:pPr>
              <a:lnSpc>
                <a:spcPct val="115000"/>
              </a:lnSpc>
              <a:defRPr sz="1050">
                <a:solidFill>
                  <a:srgbClr val="334155"/>
                </a:solidFill>
              </a:defRPr>
            </a:pPr>
            <a:r>
              <a:rPr b="1">
                <a:solidFill>
                  <a:srgbClr val="0F172A"/>
                </a:solidFill>
              </a:rPr>
              <a:t>- Bursa Malaysia ESG Reporting: </a:t>
            </a:r>
            <a:r>
              <a:rPr>
                <a:solidFill>
                  <a:srgbClr val="334155"/>
                </a:solidFill>
              </a:rPr>
              <a:t>Follows Bursa Malaysia Sustainability Reporting Guide (3rd Edition) for construction emissions.</a:t>
            </a:r>
          </a:p>
          <a:p>
            <a:pPr>
              <a:lnSpc>
                <a:spcPct val="115000"/>
              </a:lnSpc>
              <a:defRPr sz="1050">
                <a:solidFill>
                  <a:srgbClr val="334155"/>
                </a:solidFill>
              </a:defRPr>
            </a:pPr>
            <a:r>
              <a:rPr b="1">
                <a:solidFill>
                  <a:srgbClr val="0F172A"/>
                </a:solidFill>
              </a:rPr>
              <a:t>- Fire &amp; Electrical Standards: </a:t>
            </a:r>
            <a:r>
              <a:rPr>
                <a:solidFill>
                  <a:srgbClr val="334155"/>
                </a:solidFill>
              </a:rPr>
              <a:t>Uses NFPA 855 and MS IEC 62619 standards for safe battery installation.</a:t>
            </a:r>
          </a:p>
        </p:txBody>
      </p:sp>
      <p:sp>
        <p:nvSpPr>
          <p:cNvPr id="8" name="Rounded Rectangle 7"/>
          <p:cNvSpPr/>
          <p:nvPr/>
        </p:nvSpPr>
        <p:spPr>
          <a:xfrm>
            <a:off x="4425696" y="1645920"/>
            <a:ext cx="7022592"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28800"/>
            <a:ext cx="6565392" cy="4389120"/>
          </a:xfrm>
          <a:prstGeom prst="rect">
            <a:avLst/>
          </a:prstGeom>
          <a:noFill/>
        </p:spPr>
        <p:txBody>
          <a:bodyPr wrap="square" lIns="0" rIns="0" tIns="0" bIns="0">
            <a:spAutoFit/>
          </a:bodyPr>
          <a:lstStyle/>
          <a:p>
            <a:pPr>
              <a:defRPr b="1" sz="1300">
                <a:solidFill>
                  <a:srgbClr val="2563EB"/>
                </a:solidFill>
              </a:defRPr>
            </a:pPr>
            <a:r>
              <a:t>[OUR TEAM]  2. Team Build with Geeks</a:t>
            </a:r>
          </a:p>
          <a:p>
            <a:pPr>
              <a:defRPr sz="400"/>
            </a:pPr>
          </a:p>
          <a:p>
            <a:pPr>
              <a:lnSpc>
                <a:spcPct val="115000"/>
              </a:lnSpc>
              <a:defRPr sz="1050">
                <a:solidFill>
                  <a:srgbClr val="334155"/>
                </a:solidFill>
              </a:defRPr>
            </a:pPr>
            <a:r>
              <a:rPr b="1">
                <a:solidFill>
                  <a:srgbClr val="0F172A"/>
                </a:solidFill>
              </a:rPr>
              <a:t>- Our Background: </a:t>
            </a:r>
            <a:r>
              <a:rPr>
                <a:solidFill>
                  <a:srgbClr val="334155"/>
                </a:solidFill>
              </a:rPr>
              <a:t>Build with Geeks: Multidisciplinary engineering, software, and finance university team.</a:t>
            </a:r>
          </a:p>
          <a:p>
            <a:pPr>
              <a:lnSpc>
                <a:spcPct val="115000"/>
              </a:lnSpc>
              <a:defRPr sz="1050">
                <a:solidFill>
                  <a:srgbClr val="334155"/>
                </a:solidFill>
              </a:defRPr>
            </a:pPr>
            <a:r>
              <a:rPr b="1">
                <a:solidFill>
                  <a:srgbClr val="0F172A"/>
                </a:solidFill>
              </a:rPr>
              <a:t>- Software &amp; AI: </a:t>
            </a:r>
            <a:r>
              <a:rPr>
                <a:solidFill>
                  <a:srgbClr val="334155"/>
                </a:solidFill>
              </a:rPr>
              <a:t>Built the working web platform, 4G gateway communication drivers, weather radar forecasting, and fence sound classifier.</a:t>
            </a:r>
          </a:p>
          <a:p>
            <a:pPr>
              <a:lnSpc>
                <a:spcPct val="115000"/>
              </a:lnSpc>
              <a:defRPr sz="1050">
                <a:solidFill>
                  <a:srgbClr val="334155"/>
                </a:solidFill>
              </a:defRPr>
            </a:pPr>
            <a:r>
              <a:rPr b="1">
                <a:solidFill>
                  <a:srgbClr val="0F172A"/>
                </a:solidFill>
              </a:rPr>
              <a:t>- Electrical Engineering: </a:t>
            </a:r>
            <a:r>
              <a:rPr>
                <a:solidFill>
                  <a:srgbClr val="334155"/>
                </a:solidFill>
              </a:rPr>
              <a:t>Analyzed real tower crane motor load curves, battery inverter sizing, and fire safety systems.</a:t>
            </a:r>
          </a:p>
          <a:p>
            <a:pPr>
              <a:lnSpc>
                <a:spcPct val="115000"/>
              </a:lnSpc>
              <a:defRPr sz="1050">
                <a:solidFill>
                  <a:srgbClr val="334155"/>
                </a:solidFill>
              </a:defRPr>
            </a:pPr>
            <a:r>
              <a:rPr b="1">
                <a:solidFill>
                  <a:srgbClr val="0F172A"/>
                </a:solidFill>
              </a:rPr>
              <a:t>- Financial Modeling: </a:t>
            </a:r>
            <a:r>
              <a:rPr>
                <a:solidFill>
                  <a:srgbClr val="334155"/>
                </a:solidFill>
              </a:rPr>
              <a:t>Built Malaysian commercial diesel cost models, Bursa ESG carbon calculations, and 10-year township fleet models.</a:t>
            </a:r>
          </a:p>
          <a:p>
            <a:pPr>
              <a:lnSpc>
                <a:spcPct val="115000"/>
              </a:lnSpc>
              <a:defRPr sz="1050">
                <a:solidFill>
                  <a:srgbClr val="334155"/>
                </a:solidFill>
              </a:defRPr>
            </a:pPr>
            <a:r>
              <a:rPr b="1">
                <a:solidFill>
                  <a:srgbClr val="0F172A"/>
                </a:solidFill>
              </a:rPr>
              <a:t>- Working Prototype Ready: </a:t>
            </a:r>
            <a:r>
              <a:rPr>
                <a:solidFill>
                  <a:srgbClr val="334155"/>
                </a:solidFill>
              </a:rPr>
              <a:t>Live platform running with 3 role screens, storm simulation, and 1-click DOE PDF export ready for testing today.</a:t>
            </a:r>
          </a:p>
          <a:p>
            <a:pPr>
              <a:lnSpc>
                <a:spcPct val="115000"/>
              </a:lnSpc>
              <a:defRPr sz="1050">
                <a:solidFill>
                  <a:srgbClr val="334155"/>
                </a:solidFill>
              </a:defRPr>
            </a:pPr>
            <a:r>
              <a:rPr b="1">
                <a:solidFill>
                  <a:srgbClr val="0F172A"/>
                </a:solidFill>
              </a:rPr>
              <a:t>- Immediate Pilot Ready: </a:t>
            </a:r>
            <a:r>
              <a:rPr>
                <a:solidFill>
                  <a:srgbClr val="334155"/>
                </a:solidFill>
              </a:rPr>
              <a:t>Prepared to deploy into an active Sime Darby parcel immediately.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